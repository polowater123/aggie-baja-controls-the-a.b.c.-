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3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72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meeting: by the end, everyone should understand what Git is doing behind the buttons in GitHub Desktop, and follow the same daily routine so we never lose each other's work. The graph along the bottom is what a project history literally looks like to Git — we'll learn to read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has done the file-renaming thing. It breaks down fast with a team: nobody knows which file is current, and two people editing copies means someone has to manually combine changes. Git replaces this with one folder and a complete history inside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confusion: Git and GitHub are not the same. Git is the version-control tool. GitHub is one company that hosts Git repositories online (others exist, like GitLab). GitHub Desktop is just a friendly front-end. Anything you do in Desktop, you could do with Git commands in a terminal.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it: when you cloned the repo, GitHub Desktop just made a normal folder on your computer. The magic is in the hidden .git folder. Cloud-sync tools like OneDrive fight with Git over that folder and can corrupt it, so keep the repo in a plain local folder like Documents/GitHub.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mental model. Saving a file (Ctrl+S) only changes the working folder. Git has not recorded anything yet. Checking the box stages it. Clicking Commit takes a snapshot of everything staged and stores it in the local history. Note: at this point it is still ONLY on your computer. Nobody else can see it until you push.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Deeper detail: the ID (a SHA hash) is computed from the file contents, the message, the author, and the parent ID. Change anything and the ID changes, which is why Git history is tamper-evident. Git stores each unique file version once; if a file didn't change between commits, the new commit just points to the existing copy.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History tab in GitHub Desktop, drawn as a picture. Each dot is a commit, each points back to its parent. A branch (like main) is nothing more than a sticky note on one commit. We are all working on main, so everyone's commits line up on this one 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is "distributed": every teammate has a full copy of the history on their laptop, and GitHub holds one more copy that we agree is the official one. Push = upload my new commits. Fetch = ask GitHub what's new without changing any of my files. Pull = fetch plus merge those new commits into my folder. Clone (which you already did) = the one-time download of the whole repo.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Desktop does not auto-download teammates' work. It periodically fetches, so the arrow count may be a few minutes stale. Get in the habit of clicking Fetch origin when you sit down. If it switches to Pull origin, pull right away. The numbers next to the arrows are commit counts.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slide, remember this one. Because we all commit to main, pulling first and pulling again before pushing is what keeps us from colliding. Pushing at the end of every session means nobody is ever sitting on work that only exists on one laptop — which also protects us if a laptop dies before competition.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live in GitHub Desktop if you can project it. In this example, two files are checked, so only those two go into the commit; wiring.docx stays uncommitted for now. The diff pane shows exactly what changed line by line. Always glance at the diff before committing, it catches accidental edits and debug code you forgot to remove. For binary files like .docx or CAD, the diff pane can't show line changes.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Months from now, during testing or at competition, someone will scroll the History tab to figure out when a behavior changed. Messages are the only way to find it quickly. Rule of thumb: the summary should finish the sentence "If applied, this commit will ___."</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will happen constantly with a team on one branch, and it's normal, not an error. Git refuses the push so it never overwrites Sam's commit. When you pull, Git looks at both commits. If they changed different files, or different lines of the same text file, it combines them automatically. The only time you have to step in is when you both changed the same lines, which is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conflict is Git saying: two people changed the same line and I refuse to guess which is right. HEAD is your version; the other side is what came from GitHub. The fix is a human decision, often a quick conversation. If a conflict feels scary, you can click Abort merge and your folder goes back to how it was before the pull. Nothing is lost. Frequent pulls keep conflicts small and rare.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files are lines of characters, so Git can compare and merge line by line. Binary files (CAD, Simulink .slx, Office docs) are encoded data; Git can only see "this whole file changed." In a conflict on a binary file, Desktop will ask you to pick your version or theirs. The losing version is still in history, but someone has to redo their work manually. That's why we need the next rule.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all commit to main and a lot of our files are binary, communication is our "lock." Keep it simple: whatever channel the team already uses. For long CAD sessions, pushing at least once a day keeps the claim window short.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.gitignore file lives in the repo root and is shared with everyone. This is a starter list; adjust it to our actual tools (e.g. .pio/ is for PlatformIO, build/ for compiled firmware). Also never commit passwords or API keys. Once pushed, they stay in history even if you delete the file later.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once a commit is pushed, don't try to erase it, because teammates may already have it. Revert instead. Revert makes a new commit that does the exact opposite of the bad one, so history stays honest and everyone stays in sync.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Committing straight to main is simple, which is why it fits a team new to Git, but it means main is always shared and live. These six habits are what make that safe. Rule 6 matters most for firmware: if someone pulls main the night before testing, it should compile and run.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follow-up: have everyone make one small practice commit right now, e.g. adding their name to a docs/team.md file, and push it. With several people doing it at once, you'll likely get to demo a real merge live.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7.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a:effectLst/>
      </p:bgPr>
    </p:bg>
    <p:spTree>
      <p:nvGrpSpPr>
        <p:cNvPr id="1" name=""/>
        <p:cNvGrpSpPr/>
        <p:nvPr/>
      </p:nvGrpSpPr>
      <p:grpSpPr>
        <a:xfrm>
          <a:off x="0" y="0"/>
          <a:ext cx="0" cy="0"/>
          <a:chOff x="0" y="0"/>
          <a:chExt cx="0" cy="0"/>
        </a:xfrm>
      </p:grpSpPr>
      <p:sp>
        <p:nvSpPr>
          <p:cNvPr id="2" name="Text 0"/>
          <p:cNvSpPr txBox="1"/>
          <p:nvPr/>
        </p:nvSpPr>
        <p:spPr>
          <a:xfrm>
            <a:off x="548640" y="914400"/>
            <a:ext cx="7315200" cy="320040"/>
          </a:xfrm>
          <a:prstGeom prst="rect">
            <a:avLst/>
          </a:prstGeom>
          <a:noFill/>
          <a:ln/>
        </p:spPr>
        <p:txBody>
          <a:bodyPr wrap="square" lIns="0" tIns="0" rIns="0" bIns="0" rtlCol="0" anchor="t"/>
          <a:lstStyle/>
          <a:p>
            <a:pPr marL="0" indent="0">
              <a:buNone/>
            </a:pPr>
            <a:r>
              <a:rPr lang="en-US" sz="1300" b="1" kern="0" spc="300" dirty="0">
                <a:solidFill>
                  <a:srgbClr val="F2711C"/>
                </a:solidFill>
                <a:latin typeface="Arial" pitchFamily="34" charset="0"/>
                <a:ea typeface="Arial" pitchFamily="34" charset="-122"/>
                <a:cs typeface="Arial" pitchFamily="34" charset="-120"/>
              </a:rPr>
              <a:t>AGGIE BAJA CONTROLS (ABC)</a:t>
            </a:r>
            <a:endParaRPr lang="en-US" sz="1300" dirty="0"/>
          </a:p>
        </p:txBody>
      </p:sp>
      <p:sp>
        <p:nvSpPr>
          <p:cNvPr id="3" name="Text 1"/>
          <p:cNvSpPr txBox="1"/>
          <p:nvPr/>
        </p:nvSpPr>
        <p:spPr>
          <a:xfrm>
            <a:off x="548640" y="1325880"/>
            <a:ext cx="8046720" cy="822960"/>
          </a:xfrm>
          <a:prstGeom prst="rect">
            <a:avLst/>
          </a:prstGeom>
          <a:noFill/>
          <a:ln/>
        </p:spPr>
        <p:txBody>
          <a:bodyPr wrap="square" lIns="0" tIns="0" rIns="0" bIns="0" rtlCol="0" anchor="t"/>
          <a:lstStyle/>
          <a:p>
            <a:pPr marL="0" indent="0">
              <a:buNone/>
            </a:pPr>
            <a:r>
              <a:rPr lang="en-US" sz="4400" b="1" dirty="0">
                <a:solidFill>
                  <a:srgbClr val="FFFFFF"/>
                </a:solidFill>
                <a:latin typeface="Arial" pitchFamily="34" charset="0"/>
                <a:ea typeface="Arial" pitchFamily="34" charset="-122"/>
                <a:cs typeface="Arial" pitchFamily="34" charset="-120"/>
              </a:rPr>
              <a:t>Git &amp; GitHub Desktop</a:t>
            </a:r>
            <a:endParaRPr lang="en-US" sz="4400" dirty="0"/>
          </a:p>
        </p:txBody>
      </p:sp>
      <p:sp>
        <p:nvSpPr>
          <p:cNvPr id="4" name="Text 2"/>
          <p:cNvSpPr txBox="1"/>
          <p:nvPr/>
        </p:nvSpPr>
        <p:spPr>
          <a:xfrm>
            <a:off x="548640" y="2194560"/>
            <a:ext cx="6858000" cy="640080"/>
          </a:xfrm>
          <a:prstGeom prst="rect">
            <a:avLst/>
          </a:prstGeom>
          <a:noFill/>
          <a:ln/>
        </p:spPr>
        <p:txBody>
          <a:bodyPr wrap="square" lIns="0" tIns="0" rIns="0" bIns="0" rtlCol="0" anchor="t"/>
          <a:lstStyle/>
          <a:p>
            <a:pPr marL="0" indent="0">
              <a:buNone/>
            </a:pPr>
            <a:r>
              <a:rPr lang="en-US" sz="1800" dirty="0">
                <a:solidFill>
                  <a:srgbClr val="C9D1DA"/>
                </a:solidFill>
                <a:latin typeface="Arial" pitchFamily="34" charset="0"/>
                <a:ea typeface="Arial" pitchFamily="34" charset="-122"/>
                <a:cs typeface="Arial" pitchFamily="34" charset="-120"/>
              </a:rPr>
              <a:t>How our shared repo actually works, and how to use it without breaking anything</a:t>
            </a:r>
            <a:endParaRPr lang="en-US" sz="1800" dirty="0"/>
          </a:p>
        </p:txBody>
      </p:sp>
      <p:sp>
        <p:nvSpPr>
          <p:cNvPr id="5" name="Shape 3"/>
          <p:cNvSpPr/>
          <p:nvPr/>
        </p:nvSpPr>
        <p:spPr>
          <a:xfrm>
            <a:off x="731520" y="3840480"/>
            <a:ext cx="7315200" cy="914"/>
          </a:xfrm>
          <a:prstGeom prst="line">
            <a:avLst/>
          </a:prstGeom>
          <a:noFill/>
          <a:ln w="38100">
            <a:solidFill>
              <a:srgbClr val="4A5666"/>
            </a:solidFill>
            <a:prstDash val="solid"/>
          </a:ln>
        </p:spPr>
        <p:txBody>
          <a:bodyPr/>
          <a:lstStyle/>
          <a:p>
            <a:endParaRPr lang="en-US"/>
          </a:p>
        </p:txBody>
      </p:sp>
      <p:sp>
        <p:nvSpPr>
          <p:cNvPr id="6" name="Shape 4"/>
          <p:cNvSpPr/>
          <p:nvPr/>
        </p:nvSpPr>
        <p:spPr>
          <a:xfrm flipV="1">
            <a:off x="2926080" y="3291840"/>
            <a:ext cx="548640" cy="548640"/>
          </a:xfrm>
          <a:prstGeom prst="line">
            <a:avLst/>
          </a:prstGeom>
          <a:noFill/>
          <a:ln w="38100">
            <a:solidFill>
              <a:srgbClr val="4A5666"/>
            </a:solidFill>
            <a:prstDash val="solid"/>
          </a:ln>
        </p:spPr>
        <p:txBody>
          <a:bodyPr/>
          <a:lstStyle/>
          <a:p>
            <a:endParaRPr lang="en-US"/>
          </a:p>
        </p:txBody>
      </p:sp>
      <p:sp>
        <p:nvSpPr>
          <p:cNvPr id="7" name="Shape 5"/>
          <p:cNvSpPr/>
          <p:nvPr/>
        </p:nvSpPr>
        <p:spPr>
          <a:xfrm>
            <a:off x="3474720" y="3291840"/>
            <a:ext cx="1645920" cy="914"/>
          </a:xfrm>
          <a:prstGeom prst="line">
            <a:avLst/>
          </a:prstGeom>
          <a:noFill/>
          <a:ln w="38100">
            <a:solidFill>
              <a:srgbClr val="4A5666"/>
            </a:solidFill>
            <a:prstDash val="solid"/>
          </a:ln>
        </p:spPr>
        <p:txBody>
          <a:bodyPr/>
          <a:lstStyle/>
          <a:p>
            <a:endParaRPr lang="en-US"/>
          </a:p>
        </p:txBody>
      </p:sp>
      <p:sp>
        <p:nvSpPr>
          <p:cNvPr id="8" name="Shape 6"/>
          <p:cNvSpPr/>
          <p:nvPr/>
        </p:nvSpPr>
        <p:spPr>
          <a:xfrm>
            <a:off x="5120640" y="3291840"/>
            <a:ext cx="548640" cy="548640"/>
          </a:xfrm>
          <a:prstGeom prst="line">
            <a:avLst/>
          </a:prstGeom>
          <a:noFill/>
          <a:ln w="38100">
            <a:solidFill>
              <a:srgbClr val="4A5666"/>
            </a:solidFill>
            <a:prstDash val="solid"/>
          </a:ln>
        </p:spPr>
        <p:txBody>
          <a:bodyPr/>
          <a:lstStyle/>
          <a:p>
            <a:endParaRPr lang="en-US"/>
          </a:p>
        </p:txBody>
      </p:sp>
      <p:sp>
        <p:nvSpPr>
          <p:cNvPr id="9" name="Shape 7"/>
          <p:cNvSpPr/>
          <p:nvPr/>
        </p:nvSpPr>
        <p:spPr>
          <a:xfrm>
            <a:off x="603504" y="3712464"/>
            <a:ext cx="256032" cy="256032"/>
          </a:xfrm>
          <a:prstGeom prst="ellipse">
            <a:avLst/>
          </a:prstGeom>
          <a:solidFill>
            <a:srgbClr val="1B2430"/>
          </a:solidFill>
          <a:ln w="19050">
            <a:solidFill>
              <a:srgbClr val="8FA0B3"/>
            </a:solidFill>
            <a:prstDash val="solid"/>
          </a:ln>
        </p:spPr>
        <p:txBody>
          <a:bodyPr/>
          <a:lstStyle/>
          <a:p>
            <a:endParaRPr lang="en-US"/>
          </a:p>
        </p:txBody>
      </p:sp>
      <p:sp>
        <p:nvSpPr>
          <p:cNvPr id="10" name="Shape 8"/>
          <p:cNvSpPr/>
          <p:nvPr/>
        </p:nvSpPr>
        <p:spPr>
          <a:xfrm>
            <a:off x="1700784" y="3712464"/>
            <a:ext cx="256032" cy="256032"/>
          </a:xfrm>
          <a:prstGeom prst="ellipse">
            <a:avLst/>
          </a:prstGeom>
          <a:solidFill>
            <a:srgbClr val="1B2430"/>
          </a:solidFill>
          <a:ln w="19050">
            <a:solidFill>
              <a:srgbClr val="8FA0B3"/>
            </a:solidFill>
            <a:prstDash val="solid"/>
          </a:ln>
        </p:spPr>
        <p:txBody>
          <a:bodyPr/>
          <a:lstStyle/>
          <a:p>
            <a:endParaRPr lang="en-US"/>
          </a:p>
        </p:txBody>
      </p:sp>
      <p:sp>
        <p:nvSpPr>
          <p:cNvPr id="11" name="Shape 9"/>
          <p:cNvSpPr/>
          <p:nvPr/>
        </p:nvSpPr>
        <p:spPr>
          <a:xfrm>
            <a:off x="2798064" y="3712464"/>
            <a:ext cx="256032" cy="256032"/>
          </a:xfrm>
          <a:prstGeom prst="ellipse">
            <a:avLst/>
          </a:prstGeom>
          <a:solidFill>
            <a:srgbClr val="1B2430"/>
          </a:solidFill>
          <a:ln w="19050">
            <a:solidFill>
              <a:srgbClr val="8FA0B3"/>
            </a:solidFill>
            <a:prstDash val="solid"/>
          </a:ln>
        </p:spPr>
        <p:txBody>
          <a:bodyPr/>
          <a:lstStyle/>
          <a:p>
            <a:endParaRPr lang="en-US"/>
          </a:p>
        </p:txBody>
      </p:sp>
      <p:sp>
        <p:nvSpPr>
          <p:cNvPr id="12" name="Shape 10"/>
          <p:cNvSpPr/>
          <p:nvPr/>
        </p:nvSpPr>
        <p:spPr>
          <a:xfrm>
            <a:off x="3895344" y="3712464"/>
            <a:ext cx="256032" cy="256032"/>
          </a:xfrm>
          <a:prstGeom prst="ellipse">
            <a:avLst/>
          </a:prstGeom>
          <a:solidFill>
            <a:srgbClr val="1B2430"/>
          </a:solidFill>
          <a:ln w="19050">
            <a:solidFill>
              <a:srgbClr val="8FA0B3"/>
            </a:solidFill>
            <a:prstDash val="solid"/>
          </a:ln>
        </p:spPr>
        <p:txBody>
          <a:bodyPr/>
          <a:lstStyle/>
          <a:p>
            <a:endParaRPr lang="en-US"/>
          </a:p>
        </p:txBody>
      </p:sp>
      <p:sp>
        <p:nvSpPr>
          <p:cNvPr id="13" name="Shape 11"/>
          <p:cNvSpPr/>
          <p:nvPr/>
        </p:nvSpPr>
        <p:spPr>
          <a:xfrm>
            <a:off x="5541264" y="3712464"/>
            <a:ext cx="256032" cy="256032"/>
          </a:xfrm>
          <a:prstGeom prst="ellipse">
            <a:avLst/>
          </a:prstGeom>
          <a:solidFill>
            <a:srgbClr val="1B2430"/>
          </a:solidFill>
          <a:ln w="19050">
            <a:solidFill>
              <a:srgbClr val="8FA0B3"/>
            </a:solidFill>
            <a:prstDash val="solid"/>
          </a:ln>
        </p:spPr>
        <p:txBody>
          <a:bodyPr/>
          <a:lstStyle/>
          <a:p>
            <a:endParaRPr lang="en-US"/>
          </a:p>
        </p:txBody>
      </p:sp>
      <p:sp>
        <p:nvSpPr>
          <p:cNvPr id="14" name="Shape 12"/>
          <p:cNvSpPr/>
          <p:nvPr/>
        </p:nvSpPr>
        <p:spPr>
          <a:xfrm>
            <a:off x="6638544" y="3712464"/>
            <a:ext cx="256032" cy="256032"/>
          </a:xfrm>
          <a:prstGeom prst="ellipse">
            <a:avLst/>
          </a:prstGeom>
          <a:solidFill>
            <a:srgbClr val="1B2430"/>
          </a:solidFill>
          <a:ln w="19050">
            <a:solidFill>
              <a:srgbClr val="8FA0B3"/>
            </a:solidFill>
            <a:prstDash val="solid"/>
          </a:ln>
        </p:spPr>
        <p:txBody>
          <a:bodyPr/>
          <a:lstStyle/>
          <a:p>
            <a:endParaRPr lang="en-US"/>
          </a:p>
        </p:txBody>
      </p:sp>
      <p:sp>
        <p:nvSpPr>
          <p:cNvPr id="15" name="Shape 13"/>
          <p:cNvSpPr/>
          <p:nvPr/>
        </p:nvSpPr>
        <p:spPr>
          <a:xfrm>
            <a:off x="3529584" y="3163824"/>
            <a:ext cx="256032" cy="256032"/>
          </a:xfrm>
          <a:prstGeom prst="ellipse">
            <a:avLst/>
          </a:prstGeom>
          <a:solidFill>
            <a:srgbClr val="1B2430"/>
          </a:solidFill>
          <a:ln w="19050">
            <a:solidFill>
              <a:srgbClr val="8FA0B3"/>
            </a:solidFill>
            <a:prstDash val="solid"/>
          </a:ln>
        </p:spPr>
        <p:txBody>
          <a:bodyPr/>
          <a:lstStyle/>
          <a:p>
            <a:endParaRPr lang="en-US"/>
          </a:p>
        </p:txBody>
      </p:sp>
      <p:sp>
        <p:nvSpPr>
          <p:cNvPr id="16" name="Shape 14"/>
          <p:cNvSpPr/>
          <p:nvPr/>
        </p:nvSpPr>
        <p:spPr>
          <a:xfrm>
            <a:off x="4626864" y="3163824"/>
            <a:ext cx="256032" cy="256032"/>
          </a:xfrm>
          <a:prstGeom prst="ellipse">
            <a:avLst/>
          </a:prstGeom>
          <a:solidFill>
            <a:srgbClr val="1B2430"/>
          </a:solidFill>
          <a:ln w="19050">
            <a:solidFill>
              <a:srgbClr val="8FA0B3"/>
            </a:solidFill>
            <a:prstDash val="solid"/>
          </a:ln>
        </p:spPr>
        <p:txBody>
          <a:bodyPr/>
          <a:lstStyle/>
          <a:p>
            <a:endParaRPr lang="en-US"/>
          </a:p>
        </p:txBody>
      </p:sp>
      <p:sp>
        <p:nvSpPr>
          <p:cNvPr id="17" name="Shape 15"/>
          <p:cNvSpPr/>
          <p:nvPr/>
        </p:nvSpPr>
        <p:spPr>
          <a:xfrm>
            <a:off x="7863840" y="3657600"/>
            <a:ext cx="365760" cy="365760"/>
          </a:xfrm>
          <a:prstGeom prst="ellipse">
            <a:avLst/>
          </a:prstGeom>
          <a:solidFill>
            <a:srgbClr val="F2711C"/>
          </a:solidFill>
          <a:ln w="19050">
            <a:solidFill>
              <a:srgbClr val="F2711C"/>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Why Use Git?</a:t>
            </a:r>
            <a:endParaRPr lang="en-US" sz="3000" dirty="0"/>
          </a:p>
        </p:txBody>
      </p:sp>
      <p:sp>
        <p:nvSpPr>
          <p:cNvPr id="3" name="Shape 1"/>
          <p:cNvSpPr/>
          <p:nvPr/>
        </p:nvSpPr>
        <p:spPr>
          <a:xfrm>
            <a:off x="457200" y="1188720"/>
            <a:ext cx="3749040" cy="438912"/>
          </a:xfrm>
          <a:prstGeom prst="roundRect">
            <a:avLst>
              <a:gd name="adj" fmla="val 16667"/>
            </a:avLst>
          </a:prstGeom>
          <a:solidFill>
            <a:srgbClr val="F1F3F5"/>
          </a:solidFill>
          <a:ln w="12700">
            <a:solidFill>
              <a:srgbClr val="D5DAE0"/>
            </a:solidFill>
            <a:prstDash val="solid"/>
          </a:ln>
        </p:spPr>
        <p:txBody>
          <a:bodyPr/>
          <a:lstStyle/>
          <a:p>
            <a:endParaRPr lang="en-US"/>
          </a:p>
        </p:txBody>
      </p:sp>
      <p:sp>
        <p:nvSpPr>
          <p:cNvPr id="4" name="Text 2"/>
          <p:cNvSpPr txBox="1"/>
          <p:nvPr/>
        </p:nvSpPr>
        <p:spPr>
          <a:xfrm>
            <a:off x="594360" y="1188720"/>
            <a:ext cx="3566160" cy="438912"/>
          </a:xfrm>
          <a:prstGeom prst="rect">
            <a:avLst/>
          </a:prstGeom>
          <a:noFill/>
          <a:ln/>
        </p:spPr>
        <p:txBody>
          <a:bodyPr wrap="square" lIns="0" tIns="0" rIns="0" bIns="0" rtlCol="0" anchor="ctr"/>
          <a:lstStyle/>
          <a:p>
            <a:pPr marL="0" indent="0">
              <a:buNone/>
            </a:pPr>
            <a:r>
              <a:rPr lang="en-US" sz="1200" dirty="0">
                <a:solidFill>
                  <a:srgbClr val="1F2933"/>
                </a:solidFill>
                <a:latin typeface="Courier New" pitchFamily="34" charset="0"/>
                <a:ea typeface="Courier New" pitchFamily="34" charset="-122"/>
                <a:cs typeface="Courier New" pitchFamily="34" charset="-120"/>
              </a:rPr>
              <a:t>CVT_controller.m</a:t>
            </a:r>
            <a:endParaRPr lang="en-US" sz="1200" dirty="0"/>
          </a:p>
        </p:txBody>
      </p:sp>
      <p:sp>
        <p:nvSpPr>
          <p:cNvPr id="5" name="Shape 3"/>
          <p:cNvSpPr/>
          <p:nvPr/>
        </p:nvSpPr>
        <p:spPr>
          <a:xfrm>
            <a:off x="566928" y="1755648"/>
            <a:ext cx="3749040" cy="438912"/>
          </a:xfrm>
          <a:prstGeom prst="roundRect">
            <a:avLst>
              <a:gd name="adj" fmla="val 16667"/>
            </a:avLst>
          </a:prstGeom>
          <a:solidFill>
            <a:srgbClr val="F1F3F5"/>
          </a:solidFill>
          <a:ln w="12700">
            <a:solidFill>
              <a:srgbClr val="D5DAE0"/>
            </a:solidFill>
            <a:prstDash val="solid"/>
          </a:ln>
        </p:spPr>
        <p:txBody>
          <a:bodyPr/>
          <a:lstStyle/>
          <a:p>
            <a:endParaRPr lang="en-US"/>
          </a:p>
        </p:txBody>
      </p:sp>
      <p:sp>
        <p:nvSpPr>
          <p:cNvPr id="6" name="Text 4"/>
          <p:cNvSpPr txBox="1"/>
          <p:nvPr/>
        </p:nvSpPr>
        <p:spPr>
          <a:xfrm>
            <a:off x="704088" y="1755648"/>
            <a:ext cx="3566160" cy="438912"/>
          </a:xfrm>
          <a:prstGeom prst="rect">
            <a:avLst/>
          </a:prstGeom>
          <a:noFill/>
          <a:ln/>
        </p:spPr>
        <p:txBody>
          <a:bodyPr wrap="square" lIns="0" tIns="0" rIns="0" bIns="0" rtlCol="0" anchor="ctr"/>
          <a:lstStyle/>
          <a:p>
            <a:pPr marL="0" indent="0">
              <a:buNone/>
            </a:pPr>
            <a:r>
              <a:rPr lang="en-US" sz="1200" dirty="0">
                <a:solidFill>
                  <a:srgbClr val="1F2933"/>
                </a:solidFill>
                <a:latin typeface="Courier New" pitchFamily="34" charset="0"/>
                <a:ea typeface="Courier New" pitchFamily="34" charset="-122"/>
                <a:cs typeface="Courier New" pitchFamily="34" charset="-120"/>
              </a:rPr>
              <a:t>CVT_controller_v2.m</a:t>
            </a:r>
            <a:endParaRPr lang="en-US" sz="1200" dirty="0"/>
          </a:p>
        </p:txBody>
      </p:sp>
      <p:sp>
        <p:nvSpPr>
          <p:cNvPr id="7" name="Shape 5"/>
          <p:cNvSpPr/>
          <p:nvPr/>
        </p:nvSpPr>
        <p:spPr>
          <a:xfrm>
            <a:off x="676656" y="2322576"/>
            <a:ext cx="3749040" cy="438912"/>
          </a:xfrm>
          <a:prstGeom prst="roundRect">
            <a:avLst>
              <a:gd name="adj" fmla="val 16667"/>
            </a:avLst>
          </a:prstGeom>
          <a:solidFill>
            <a:srgbClr val="F1F3F5"/>
          </a:solidFill>
          <a:ln w="12700">
            <a:solidFill>
              <a:srgbClr val="D5DAE0"/>
            </a:solidFill>
            <a:prstDash val="solid"/>
          </a:ln>
        </p:spPr>
        <p:txBody>
          <a:bodyPr/>
          <a:lstStyle/>
          <a:p>
            <a:endParaRPr lang="en-US"/>
          </a:p>
        </p:txBody>
      </p:sp>
      <p:sp>
        <p:nvSpPr>
          <p:cNvPr id="8" name="Text 6"/>
          <p:cNvSpPr txBox="1"/>
          <p:nvPr/>
        </p:nvSpPr>
        <p:spPr>
          <a:xfrm>
            <a:off x="813816" y="2322576"/>
            <a:ext cx="3566160" cy="438912"/>
          </a:xfrm>
          <a:prstGeom prst="rect">
            <a:avLst/>
          </a:prstGeom>
          <a:noFill/>
          <a:ln/>
        </p:spPr>
        <p:txBody>
          <a:bodyPr wrap="square" lIns="0" tIns="0" rIns="0" bIns="0" rtlCol="0" anchor="ctr"/>
          <a:lstStyle/>
          <a:p>
            <a:pPr marL="0" indent="0">
              <a:buNone/>
            </a:pPr>
            <a:r>
              <a:rPr lang="en-US" sz="1200" dirty="0">
                <a:solidFill>
                  <a:srgbClr val="1F2933"/>
                </a:solidFill>
                <a:latin typeface="Courier New" pitchFamily="34" charset="0"/>
                <a:ea typeface="Courier New" pitchFamily="34" charset="-122"/>
                <a:cs typeface="Courier New" pitchFamily="34" charset="-120"/>
              </a:rPr>
              <a:t>CVT_controller_v2_FINAL.m</a:t>
            </a:r>
            <a:endParaRPr lang="en-US" sz="1200" dirty="0"/>
          </a:p>
        </p:txBody>
      </p:sp>
      <p:sp>
        <p:nvSpPr>
          <p:cNvPr id="9" name="Shape 7"/>
          <p:cNvSpPr/>
          <p:nvPr/>
        </p:nvSpPr>
        <p:spPr>
          <a:xfrm>
            <a:off x="786384" y="2889504"/>
            <a:ext cx="3749040" cy="438912"/>
          </a:xfrm>
          <a:prstGeom prst="roundRect">
            <a:avLst>
              <a:gd name="adj" fmla="val 16667"/>
            </a:avLst>
          </a:prstGeom>
          <a:solidFill>
            <a:srgbClr val="F1F3F5"/>
          </a:solidFill>
          <a:ln w="12700">
            <a:solidFill>
              <a:srgbClr val="D5DAE0"/>
            </a:solidFill>
            <a:prstDash val="solid"/>
          </a:ln>
        </p:spPr>
        <p:txBody>
          <a:bodyPr/>
          <a:lstStyle/>
          <a:p>
            <a:endParaRPr lang="en-US"/>
          </a:p>
        </p:txBody>
      </p:sp>
      <p:sp>
        <p:nvSpPr>
          <p:cNvPr id="10" name="Text 8"/>
          <p:cNvSpPr txBox="1"/>
          <p:nvPr/>
        </p:nvSpPr>
        <p:spPr>
          <a:xfrm>
            <a:off x="923544" y="2889504"/>
            <a:ext cx="3566160" cy="438912"/>
          </a:xfrm>
          <a:prstGeom prst="rect">
            <a:avLst/>
          </a:prstGeom>
          <a:noFill/>
          <a:ln/>
        </p:spPr>
        <p:txBody>
          <a:bodyPr wrap="square" lIns="0" tIns="0" rIns="0" bIns="0" rtlCol="0" anchor="ctr"/>
          <a:lstStyle/>
          <a:p>
            <a:pPr marL="0" indent="0">
              <a:buNone/>
            </a:pPr>
            <a:r>
              <a:rPr lang="en-US" sz="1200" dirty="0">
                <a:solidFill>
                  <a:srgbClr val="1F2933"/>
                </a:solidFill>
                <a:latin typeface="Courier New" pitchFamily="34" charset="0"/>
                <a:ea typeface="Courier New" pitchFamily="34" charset="-122"/>
                <a:cs typeface="Courier New" pitchFamily="34" charset="-120"/>
              </a:rPr>
              <a:t>CVT_controller_v2_FINAL_fixed.m</a:t>
            </a:r>
            <a:endParaRPr lang="en-US" sz="1200" dirty="0"/>
          </a:p>
        </p:txBody>
      </p:sp>
      <p:sp>
        <p:nvSpPr>
          <p:cNvPr id="11" name="Shape 9"/>
          <p:cNvSpPr/>
          <p:nvPr/>
        </p:nvSpPr>
        <p:spPr>
          <a:xfrm>
            <a:off x="896112" y="3456432"/>
            <a:ext cx="3749040" cy="438912"/>
          </a:xfrm>
          <a:prstGeom prst="roundRect">
            <a:avLst>
              <a:gd name="adj" fmla="val 16667"/>
            </a:avLst>
          </a:prstGeom>
          <a:solidFill>
            <a:srgbClr val="F1F3F5"/>
          </a:solidFill>
          <a:ln w="12700">
            <a:solidFill>
              <a:srgbClr val="D5DAE0"/>
            </a:solidFill>
            <a:prstDash val="solid"/>
          </a:ln>
        </p:spPr>
        <p:txBody>
          <a:bodyPr/>
          <a:lstStyle/>
          <a:p>
            <a:endParaRPr lang="en-US"/>
          </a:p>
        </p:txBody>
      </p:sp>
      <p:sp>
        <p:nvSpPr>
          <p:cNvPr id="12" name="Text 10"/>
          <p:cNvSpPr txBox="1"/>
          <p:nvPr/>
        </p:nvSpPr>
        <p:spPr>
          <a:xfrm>
            <a:off x="1033272" y="3456432"/>
            <a:ext cx="3566160" cy="438912"/>
          </a:xfrm>
          <a:prstGeom prst="rect">
            <a:avLst/>
          </a:prstGeom>
          <a:noFill/>
          <a:ln/>
        </p:spPr>
        <p:txBody>
          <a:bodyPr wrap="square" lIns="0" tIns="0" rIns="0" bIns="0" rtlCol="0" anchor="ctr"/>
          <a:lstStyle/>
          <a:p>
            <a:pPr marL="0" indent="0">
              <a:buNone/>
            </a:pPr>
            <a:r>
              <a:rPr lang="en-US" sz="1200" dirty="0">
                <a:solidFill>
                  <a:srgbClr val="1F2933"/>
                </a:solidFill>
                <a:latin typeface="Courier New" pitchFamily="34" charset="0"/>
                <a:ea typeface="Courier New" pitchFamily="34" charset="-122"/>
                <a:cs typeface="Courier New" pitchFamily="34" charset="-120"/>
              </a:rPr>
              <a:t>CVT_controller_v2_FINAL_fixed_JAKE.m</a:t>
            </a:r>
            <a:endParaRPr lang="en-US" sz="1200" dirty="0"/>
          </a:p>
        </p:txBody>
      </p:sp>
      <p:sp>
        <p:nvSpPr>
          <p:cNvPr id="13" name="Text 11"/>
          <p:cNvSpPr txBox="1"/>
          <p:nvPr/>
        </p:nvSpPr>
        <p:spPr>
          <a:xfrm>
            <a:off x="457200" y="4160520"/>
            <a:ext cx="4206240" cy="365760"/>
          </a:xfrm>
          <a:prstGeom prst="rect">
            <a:avLst/>
          </a:prstGeom>
          <a:noFill/>
          <a:ln/>
        </p:spPr>
        <p:txBody>
          <a:bodyPr wrap="square" lIns="0" tIns="0" rIns="0" bIns="0" rtlCol="0" anchor="t"/>
          <a:lstStyle/>
          <a:p>
            <a:pPr marL="0" indent="0">
              <a:buNone/>
            </a:pPr>
            <a:r>
              <a:rPr lang="en-US" sz="1300" i="1" dirty="0">
                <a:solidFill>
                  <a:srgbClr val="5B6573"/>
                </a:solidFill>
                <a:latin typeface="Arial" pitchFamily="34" charset="0"/>
                <a:ea typeface="Arial" pitchFamily="34" charset="-122"/>
                <a:cs typeface="Arial" pitchFamily="34" charset="-120"/>
              </a:rPr>
              <a:t>Which one is on the car right now?</a:t>
            </a:r>
            <a:endParaRPr lang="en-US" sz="1300" dirty="0"/>
          </a:p>
        </p:txBody>
      </p:sp>
      <p:sp>
        <p:nvSpPr>
          <p:cNvPr id="14" name="Shape 12"/>
          <p:cNvSpPr/>
          <p:nvPr/>
        </p:nvSpPr>
        <p:spPr>
          <a:xfrm>
            <a:off x="5029200" y="1188720"/>
            <a:ext cx="640080" cy="640080"/>
          </a:xfrm>
          <a:prstGeom prst="ellipse">
            <a:avLst/>
          </a:prstGeom>
          <a:solidFill>
            <a:srgbClr val="FDE7D7"/>
          </a:solidFill>
          <a:ln w="19050">
            <a:solidFill>
              <a:srgbClr val="FDE7D7"/>
            </a:solidFill>
            <a:prstDash val="solid"/>
          </a:ln>
        </p:spPr>
        <p:txBody>
          <a:bodyPr/>
          <a:lstStyle/>
          <a:p>
            <a:endParaRPr lang="en-US"/>
          </a:p>
        </p:txBody>
      </p:sp>
      <p:pic>
        <p:nvPicPr>
          <p:cNvPr id="15" name="Image 0" descr="preencoded.png"/>
          <p:cNvPicPr>
            <a:picLocks noChangeAspect="1"/>
          </p:cNvPicPr>
          <p:nvPr/>
        </p:nvPicPr>
        <p:blipFill>
          <a:blip r:embed="rId3"/>
          <a:stretch>
            <a:fillRect/>
          </a:stretch>
        </p:blipFill>
        <p:spPr>
          <a:xfrm>
            <a:off x="5189220" y="1348740"/>
            <a:ext cx="320040" cy="320040"/>
          </a:xfrm>
          <a:prstGeom prst="rect">
            <a:avLst/>
          </a:prstGeom>
        </p:spPr>
      </p:pic>
      <p:sp>
        <p:nvSpPr>
          <p:cNvPr id="16" name="Text 13"/>
          <p:cNvSpPr txBox="1"/>
          <p:nvPr/>
        </p:nvSpPr>
        <p:spPr>
          <a:xfrm>
            <a:off x="5852160" y="1188720"/>
            <a:ext cx="2926080" cy="320040"/>
          </a:xfrm>
          <a:prstGeom prst="rect">
            <a:avLst/>
          </a:prstGeom>
          <a:noFill/>
          <a:ln/>
        </p:spPr>
        <p:txBody>
          <a:bodyPr wrap="square" lIns="0" tIns="0" rIns="0" bIns="0" rtlCol="0" anchor="t"/>
          <a:lstStyle/>
          <a:p>
            <a:pPr marL="0" indent="0">
              <a:buNone/>
            </a:pPr>
            <a:r>
              <a:rPr lang="en-US" sz="1600" b="1" dirty="0">
                <a:solidFill>
                  <a:srgbClr val="1F2933"/>
                </a:solidFill>
                <a:latin typeface="Arial" pitchFamily="34" charset="0"/>
                <a:ea typeface="Arial" pitchFamily="34" charset="-122"/>
                <a:cs typeface="Arial" pitchFamily="34" charset="-120"/>
              </a:rPr>
              <a:t>Every saved version, forever</a:t>
            </a:r>
            <a:endParaRPr lang="en-US" sz="1600" dirty="0"/>
          </a:p>
        </p:txBody>
      </p:sp>
      <p:sp>
        <p:nvSpPr>
          <p:cNvPr id="17" name="Text 14"/>
          <p:cNvSpPr txBox="1"/>
          <p:nvPr/>
        </p:nvSpPr>
        <p:spPr>
          <a:xfrm>
            <a:off x="5852160" y="1517904"/>
            <a:ext cx="2926080" cy="457200"/>
          </a:xfrm>
          <a:prstGeom prst="rect">
            <a:avLst/>
          </a:prstGeom>
          <a:noFill/>
          <a:ln/>
        </p:spPr>
        <p:txBody>
          <a:bodyPr wrap="square" lIns="0" tIns="0" rIns="0" bIns="0" rtlCol="0" anchor="t"/>
          <a:lstStyle/>
          <a:p>
            <a:pPr marL="0" indent="0">
              <a:buNone/>
            </a:pPr>
            <a:r>
              <a:rPr lang="en-US" sz="1300" dirty="0">
                <a:solidFill>
                  <a:srgbClr val="5B6573"/>
                </a:solidFill>
                <a:latin typeface="Arial" pitchFamily="34" charset="0"/>
                <a:ea typeface="Arial" pitchFamily="34" charset="-122"/>
                <a:cs typeface="Arial" pitchFamily="34" charset="-120"/>
              </a:rPr>
              <a:t>Go back to exactly what ran at last competition.</a:t>
            </a:r>
            <a:endParaRPr lang="en-US" sz="1300" dirty="0"/>
          </a:p>
        </p:txBody>
      </p:sp>
      <p:sp>
        <p:nvSpPr>
          <p:cNvPr id="18" name="Shape 15"/>
          <p:cNvSpPr/>
          <p:nvPr/>
        </p:nvSpPr>
        <p:spPr>
          <a:xfrm>
            <a:off x="5029200" y="2194560"/>
            <a:ext cx="640080" cy="640080"/>
          </a:xfrm>
          <a:prstGeom prst="ellipse">
            <a:avLst/>
          </a:prstGeom>
          <a:solidFill>
            <a:srgbClr val="FDE7D7"/>
          </a:solidFill>
          <a:ln w="19050">
            <a:solidFill>
              <a:srgbClr val="FDE7D7"/>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5189220" y="2354580"/>
            <a:ext cx="320040" cy="320040"/>
          </a:xfrm>
          <a:prstGeom prst="rect">
            <a:avLst/>
          </a:prstGeom>
        </p:spPr>
      </p:pic>
      <p:sp>
        <p:nvSpPr>
          <p:cNvPr id="20" name="Text 16"/>
          <p:cNvSpPr txBox="1"/>
          <p:nvPr/>
        </p:nvSpPr>
        <p:spPr>
          <a:xfrm>
            <a:off x="5852160" y="2194560"/>
            <a:ext cx="2926080" cy="320040"/>
          </a:xfrm>
          <a:prstGeom prst="rect">
            <a:avLst/>
          </a:prstGeom>
          <a:noFill/>
          <a:ln/>
        </p:spPr>
        <p:txBody>
          <a:bodyPr wrap="square" lIns="0" tIns="0" rIns="0" bIns="0" rtlCol="0" anchor="t"/>
          <a:lstStyle/>
          <a:p>
            <a:pPr marL="0" indent="0">
              <a:buNone/>
            </a:pPr>
            <a:r>
              <a:rPr lang="en-US" sz="1600" b="1" dirty="0">
                <a:solidFill>
                  <a:srgbClr val="1F2933"/>
                </a:solidFill>
                <a:latin typeface="Arial" pitchFamily="34" charset="0"/>
                <a:ea typeface="Arial" pitchFamily="34" charset="-122"/>
                <a:cs typeface="Arial" pitchFamily="34" charset="-120"/>
              </a:rPr>
              <a:t>Who changed what, and why</a:t>
            </a:r>
            <a:endParaRPr lang="en-US" sz="1600" dirty="0"/>
          </a:p>
        </p:txBody>
      </p:sp>
      <p:sp>
        <p:nvSpPr>
          <p:cNvPr id="21" name="Text 17"/>
          <p:cNvSpPr txBox="1"/>
          <p:nvPr/>
        </p:nvSpPr>
        <p:spPr>
          <a:xfrm>
            <a:off x="5852160" y="2523744"/>
            <a:ext cx="2926080" cy="457200"/>
          </a:xfrm>
          <a:prstGeom prst="rect">
            <a:avLst/>
          </a:prstGeom>
          <a:noFill/>
          <a:ln/>
        </p:spPr>
        <p:txBody>
          <a:bodyPr wrap="square" lIns="0" tIns="0" rIns="0" bIns="0" rtlCol="0" anchor="t"/>
          <a:lstStyle/>
          <a:p>
            <a:pPr marL="0" indent="0">
              <a:buNone/>
            </a:pPr>
            <a:r>
              <a:rPr lang="en-US" sz="1300" dirty="0">
                <a:solidFill>
                  <a:srgbClr val="5B6573"/>
                </a:solidFill>
                <a:latin typeface="Arial" pitchFamily="34" charset="0"/>
                <a:ea typeface="Arial" pitchFamily="34" charset="-122"/>
                <a:cs typeface="Arial" pitchFamily="34" charset="-120"/>
              </a:rPr>
              <a:t>Each change has an author and a message.</a:t>
            </a:r>
            <a:endParaRPr lang="en-US" sz="1300" dirty="0"/>
          </a:p>
        </p:txBody>
      </p:sp>
      <p:sp>
        <p:nvSpPr>
          <p:cNvPr id="22" name="Shape 18"/>
          <p:cNvSpPr/>
          <p:nvPr/>
        </p:nvSpPr>
        <p:spPr>
          <a:xfrm>
            <a:off x="5029200" y="3200400"/>
            <a:ext cx="640080" cy="640080"/>
          </a:xfrm>
          <a:prstGeom prst="ellipse">
            <a:avLst/>
          </a:prstGeom>
          <a:solidFill>
            <a:srgbClr val="FDE7D7"/>
          </a:solidFill>
          <a:ln w="19050">
            <a:solidFill>
              <a:srgbClr val="FDE7D7"/>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5189220" y="3360420"/>
            <a:ext cx="320040" cy="320040"/>
          </a:xfrm>
          <a:prstGeom prst="rect">
            <a:avLst/>
          </a:prstGeom>
        </p:spPr>
      </p:pic>
      <p:sp>
        <p:nvSpPr>
          <p:cNvPr id="24" name="Text 19"/>
          <p:cNvSpPr txBox="1"/>
          <p:nvPr/>
        </p:nvSpPr>
        <p:spPr>
          <a:xfrm>
            <a:off x="5852160" y="3200400"/>
            <a:ext cx="2926080" cy="320040"/>
          </a:xfrm>
          <a:prstGeom prst="rect">
            <a:avLst/>
          </a:prstGeom>
          <a:noFill/>
          <a:ln/>
        </p:spPr>
        <p:txBody>
          <a:bodyPr wrap="square" lIns="0" tIns="0" rIns="0" bIns="0" rtlCol="0" anchor="t"/>
          <a:lstStyle/>
          <a:p>
            <a:pPr marL="0" indent="0">
              <a:buNone/>
            </a:pPr>
            <a:r>
              <a:rPr lang="en-US" sz="1600" b="1" dirty="0">
                <a:solidFill>
                  <a:srgbClr val="1F2933"/>
                </a:solidFill>
                <a:latin typeface="Arial" pitchFamily="34" charset="0"/>
                <a:ea typeface="Arial" pitchFamily="34" charset="-122"/>
                <a:cs typeface="Arial" pitchFamily="34" charset="-120"/>
              </a:rPr>
              <a:t>A safe undo button</a:t>
            </a:r>
            <a:endParaRPr lang="en-US" sz="1600" dirty="0"/>
          </a:p>
        </p:txBody>
      </p:sp>
      <p:sp>
        <p:nvSpPr>
          <p:cNvPr id="25" name="Text 20"/>
          <p:cNvSpPr txBox="1"/>
          <p:nvPr/>
        </p:nvSpPr>
        <p:spPr>
          <a:xfrm>
            <a:off x="5852160" y="3529584"/>
            <a:ext cx="2926080" cy="457200"/>
          </a:xfrm>
          <a:prstGeom prst="rect">
            <a:avLst/>
          </a:prstGeom>
          <a:noFill/>
          <a:ln/>
        </p:spPr>
        <p:txBody>
          <a:bodyPr wrap="square" lIns="0" tIns="0" rIns="0" bIns="0" rtlCol="0" anchor="t"/>
          <a:lstStyle/>
          <a:p>
            <a:pPr marL="0" indent="0">
              <a:buNone/>
            </a:pPr>
            <a:r>
              <a:rPr lang="en-US" sz="1300" dirty="0">
                <a:solidFill>
                  <a:srgbClr val="5B6573"/>
                </a:solidFill>
                <a:latin typeface="Arial" pitchFamily="34" charset="0"/>
                <a:ea typeface="Arial" pitchFamily="34" charset="-122"/>
                <a:cs typeface="Arial" pitchFamily="34" charset="-120"/>
              </a:rPr>
              <a:t>Mistakes are recoverable instead of permanent.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Three names, three different things</a:t>
            </a:r>
            <a:endParaRPr lang="en-US" sz="3000" dirty="0"/>
          </a:p>
        </p:txBody>
      </p:sp>
      <p:sp>
        <p:nvSpPr>
          <p:cNvPr id="3" name="Shape 1"/>
          <p:cNvSpPr/>
          <p:nvPr/>
        </p:nvSpPr>
        <p:spPr>
          <a:xfrm>
            <a:off x="457200" y="1188720"/>
            <a:ext cx="2651760" cy="3200400"/>
          </a:xfrm>
          <a:prstGeom prst="roundRect">
            <a:avLst>
              <a:gd name="adj" fmla="val 2759"/>
            </a:avLst>
          </a:prstGeom>
          <a:solidFill>
            <a:srgbClr val="F1F3F5"/>
          </a:solidFill>
          <a:ln w="12700">
            <a:solidFill>
              <a:srgbClr val="F1F3F5"/>
            </a:solidFill>
            <a:prstDash val="solid"/>
          </a:ln>
        </p:spPr>
        <p:txBody>
          <a:bodyPr/>
          <a:lstStyle/>
          <a:p>
            <a:endParaRPr lang="en-US"/>
          </a:p>
        </p:txBody>
      </p:sp>
      <p:sp>
        <p:nvSpPr>
          <p:cNvPr id="4" name="Shape 2"/>
          <p:cNvSpPr/>
          <p:nvPr/>
        </p:nvSpPr>
        <p:spPr>
          <a:xfrm>
            <a:off x="731520" y="1417320"/>
            <a:ext cx="685800" cy="685800"/>
          </a:xfrm>
          <a:prstGeom prst="ellipse">
            <a:avLst/>
          </a:prstGeom>
          <a:solidFill>
            <a:srgbClr val="1B2430"/>
          </a:solidFill>
          <a:ln w="19050">
            <a:solidFill>
              <a:srgbClr val="1B2430"/>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02970" y="1588770"/>
            <a:ext cx="342900" cy="342900"/>
          </a:xfrm>
          <a:prstGeom prst="rect">
            <a:avLst/>
          </a:prstGeom>
        </p:spPr>
      </p:pic>
      <p:sp>
        <p:nvSpPr>
          <p:cNvPr id="6" name="Text 3"/>
          <p:cNvSpPr txBox="1"/>
          <p:nvPr/>
        </p:nvSpPr>
        <p:spPr>
          <a:xfrm>
            <a:off x="731520" y="2286000"/>
            <a:ext cx="2194560" cy="411480"/>
          </a:xfrm>
          <a:prstGeom prst="rect">
            <a:avLst/>
          </a:prstGeom>
          <a:noFill/>
          <a:ln/>
        </p:spPr>
        <p:txBody>
          <a:bodyPr wrap="square" lIns="0" tIns="0" rIns="0" bIns="0" rtlCol="0" anchor="t"/>
          <a:lstStyle/>
          <a:p>
            <a:pPr marL="0" indent="0">
              <a:buNone/>
            </a:pPr>
            <a:r>
              <a:rPr lang="en-US" sz="2000" b="1" dirty="0">
                <a:solidFill>
                  <a:srgbClr val="1F2933"/>
                </a:solidFill>
                <a:latin typeface="Arial" pitchFamily="34" charset="0"/>
                <a:ea typeface="Arial" pitchFamily="34" charset="-122"/>
                <a:cs typeface="Arial" pitchFamily="34" charset="-120"/>
              </a:rPr>
              <a:t>Git</a:t>
            </a:r>
            <a:endParaRPr lang="en-US" sz="2000" dirty="0"/>
          </a:p>
        </p:txBody>
      </p:sp>
      <p:sp>
        <p:nvSpPr>
          <p:cNvPr id="7" name="Text 4"/>
          <p:cNvSpPr txBox="1"/>
          <p:nvPr/>
        </p:nvSpPr>
        <p:spPr>
          <a:xfrm>
            <a:off x="731520" y="2697480"/>
            <a:ext cx="2194560" cy="320040"/>
          </a:xfrm>
          <a:prstGeom prst="rect">
            <a:avLst/>
          </a:prstGeom>
          <a:noFill/>
          <a:ln/>
        </p:spPr>
        <p:txBody>
          <a:bodyPr wrap="square" lIns="0" tIns="0" rIns="0" bIns="0" rtlCol="0" anchor="t"/>
          <a:lstStyle/>
          <a:p>
            <a:pPr marL="0" indent="0">
              <a:buNone/>
            </a:pPr>
            <a:r>
              <a:rPr lang="en-US" sz="1300" b="1" dirty="0">
                <a:solidFill>
                  <a:srgbClr val="5B6573"/>
                </a:solidFill>
                <a:latin typeface="Arial" pitchFamily="34" charset="0"/>
                <a:ea typeface="Arial" pitchFamily="34" charset="-122"/>
                <a:cs typeface="Arial" pitchFamily="34" charset="-120"/>
              </a:rPr>
              <a:t>The engine</a:t>
            </a:r>
            <a:endParaRPr lang="en-US" sz="1300" dirty="0"/>
          </a:p>
        </p:txBody>
      </p:sp>
      <p:sp>
        <p:nvSpPr>
          <p:cNvPr id="8" name="Text 5"/>
          <p:cNvSpPr txBox="1"/>
          <p:nvPr/>
        </p:nvSpPr>
        <p:spPr>
          <a:xfrm>
            <a:off x="731520" y="3063240"/>
            <a:ext cx="2194560" cy="1188720"/>
          </a:xfrm>
          <a:prstGeom prst="rect">
            <a:avLst/>
          </a:prstGeom>
          <a:noFill/>
          <a:ln/>
        </p:spPr>
        <p:txBody>
          <a:bodyPr wrap="square" lIns="0" tIns="0" rIns="0" bIns="0" rtlCol="0" anchor="t"/>
          <a:lstStyle/>
          <a:p>
            <a:pPr marL="0" indent="0">
              <a:buNone/>
            </a:pPr>
            <a:r>
              <a:rPr lang="en-US" sz="1250" dirty="0">
                <a:solidFill>
                  <a:srgbClr val="5B6573"/>
                </a:solidFill>
                <a:latin typeface="Arial" pitchFamily="34" charset="0"/>
                <a:ea typeface="Arial" pitchFamily="34" charset="-122"/>
                <a:cs typeface="Arial" pitchFamily="34" charset="-120"/>
              </a:rPr>
              <a:t>Free program that tracks every version of every file in a folder. Runs on your own computer, works offline.</a:t>
            </a:r>
            <a:endParaRPr lang="en-US" sz="1250" dirty="0"/>
          </a:p>
        </p:txBody>
      </p:sp>
      <p:sp>
        <p:nvSpPr>
          <p:cNvPr id="9" name="Shape 6"/>
          <p:cNvSpPr/>
          <p:nvPr/>
        </p:nvSpPr>
        <p:spPr>
          <a:xfrm>
            <a:off x="3291840" y="1188720"/>
            <a:ext cx="2651760" cy="3200400"/>
          </a:xfrm>
          <a:prstGeom prst="roundRect">
            <a:avLst>
              <a:gd name="adj" fmla="val 2759"/>
            </a:avLst>
          </a:prstGeom>
          <a:solidFill>
            <a:srgbClr val="F1F3F5"/>
          </a:solidFill>
          <a:ln w="12700">
            <a:solidFill>
              <a:srgbClr val="F1F3F5"/>
            </a:solidFill>
            <a:prstDash val="solid"/>
          </a:ln>
        </p:spPr>
        <p:txBody>
          <a:bodyPr/>
          <a:lstStyle/>
          <a:p>
            <a:endParaRPr lang="en-US"/>
          </a:p>
        </p:txBody>
      </p:sp>
      <p:sp>
        <p:nvSpPr>
          <p:cNvPr id="10" name="Shape 7"/>
          <p:cNvSpPr/>
          <p:nvPr/>
        </p:nvSpPr>
        <p:spPr>
          <a:xfrm>
            <a:off x="3566160" y="1417320"/>
            <a:ext cx="685800" cy="685800"/>
          </a:xfrm>
          <a:prstGeom prst="ellipse">
            <a:avLst/>
          </a:prstGeom>
          <a:solidFill>
            <a:srgbClr val="3A6EA5"/>
          </a:solidFill>
          <a:ln w="19050">
            <a:solidFill>
              <a:srgbClr val="3A6EA5"/>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37610" y="1588770"/>
            <a:ext cx="342900" cy="342900"/>
          </a:xfrm>
          <a:prstGeom prst="rect">
            <a:avLst/>
          </a:prstGeom>
        </p:spPr>
      </p:pic>
      <p:sp>
        <p:nvSpPr>
          <p:cNvPr id="12" name="Text 8"/>
          <p:cNvSpPr txBox="1"/>
          <p:nvPr/>
        </p:nvSpPr>
        <p:spPr>
          <a:xfrm>
            <a:off x="3566160" y="2286000"/>
            <a:ext cx="2194560" cy="411480"/>
          </a:xfrm>
          <a:prstGeom prst="rect">
            <a:avLst/>
          </a:prstGeom>
          <a:noFill/>
          <a:ln/>
        </p:spPr>
        <p:txBody>
          <a:bodyPr wrap="square" lIns="0" tIns="0" rIns="0" bIns="0" rtlCol="0" anchor="t"/>
          <a:lstStyle/>
          <a:p>
            <a:pPr marL="0" indent="0">
              <a:buNone/>
            </a:pPr>
            <a:r>
              <a:rPr lang="en-US" sz="2000" b="1" dirty="0">
                <a:solidFill>
                  <a:srgbClr val="1F2933"/>
                </a:solidFill>
                <a:latin typeface="Arial" pitchFamily="34" charset="0"/>
                <a:ea typeface="Arial" pitchFamily="34" charset="-122"/>
                <a:cs typeface="Arial" pitchFamily="34" charset="-120"/>
              </a:rPr>
              <a:t>GitHub</a:t>
            </a:r>
            <a:endParaRPr lang="en-US" sz="2000" dirty="0"/>
          </a:p>
        </p:txBody>
      </p:sp>
      <p:sp>
        <p:nvSpPr>
          <p:cNvPr id="13" name="Text 9"/>
          <p:cNvSpPr txBox="1"/>
          <p:nvPr/>
        </p:nvSpPr>
        <p:spPr>
          <a:xfrm>
            <a:off x="3566160" y="2697480"/>
            <a:ext cx="2194560" cy="320040"/>
          </a:xfrm>
          <a:prstGeom prst="rect">
            <a:avLst/>
          </a:prstGeom>
          <a:noFill/>
          <a:ln/>
        </p:spPr>
        <p:txBody>
          <a:bodyPr wrap="square" lIns="0" tIns="0" rIns="0" bIns="0" rtlCol="0" anchor="t"/>
          <a:lstStyle/>
          <a:p>
            <a:pPr marL="0" indent="0">
              <a:buNone/>
            </a:pPr>
            <a:r>
              <a:rPr lang="en-US" sz="1300" b="1" dirty="0">
                <a:solidFill>
                  <a:srgbClr val="3A6EA5"/>
                </a:solidFill>
                <a:latin typeface="Arial" pitchFamily="34" charset="0"/>
                <a:ea typeface="Arial" pitchFamily="34" charset="-122"/>
                <a:cs typeface="Arial" pitchFamily="34" charset="-120"/>
              </a:rPr>
              <a:t>The shared garage</a:t>
            </a:r>
            <a:endParaRPr lang="en-US" sz="1300" dirty="0"/>
          </a:p>
        </p:txBody>
      </p:sp>
      <p:sp>
        <p:nvSpPr>
          <p:cNvPr id="14" name="Text 10"/>
          <p:cNvSpPr txBox="1"/>
          <p:nvPr/>
        </p:nvSpPr>
        <p:spPr>
          <a:xfrm>
            <a:off x="3566160" y="3063240"/>
            <a:ext cx="2194560" cy="1188720"/>
          </a:xfrm>
          <a:prstGeom prst="rect">
            <a:avLst/>
          </a:prstGeom>
          <a:noFill/>
          <a:ln/>
        </p:spPr>
        <p:txBody>
          <a:bodyPr wrap="square" lIns="0" tIns="0" rIns="0" bIns="0" rtlCol="0" anchor="t"/>
          <a:lstStyle/>
          <a:p>
            <a:pPr marL="0" indent="0">
              <a:buNone/>
            </a:pPr>
            <a:r>
              <a:rPr lang="en-US" sz="1250" dirty="0">
                <a:solidFill>
                  <a:srgbClr val="5B6573"/>
                </a:solidFill>
                <a:latin typeface="Arial" pitchFamily="34" charset="0"/>
                <a:ea typeface="Arial" pitchFamily="34" charset="-122"/>
                <a:cs typeface="Arial" pitchFamily="34" charset="-120"/>
              </a:rPr>
              <a:t>A website that stores the team's copy of the repo. It's the meeting point where everyone's work syncs up.</a:t>
            </a:r>
            <a:endParaRPr lang="en-US" sz="1250" dirty="0"/>
          </a:p>
        </p:txBody>
      </p:sp>
      <p:sp>
        <p:nvSpPr>
          <p:cNvPr id="15" name="Shape 11"/>
          <p:cNvSpPr/>
          <p:nvPr/>
        </p:nvSpPr>
        <p:spPr>
          <a:xfrm>
            <a:off x="6126480" y="1188720"/>
            <a:ext cx="2651760" cy="3200400"/>
          </a:xfrm>
          <a:prstGeom prst="roundRect">
            <a:avLst>
              <a:gd name="adj" fmla="val 2759"/>
            </a:avLst>
          </a:prstGeom>
          <a:solidFill>
            <a:srgbClr val="F1F3F5"/>
          </a:solidFill>
          <a:ln w="12700">
            <a:solidFill>
              <a:srgbClr val="F1F3F5"/>
            </a:solidFill>
            <a:prstDash val="solid"/>
          </a:ln>
        </p:spPr>
        <p:txBody>
          <a:bodyPr/>
          <a:lstStyle/>
          <a:p>
            <a:endParaRPr lang="en-US"/>
          </a:p>
        </p:txBody>
      </p:sp>
      <p:sp>
        <p:nvSpPr>
          <p:cNvPr id="16" name="Shape 12"/>
          <p:cNvSpPr/>
          <p:nvPr/>
        </p:nvSpPr>
        <p:spPr>
          <a:xfrm>
            <a:off x="6400800" y="1417320"/>
            <a:ext cx="685800" cy="685800"/>
          </a:xfrm>
          <a:prstGeom prst="ellipse">
            <a:avLst/>
          </a:prstGeom>
          <a:solidFill>
            <a:srgbClr val="F2711C"/>
          </a:solidFill>
          <a:ln w="19050">
            <a:solidFill>
              <a:srgbClr val="F2711C"/>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572250" y="1588770"/>
            <a:ext cx="342900" cy="342900"/>
          </a:xfrm>
          <a:prstGeom prst="rect">
            <a:avLst/>
          </a:prstGeom>
        </p:spPr>
      </p:pic>
      <p:sp>
        <p:nvSpPr>
          <p:cNvPr id="18" name="Text 13"/>
          <p:cNvSpPr txBox="1"/>
          <p:nvPr/>
        </p:nvSpPr>
        <p:spPr>
          <a:xfrm>
            <a:off x="6400800" y="2286000"/>
            <a:ext cx="2194560" cy="411480"/>
          </a:xfrm>
          <a:prstGeom prst="rect">
            <a:avLst/>
          </a:prstGeom>
          <a:noFill/>
          <a:ln/>
        </p:spPr>
        <p:txBody>
          <a:bodyPr wrap="square" lIns="0" tIns="0" rIns="0" bIns="0" rtlCol="0" anchor="t"/>
          <a:lstStyle/>
          <a:p>
            <a:pPr marL="0" indent="0">
              <a:buNone/>
            </a:pPr>
            <a:r>
              <a:rPr lang="en-US" sz="2000" b="1" dirty="0">
                <a:solidFill>
                  <a:srgbClr val="1F2933"/>
                </a:solidFill>
                <a:latin typeface="Arial" pitchFamily="34" charset="0"/>
                <a:ea typeface="Arial" pitchFamily="34" charset="-122"/>
                <a:cs typeface="Arial" pitchFamily="34" charset="-120"/>
              </a:rPr>
              <a:t>GitHub Desktop</a:t>
            </a:r>
            <a:endParaRPr lang="en-US" sz="2000" dirty="0"/>
          </a:p>
        </p:txBody>
      </p:sp>
      <p:sp>
        <p:nvSpPr>
          <p:cNvPr id="19" name="Text 14"/>
          <p:cNvSpPr txBox="1"/>
          <p:nvPr/>
        </p:nvSpPr>
        <p:spPr>
          <a:xfrm>
            <a:off x="6400800" y="2697480"/>
            <a:ext cx="2194560" cy="320040"/>
          </a:xfrm>
          <a:prstGeom prst="rect">
            <a:avLst/>
          </a:prstGeom>
          <a:noFill/>
          <a:ln/>
        </p:spPr>
        <p:txBody>
          <a:bodyPr wrap="square" lIns="0" tIns="0" rIns="0" bIns="0" rtlCol="0" anchor="t"/>
          <a:lstStyle/>
          <a:p>
            <a:pPr marL="0" indent="0">
              <a:buNone/>
            </a:pPr>
            <a:r>
              <a:rPr lang="en-US" sz="1300" b="1" dirty="0">
                <a:solidFill>
                  <a:srgbClr val="F2711C"/>
                </a:solidFill>
                <a:latin typeface="Arial" pitchFamily="34" charset="0"/>
                <a:ea typeface="Arial" pitchFamily="34" charset="-122"/>
                <a:cs typeface="Arial" pitchFamily="34" charset="-120"/>
              </a:rPr>
              <a:t>The steering wheel</a:t>
            </a:r>
            <a:endParaRPr lang="en-US" sz="1300" dirty="0"/>
          </a:p>
        </p:txBody>
      </p:sp>
      <p:sp>
        <p:nvSpPr>
          <p:cNvPr id="20" name="Text 15"/>
          <p:cNvSpPr txBox="1"/>
          <p:nvPr/>
        </p:nvSpPr>
        <p:spPr>
          <a:xfrm>
            <a:off x="6400800" y="3063240"/>
            <a:ext cx="2194560" cy="1188720"/>
          </a:xfrm>
          <a:prstGeom prst="rect">
            <a:avLst/>
          </a:prstGeom>
          <a:noFill/>
          <a:ln/>
        </p:spPr>
        <p:txBody>
          <a:bodyPr wrap="square" lIns="0" tIns="0" rIns="0" bIns="0" rtlCol="0" anchor="t"/>
          <a:lstStyle/>
          <a:p>
            <a:pPr marL="0" indent="0">
              <a:buNone/>
            </a:pPr>
            <a:r>
              <a:rPr lang="en-US" sz="1250" dirty="0">
                <a:solidFill>
                  <a:srgbClr val="5B6573"/>
                </a:solidFill>
                <a:latin typeface="Arial" pitchFamily="34" charset="0"/>
                <a:ea typeface="Arial" pitchFamily="34" charset="-122"/>
                <a:cs typeface="Arial" pitchFamily="34" charset="-120"/>
              </a:rPr>
              <a:t>The app with buttons. Every click runs a Git command for you, so you never have to type commands.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A repository is just a folder</a:t>
            </a:r>
            <a:endParaRPr lang="en-US" sz="3000" dirty="0"/>
          </a:p>
        </p:txBody>
      </p:sp>
      <p:sp>
        <p:nvSpPr>
          <p:cNvPr id="3" name="Shape 1"/>
          <p:cNvSpPr/>
          <p:nvPr/>
        </p:nvSpPr>
        <p:spPr>
          <a:xfrm>
            <a:off x="457200" y="1143000"/>
            <a:ext cx="4206240" cy="3474720"/>
          </a:xfrm>
          <a:prstGeom prst="roundRect">
            <a:avLst>
              <a:gd name="adj" fmla="val 2105"/>
            </a:avLst>
          </a:prstGeom>
          <a:solidFill>
            <a:srgbClr val="F1F3F5"/>
          </a:solidFill>
          <a:ln w="12700">
            <a:solidFill>
              <a:srgbClr val="F1F3F5"/>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31520" y="1325880"/>
            <a:ext cx="411480" cy="411480"/>
          </a:xfrm>
          <a:prstGeom prst="rect">
            <a:avLst/>
          </a:prstGeom>
        </p:spPr>
      </p:pic>
      <p:sp>
        <p:nvSpPr>
          <p:cNvPr id="5" name="Text 2"/>
          <p:cNvSpPr txBox="1"/>
          <p:nvPr/>
        </p:nvSpPr>
        <p:spPr>
          <a:xfrm>
            <a:off x="1234440" y="1325880"/>
            <a:ext cx="3200400" cy="411480"/>
          </a:xfrm>
          <a:prstGeom prst="rect">
            <a:avLst/>
          </a:prstGeom>
          <a:noFill/>
          <a:ln/>
        </p:spPr>
        <p:txBody>
          <a:bodyPr wrap="square" lIns="0" tIns="0" rIns="0" bIns="0" rtlCol="0" anchor="ctr"/>
          <a:lstStyle/>
          <a:p>
            <a:pPr marL="0" indent="0">
              <a:buNone/>
            </a:pPr>
            <a:r>
              <a:rPr lang="en-US" sz="1500" b="1" dirty="0">
                <a:solidFill>
                  <a:srgbClr val="1F2933"/>
                </a:solidFill>
                <a:latin typeface="Courier New" pitchFamily="34" charset="0"/>
                <a:ea typeface="Courier New" pitchFamily="34" charset="-122"/>
                <a:cs typeface="Courier New" pitchFamily="34" charset="-120"/>
              </a:rPr>
              <a:t>Baja-Controls/</a:t>
            </a:r>
            <a:endParaRPr lang="en-US" sz="1500" dirty="0"/>
          </a:p>
        </p:txBody>
      </p:sp>
      <p:sp>
        <p:nvSpPr>
          <p:cNvPr id="6" name="Text 3"/>
          <p:cNvSpPr txBox="1"/>
          <p:nvPr/>
        </p:nvSpPr>
        <p:spPr>
          <a:xfrm>
            <a:off x="914400" y="1874520"/>
            <a:ext cx="3566160" cy="365760"/>
          </a:xfrm>
          <a:prstGeom prst="rect">
            <a:avLst/>
          </a:prstGeom>
          <a:noFill/>
          <a:ln/>
        </p:spPr>
        <p:txBody>
          <a:bodyPr wrap="square" lIns="0" tIns="0" rIns="0" bIns="0" rtlCol="0" anchor="t"/>
          <a:lstStyle/>
          <a:p>
            <a:pPr marL="0" indent="0">
              <a:buNone/>
            </a:pPr>
            <a:r>
              <a:rPr lang="en-US" sz="1400" dirty="0">
                <a:solidFill>
                  <a:srgbClr val="1F2933"/>
                </a:solidFill>
                <a:latin typeface="Courier New" pitchFamily="34" charset="0"/>
                <a:ea typeface="Courier New" pitchFamily="34" charset="-122"/>
                <a:cs typeface="Courier New" pitchFamily="34" charset="-120"/>
              </a:rPr>
              <a:t>├─ firmware/</a:t>
            </a:r>
            <a:endParaRPr lang="en-US" sz="1400" dirty="0"/>
          </a:p>
        </p:txBody>
      </p:sp>
      <p:sp>
        <p:nvSpPr>
          <p:cNvPr id="7" name="Text 4"/>
          <p:cNvSpPr txBox="1"/>
          <p:nvPr/>
        </p:nvSpPr>
        <p:spPr>
          <a:xfrm>
            <a:off x="914400" y="2286000"/>
            <a:ext cx="3566160" cy="365760"/>
          </a:xfrm>
          <a:prstGeom prst="rect">
            <a:avLst/>
          </a:prstGeom>
          <a:noFill/>
          <a:ln/>
        </p:spPr>
        <p:txBody>
          <a:bodyPr wrap="square" lIns="0" tIns="0" rIns="0" bIns="0" rtlCol="0" anchor="t"/>
          <a:lstStyle/>
          <a:p>
            <a:pPr marL="0" indent="0">
              <a:buNone/>
            </a:pPr>
            <a:r>
              <a:rPr lang="en-US" sz="1400" dirty="0">
                <a:solidFill>
                  <a:srgbClr val="1F2933"/>
                </a:solidFill>
                <a:latin typeface="Courier New" pitchFamily="34" charset="0"/>
                <a:ea typeface="Courier New" pitchFamily="34" charset="-122"/>
                <a:cs typeface="Courier New" pitchFamily="34" charset="-120"/>
              </a:rPr>
              <a:t>├─ matlab/</a:t>
            </a:r>
            <a:endParaRPr lang="en-US" sz="1400" dirty="0"/>
          </a:p>
        </p:txBody>
      </p:sp>
      <p:sp>
        <p:nvSpPr>
          <p:cNvPr id="8" name="Text 5"/>
          <p:cNvSpPr txBox="1"/>
          <p:nvPr/>
        </p:nvSpPr>
        <p:spPr>
          <a:xfrm>
            <a:off x="914400" y="2697480"/>
            <a:ext cx="3566160" cy="365760"/>
          </a:xfrm>
          <a:prstGeom prst="rect">
            <a:avLst/>
          </a:prstGeom>
          <a:noFill/>
          <a:ln/>
        </p:spPr>
        <p:txBody>
          <a:bodyPr wrap="square" lIns="0" tIns="0" rIns="0" bIns="0" rtlCol="0" anchor="t"/>
          <a:lstStyle/>
          <a:p>
            <a:pPr marL="0" indent="0">
              <a:buNone/>
            </a:pPr>
            <a:r>
              <a:rPr lang="en-US" sz="1400" dirty="0">
                <a:solidFill>
                  <a:srgbClr val="1F2933"/>
                </a:solidFill>
                <a:latin typeface="Courier New" pitchFamily="34" charset="0"/>
                <a:ea typeface="Courier New" pitchFamily="34" charset="-122"/>
                <a:cs typeface="Courier New" pitchFamily="34" charset="-120"/>
              </a:rPr>
              <a:t>├─ cad/</a:t>
            </a:r>
            <a:endParaRPr lang="en-US" sz="1400" dirty="0"/>
          </a:p>
        </p:txBody>
      </p:sp>
      <p:sp>
        <p:nvSpPr>
          <p:cNvPr id="9" name="Text 6"/>
          <p:cNvSpPr txBox="1"/>
          <p:nvPr/>
        </p:nvSpPr>
        <p:spPr>
          <a:xfrm>
            <a:off x="914400" y="3108960"/>
            <a:ext cx="3566160" cy="365760"/>
          </a:xfrm>
          <a:prstGeom prst="rect">
            <a:avLst/>
          </a:prstGeom>
          <a:noFill/>
          <a:ln/>
        </p:spPr>
        <p:txBody>
          <a:bodyPr wrap="square" lIns="0" tIns="0" rIns="0" bIns="0" rtlCol="0" anchor="t"/>
          <a:lstStyle/>
          <a:p>
            <a:pPr marL="0" indent="0">
              <a:buNone/>
            </a:pPr>
            <a:r>
              <a:rPr lang="en-US" sz="1400" dirty="0">
                <a:solidFill>
                  <a:srgbClr val="1F2933"/>
                </a:solidFill>
                <a:latin typeface="Courier New" pitchFamily="34" charset="0"/>
                <a:ea typeface="Courier New" pitchFamily="34" charset="-122"/>
                <a:cs typeface="Courier New" pitchFamily="34" charset="-120"/>
              </a:rPr>
              <a:t>├─ docs/</a:t>
            </a:r>
            <a:endParaRPr lang="en-US" sz="1400" dirty="0"/>
          </a:p>
        </p:txBody>
      </p:sp>
      <p:sp>
        <p:nvSpPr>
          <p:cNvPr id="10" name="Text 7"/>
          <p:cNvSpPr txBox="1"/>
          <p:nvPr/>
        </p:nvSpPr>
        <p:spPr>
          <a:xfrm>
            <a:off x="914400" y="3520440"/>
            <a:ext cx="3566160" cy="365760"/>
          </a:xfrm>
          <a:prstGeom prst="rect">
            <a:avLst/>
          </a:prstGeom>
          <a:noFill/>
          <a:ln/>
        </p:spPr>
        <p:txBody>
          <a:bodyPr wrap="square" lIns="0" tIns="0" rIns="0" bIns="0" rtlCol="0" anchor="t"/>
          <a:lstStyle/>
          <a:p>
            <a:pPr marL="0" indent="0">
              <a:buNone/>
            </a:pPr>
            <a:r>
              <a:rPr lang="en-US" sz="1400" dirty="0">
                <a:solidFill>
                  <a:srgbClr val="1F2933"/>
                </a:solidFill>
                <a:latin typeface="Courier New" pitchFamily="34" charset="0"/>
                <a:ea typeface="Courier New" pitchFamily="34" charset="-122"/>
                <a:cs typeface="Courier New" pitchFamily="34" charset="-120"/>
              </a:rPr>
              <a:t>├─ .gitignore</a:t>
            </a:r>
            <a:endParaRPr lang="en-US" sz="1400" dirty="0"/>
          </a:p>
        </p:txBody>
      </p:sp>
      <p:sp>
        <p:nvSpPr>
          <p:cNvPr id="11" name="Text 8"/>
          <p:cNvSpPr txBox="1"/>
          <p:nvPr/>
        </p:nvSpPr>
        <p:spPr>
          <a:xfrm>
            <a:off x="914400" y="3931920"/>
            <a:ext cx="3566160" cy="365760"/>
          </a:xfrm>
          <a:prstGeom prst="rect">
            <a:avLst/>
          </a:prstGeom>
          <a:noFill/>
          <a:ln/>
        </p:spPr>
        <p:txBody>
          <a:bodyPr wrap="square" lIns="0" tIns="0" rIns="0" bIns="0" rtlCol="0" anchor="t"/>
          <a:lstStyle/>
          <a:p>
            <a:pPr marL="0" indent="0">
              <a:buNone/>
            </a:pPr>
            <a:r>
              <a:rPr lang="en-US" sz="1400" b="1" dirty="0">
                <a:solidFill>
                  <a:srgbClr val="F2711C"/>
                </a:solidFill>
                <a:latin typeface="Courier New" pitchFamily="34" charset="0"/>
                <a:ea typeface="Courier New" pitchFamily="34" charset="-122"/>
                <a:cs typeface="Courier New" pitchFamily="34" charset="-120"/>
              </a:rPr>
              <a:t>├─ .git/   ← hidden</a:t>
            </a:r>
            <a:endParaRPr lang="en-US" sz="1400" dirty="0"/>
          </a:p>
        </p:txBody>
      </p:sp>
      <p:sp>
        <p:nvSpPr>
          <p:cNvPr id="12" name="Text 9"/>
          <p:cNvSpPr txBox="1"/>
          <p:nvPr/>
        </p:nvSpPr>
        <p:spPr>
          <a:xfrm>
            <a:off x="5029200" y="1188720"/>
            <a:ext cx="3657600" cy="365760"/>
          </a:xfrm>
          <a:prstGeom prst="rect">
            <a:avLst/>
          </a:prstGeom>
          <a:noFill/>
          <a:ln/>
        </p:spPr>
        <p:txBody>
          <a:bodyPr wrap="square" lIns="0" tIns="0" rIns="0" bIns="0" rtlCol="0" anchor="t"/>
          <a:lstStyle/>
          <a:p>
            <a:pPr marL="0" indent="0">
              <a:buNone/>
            </a:pPr>
            <a:r>
              <a:rPr lang="en-US" sz="1800" b="1" dirty="0">
                <a:solidFill>
                  <a:srgbClr val="1F2933"/>
                </a:solidFill>
                <a:latin typeface="Arial" pitchFamily="34" charset="0"/>
                <a:ea typeface="Arial" pitchFamily="34" charset="-122"/>
                <a:cs typeface="Arial" pitchFamily="34" charset="-120"/>
              </a:rPr>
              <a:t>Your files</a:t>
            </a:r>
            <a:endParaRPr lang="en-US" sz="1800" dirty="0"/>
          </a:p>
        </p:txBody>
      </p:sp>
      <p:sp>
        <p:nvSpPr>
          <p:cNvPr id="13" name="Text 10"/>
          <p:cNvSpPr txBox="1"/>
          <p:nvPr/>
        </p:nvSpPr>
        <p:spPr>
          <a:xfrm>
            <a:off x="5029200" y="1572768"/>
            <a:ext cx="3657600" cy="914400"/>
          </a:xfrm>
          <a:prstGeom prst="rect">
            <a:avLst/>
          </a:prstGeom>
          <a:noFill/>
          <a:ln/>
        </p:spPr>
        <p:txBody>
          <a:bodyPr wrap="square" lIns="0" tIns="0" rIns="0" bIns="0" rtlCol="0" anchor="t"/>
          <a:lstStyle/>
          <a:p>
            <a:pPr marL="0" indent="0">
              <a:buNone/>
            </a:pPr>
            <a:r>
              <a:rPr lang="en-US" sz="1350" dirty="0">
                <a:solidFill>
                  <a:srgbClr val="5B6573"/>
                </a:solidFill>
                <a:latin typeface="Arial" pitchFamily="34" charset="0"/>
                <a:ea typeface="Arial" pitchFamily="34" charset="-122"/>
                <a:cs typeface="Arial" pitchFamily="34" charset="-120"/>
              </a:rPr>
              <a:t>Everything outside .git is normal. Open, edit, and save files with MATLAB, SolidWorks, Word, or VS Code exactly like you always do.</a:t>
            </a:r>
            <a:endParaRPr lang="en-US" sz="1350" dirty="0"/>
          </a:p>
        </p:txBody>
      </p:sp>
      <p:sp>
        <p:nvSpPr>
          <p:cNvPr id="14" name="Text 11"/>
          <p:cNvSpPr txBox="1"/>
          <p:nvPr/>
        </p:nvSpPr>
        <p:spPr>
          <a:xfrm>
            <a:off x="5029200" y="2651760"/>
            <a:ext cx="3657600" cy="365760"/>
          </a:xfrm>
          <a:prstGeom prst="rect">
            <a:avLst/>
          </a:prstGeom>
          <a:noFill/>
          <a:ln/>
        </p:spPr>
        <p:txBody>
          <a:bodyPr wrap="square" lIns="0" tIns="0" rIns="0" bIns="0" rtlCol="0" anchor="t"/>
          <a:lstStyle/>
          <a:p>
            <a:pPr marL="0" indent="0">
              <a:buNone/>
            </a:pPr>
            <a:r>
              <a:rPr lang="en-US" sz="1800" b="1" dirty="0">
                <a:solidFill>
                  <a:srgbClr val="F2711C"/>
                </a:solidFill>
                <a:latin typeface="Arial" pitchFamily="34" charset="0"/>
                <a:ea typeface="Arial" pitchFamily="34" charset="-122"/>
                <a:cs typeface="Arial" pitchFamily="34" charset="-120"/>
              </a:rPr>
              <a:t>The .git folder</a:t>
            </a:r>
            <a:endParaRPr lang="en-US" sz="1800" dirty="0"/>
          </a:p>
        </p:txBody>
      </p:sp>
      <p:sp>
        <p:nvSpPr>
          <p:cNvPr id="15" name="Text 12"/>
          <p:cNvSpPr txBox="1"/>
          <p:nvPr/>
        </p:nvSpPr>
        <p:spPr>
          <a:xfrm>
            <a:off x="5029200" y="3035808"/>
            <a:ext cx="3657600" cy="1097280"/>
          </a:xfrm>
          <a:prstGeom prst="rect">
            <a:avLst/>
          </a:prstGeom>
          <a:noFill/>
          <a:ln/>
        </p:spPr>
        <p:txBody>
          <a:bodyPr wrap="square" lIns="0" tIns="0" rIns="0" bIns="0" rtlCol="0" anchor="t"/>
          <a:lstStyle/>
          <a:p>
            <a:pPr marL="0" indent="0">
              <a:buNone/>
            </a:pPr>
            <a:r>
              <a:rPr lang="en-US" sz="1350" dirty="0">
                <a:solidFill>
                  <a:srgbClr val="5B6573"/>
                </a:solidFill>
                <a:latin typeface="Arial" pitchFamily="34" charset="0"/>
                <a:ea typeface="Arial" pitchFamily="34" charset="-122"/>
                <a:cs typeface="Arial" pitchFamily="34" charset="-120"/>
              </a:rPr>
              <a:t>Hidden folder holding the entire history of the project. Git manages it. Never edit, move, or delete it, and don't put the repo inside OneDrive or Google Drive sync.</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Your work moves through three stages</a:t>
            </a:r>
            <a:endParaRPr lang="en-US" sz="3000" dirty="0"/>
          </a:p>
        </p:txBody>
      </p:sp>
      <p:sp>
        <p:nvSpPr>
          <p:cNvPr id="3" name="Shape 1"/>
          <p:cNvSpPr/>
          <p:nvPr/>
        </p:nvSpPr>
        <p:spPr>
          <a:xfrm>
            <a:off x="457200" y="1188720"/>
            <a:ext cx="2240280" cy="2194560"/>
          </a:xfrm>
          <a:prstGeom prst="roundRect">
            <a:avLst>
              <a:gd name="adj" fmla="val 3333"/>
            </a:avLst>
          </a:prstGeom>
          <a:solidFill>
            <a:srgbClr val="F1F3F5"/>
          </a:solidFill>
          <a:ln w="12700">
            <a:solidFill>
              <a:srgbClr val="F1F3F5"/>
            </a:solidFill>
            <a:prstDash val="solid"/>
          </a:ln>
        </p:spPr>
        <p:txBody>
          <a:bodyPr/>
          <a:lstStyle/>
          <a:p>
            <a:endParaRPr lang="en-US"/>
          </a:p>
        </p:txBody>
      </p:sp>
      <p:sp>
        <p:nvSpPr>
          <p:cNvPr id="4" name="Text 2"/>
          <p:cNvSpPr txBox="1"/>
          <p:nvPr/>
        </p:nvSpPr>
        <p:spPr>
          <a:xfrm>
            <a:off x="640080" y="1325880"/>
            <a:ext cx="1920240" cy="411480"/>
          </a:xfrm>
          <a:prstGeom prst="rect">
            <a:avLst/>
          </a:prstGeom>
          <a:noFill/>
          <a:ln/>
        </p:spPr>
        <p:txBody>
          <a:bodyPr wrap="square" lIns="0" tIns="0" rIns="0" bIns="0" rtlCol="0" anchor="t"/>
          <a:lstStyle/>
          <a:p>
            <a:pPr marL="0" indent="0">
              <a:buNone/>
            </a:pPr>
            <a:r>
              <a:rPr lang="en-US" sz="1800" b="1" dirty="0">
                <a:solidFill>
                  <a:srgbClr val="1F2933"/>
                </a:solidFill>
                <a:latin typeface="Arial" pitchFamily="34" charset="0"/>
                <a:ea typeface="Arial" pitchFamily="34" charset="-122"/>
                <a:cs typeface="Arial" pitchFamily="34" charset="-120"/>
              </a:rPr>
              <a:t>Working folder</a:t>
            </a:r>
            <a:endParaRPr lang="en-US" sz="1800" dirty="0"/>
          </a:p>
        </p:txBody>
      </p:sp>
      <p:sp>
        <p:nvSpPr>
          <p:cNvPr id="5" name="Text 3"/>
          <p:cNvSpPr txBox="1"/>
          <p:nvPr/>
        </p:nvSpPr>
        <p:spPr>
          <a:xfrm>
            <a:off x="640080" y="1783080"/>
            <a:ext cx="2011680" cy="822960"/>
          </a:xfrm>
          <a:prstGeom prst="rect">
            <a:avLst/>
          </a:prstGeom>
          <a:noFill/>
          <a:ln/>
        </p:spPr>
        <p:txBody>
          <a:bodyPr wrap="square" lIns="0" tIns="0" rIns="0" bIns="0" rtlCol="0" anchor="t"/>
          <a:lstStyle/>
          <a:p>
            <a:pPr marL="0" indent="0">
              <a:buNone/>
            </a:pPr>
            <a:r>
              <a:rPr lang="en-US" sz="1300" dirty="0">
                <a:solidFill>
                  <a:srgbClr val="1F2933"/>
                </a:solidFill>
                <a:latin typeface="Arial" pitchFamily="34" charset="0"/>
                <a:ea typeface="Arial" pitchFamily="34" charset="-122"/>
                <a:cs typeface="Arial" pitchFamily="34" charset="-120"/>
              </a:rPr>
              <a:t>Files as they are on your disk right now</a:t>
            </a:r>
            <a:endParaRPr lang="en-US" sz="1300" dirty="0"/>
          </a:p>
        </p:txBody>
      </p:sp>
      <p:sp>
        <p:nvSpPr>
          <p:cNvPr id="6" name="Text 4"/>
          <p:cNvSpPr txBox="1"/>
          <p:nvPr/>
        </p:nvSpPr>
        <p:spPr>
          <a:xfrm>
            <a:off x="640080" y="2651760"/>
            <a:ext cx="2011680" cy="640080"/>
          </a:xfrm>
          <a:prstGeom prst="rect">
            <a:avLst/>
          </a:prstGeom>
          <a:noFill/>
          <a:ln/>
        </p:spPr>
        <p:txBody>
          <a:bodyPr wrap="square" lIns="0" tIns="0" rIns="0" bIns="0" rtlCol="0" anchor="t"/>
          <a:lstStyle/>
          <a:p>
            <a:pPr marL="0" indent="0">
              <a:buNone/>
            </a:pPr>
            <a:r>
              <a:rPr lang="en-US" sz="1150" i="1" dirty="0">
                <a:solidFill>
                  <a:srgbClr val="5B6573"/>
                </a:solidFill>
                <a:latin typeface="Arial" pitchFamily="34" charset="0"/>
                <a:ea typeface="Arial" pitchFamily="34" charset="-122"/>
                <a:cs typeface="Arial" pitchFamily="34" charset="-120"/>
              </a:rPr>
              <a:t>In Desktop: Changes tab lists every file you touched</a:t>
            </a:r>
            <a:endParaRPr lang="en-US" sz="1150" dirty="0"/>
          </a:p>
        </p:txBody>
      </p:sp>
      <p:sp>
        <p:nvSpPr>
          <p:cNvPr id="7" name="Shape 5"/>
          <p:cNvSpPr/>
          <p:nvPr/>
        </p:nvSpPr>
        <p:spPr>
          <a:xfrm>
            <a:off x="3451860" y="1188720"/>
            <a:ext cx="2240280" cy="2194560"/>
          </a:xfrm>
          <a:prstGeom prst="roundRect">
            <a:avLst>
              <a:gd name="adj" fmla="val 3333"/>
            </a:avLst>
          </a:prstGeom>
          <a:solidFill>
            <a:srgbClr val="FDE7D7"/>
          </a:solidFill>
          <a:ln w="12700">
            <a:solidFill>
              <a:srgbClr val="FDE7D7"/>
            </a:solidFill>
            <a:prstDash val="solid"/>
          </a:ln>
        </p:spPr>
        <p:txBody>
          <a:bodyPr/>
          <a:lstStyle/>
          <a:p>
            <a:endParaRPr lang="en-US"/>
          </a:p>
        </p:txBody>
      </p:sp>
      <p:sp>
        <p:nvSpPr>
          <p:cNvPr id="8" name="Text 6"/>
          <p:cNvSpPr txBox="1"/>
          <p:nvPr/>
        </p:nvSpPr>
        <p:spPr>
          <a:xfrm>
            <a:off x="3634740" y="1325880"/>
            <a:ext cx="1920240" cy="411480"/>
          </a:xfrm>
          <a:prstGeom prst="rect">
            <a:avLst/>
          </a:prstGeom>
          <a:noFill/>
          <a:ln/>
        </p:spPr>
        <p:txBody>
          <a:bodyPr wrap="square" lIns="0" tIns="0" rIns="0" bIns="0" rtlCol="0" anchor="t"/>
          <a:lstStyle/>
          <a:p>
            <a:pPr marL="0" indent="0">
              <a:buNone/>
            </a:pPr>
            <a:r>
              <a:rPr lang="en-US" sz="1800" b="1" dirty="0">
                <a:solidFill>
                  <a:srgbClr val="F2711C"/>
                </a:solidFill>
                <a:latin typeface="Arial" pitchFamily="34" charset="0"/>
                <a:ea typeface="Arial" pitchFamily="34" charset="-122"/>
                <a:cs typeface="Arial" pitchFamily="34" charset="-120"/>
              </a:rPr>
              <a:t>Staging area</a:t>
            </a:r>
            <a:endParaRPr lang="en-US" sz="1800" dirty="0"/>
          </a:p>
        </p:txBody>
      </p:sp>
      <p:sp>
        <p:nvSpPr>
          <p:cNvPr id="9" name="Text 7"/>
          <p:cNvSpPr txBox="1"/>
          <p:nvPr/>
        </p:nvSpPr>
        <p:spPr>
          <a:xfrm>
            <a:off x="3634740" y="1783080"/>
            <a:ext cx="2011680" cy="822960"/>
          </a:xfrm>
          <a:prstGeom prst="rect">
            <a:avLst/>
          </a:prstGeom>
          <a:noFill/>
          <a:ln/>
        </p:spPr>
        <p:txBody>
          <a:bodyPr wrap="square" lIns="0" tIns="0" rIns="0" bIns="0" rtlCol="0" anchor="t"/>
          <a:lstStyle/>
          <a:p>
            <a:pPr marL="0" indent="0">
              <a:buNone/>
            </a:pPr>
            <a:r>
              <a:rPr lang="en-US" sz="1300" dirty="0">
                <a:solidFill>
                  <a:srgbClr val="1F2933"/>
                </a:solidFill>
                <a:latin typeface="Arial" pitchFamily="34" charset="0"/>
                <a:ea typeface="Arial" pitchFamily="34" charset="-122"/>
                <a:cs typeface="Arial" pitchFamily="34" charset="-120"/>
              </a:rPr>
              <a:t>The set of changes going into the next commit</a:t>
            </a:r>
            <a:endParaRPr lang="en-US" sz="1300" dirty="0"/>
          </a:p>
        </p:txBody>
      </p:sp>
      <p:sp>
        <p:nvSpPr>
          <p:cNvPr id="10" name="Text 8"/>
          <p:cNvSpPr txBox="1"/>
          <p:nvPr/>
        </p:nvSpPr>
        <p:spPr>
          <a:xfrm>
            <a:off x="3634740" y="2651760"/>
            <a:ext cx="2011680" cy="640080"/>
          </a:xfrm>
          <a:prstGeom prst="rect">
            <a:avLst/>
          </a:prstGeom>
          <a:noFill/>
          <a:ln/>
        </p:spPr>
        <p:txBody>
          <a:bodyPr wrap="square" lIns="0" tIns="0" rIns="0" bIns="0" rtlCol="0" anchor="t"/>
          <a:lstStyle/>
          <a:p>
            <a:pPr marL="0" indent="0">
              <a:buNone/>
            </a:pPr>
            <a:r>
              <a:rPr lang="en-US" sz="1150" i="1" dirty="0">
                <a:solidFill>
                  <a:srgbClr val="5B6573"/>
                </a:solidFill>
                <a:latin typeface="Arial" pitchFamily="34" charset="0"/>
                <a:ea typeface="Arial" pitchFamily="34" charset="-122"/>
                <a:cs typeface="Arial" pitchFamily="34" charset="-120"/>
              </a:rPr>
              <a:t>In Desktop: Checkboxes next to each file</a:t>
            </a:r>
            <a:endParaRPr lang="en-US" sz="1150" dirty="0"/>
          </a:p>
        </p:txBody>
      </p:sp>
      <p:sp>
        <p:nvSpPr>
          <p:cNvPr id="11" name="Shape 9"/>
          <p:cNvSpPr/>
          <p:nvPr/>
        </p:nvSpPr>
        <p:spPr>
          <a:xfrm>
            <a:off x="6446520" y="1188720"/>
            <a:ext cx="2240280" cy="2194560"/>
          </a:xfrm>
          <a:prstGeom prst="roundRect">
            <a:avLst>
              <a:gd name="adj" fmla="val 3333"/>
            </a:avLst>
          </a:prstGeom>
          <a:solidFill>
            <a:srgbClr val="DDF1E6"/>
          </a:solidFill>
          <a:ln w="12700">
            <a:solidFill>
              <a:srgbClr val="DDF1E6"/>
            </a:solidFill>
            <a:prstDash val="solid"/>
          </a:ln>
        </p:spPr>
        <p:txBody>
          <a:bodyPr/>
          <a:lstStyle/>
          <a:p>
            <a:endParaRPr lang="en-US"/>
          </a:p>
        </p:txBody>
      </p:sp>
      <p:sp>
        <p:nvSpPr>
          <p:cNvPr id="12" name="Text 10"/>
          <p:cNvSpPr txBox="1"/>
          <p:nvPr/>
        </p:nvSpPr>
        <p:spPr>
          <a:xfrm>
            <a:off x="6629400" y="1325880"/>
            <a:ext cx="1920240" cy="411480"/>
          </a:xfrm>
          <a:prstGeom prst="rect">
            <a:avLst/>
          </a:prstGeom>
          <a:noFill/>
          <a:ln/>
        </p:spPr>
        <p:txBody>
          <a:bodyPr wrap="square" lIns="0" tIns="0" rIns="0" bIns="0" rtlCol="0" anchor="t"/>
          <a:lstStyle/>
          <a:p>
            <a:pPr marL="0" indent="0">
              <a:buNone/>
            </a:pPr>
            <a:r>
              <a:rPr lang="en-US" sz="1800" b="1" dirty="0">
                <a:solidFill>
                  <a:srgbClr val="2E9E6B"/>
                </a:solidFill>
                <a:latin typeface="Arial" pitchFamily="34" charset="0"/>
                <a:ea typeface="Arial" pitchFamily="34" charset="-122"/>
                <a:cs typeface="Arial" pitchFamily="34" charset="-120"/>
              </a:rPr>
              <a:t>Local history</a:t>
            </a:r>
            <a:endParaRPr lang="en-US" sz="1800" dirty="0"/>
          </a:p>
        </p:txBody>
      </p:sp>
      <p:sp>
        <p:nvSpPr>
          <p:cNvPr id="13" name="Text 11"/>
          <p:cNvSpPr txBox="1"/>
          <p:nvPr/>
        </p:nvSpPr>
        <p:spPr>
          <a:xfrm>
            <a:off x="6629400" y="1783080"/>
            <a:ext cx="2011680" cy="822960"/>
          </a:xfrm>
          <a:prstGeom prst="rect">
            <a:avLst/>
          </a:prstGeom>
          <a:noFill/>
          <a:ln/>
        </p:spPr>
        <p:txBody>
          <a:bodyPr wrap="square" lIns="0" tIns="0" rIns="0" bIns="0" rtlCol="0" anchor="t"/>
          <a:lstStyle/>
          <a:p>
            <a:pPr marL="0" indent="0">
              <a:buNone/>
            </a:pPr>
            <a:r>
              <a:rPr lang="en-US" sz="1300" dirty="0">
                <a:solidFill>
                  <a:srgbClr val="1F2933"/>
                </a:solidFill>
                <a:latin typeface="Arial" pitchFamily="34" charset="0"/>
                <a:ea typeface="Arial" pitchFamily="34" charset="-122"/>
                <a:cs typeface="Arial" pitchFamily="34" charset="-120"/>
              </a:rPr>
              <a:t>Permanent snapshots saved in .git</a:t>
            </a:r>
            <a:endParaRPr lang="en-US" sz="1300" dirty="0"/>
          </a:p>
        </p:txBody>
      </p:sp>
      <p:sp>
        <p:nvSpPr>
          <p:cNvPr id="14" name="Text 12"/>
          <p:cNvSpPr txBox="1"/>
          <p:nvPr/>
        </p:nvSpPr>
        <p:spPr>
          <a:xfrm>
            <a:off x="6629400" y="2651760"/>
            <a:ext cx="2011680" cy="640080"/>
          </a:xfrm>
          <a:prstGeom prst="rect">
            <a:avLst/>
          </a:prstGeom>
          <a:noFill/>
          <a:ln/>
        </p:spPr>
        <p:txBody>
          <a:bodyPr wrap="square" lIns="0" tIns="0" rIns="0" bIns="0" rtlCol="0" anchor="t"/>
          <a:lstStyle/>
          <a:p>
            <a:pPr marL="0" indent="0">
              <a:buNone/>
            </a:pPr>
            <a:r>
              <a:rPr lang="en-US" sz="1150" i="1" dirty="0">
                <a:solidFill>
                  <a:srgbClr val="5B6573"/>
                </a:solidFill>
                <a:latin typeface="Arial" pitchFamily="34" charset="0"/>
                <a:ea typeface="Arial" pitchFamily="34" charset="-122"/>
                <a:cs typeface="Arial" pitchFamily="34" charset="-120"/>
              </a:rPr>
              <a:t>In Desktop: History tab</a:t>
            </a:r>
            <a:endParaRPr lang="en-US" sz="1150" dirty="0"/>
          </a:p>
        </p:txBody>
      </p:sp>
      <p:sp>
        <p:nvSpPr>
          <p:cNvPr id="15" name="Shape 13"/>
          <p:cNvSpPr/>
          <p:nvPr/>
        </p:nvSpPr>
        <p:spPr>
          <a:xfrm>
            <a:off x="2743200" y="2286000"/>
            <a:ext cx="658368" cy="914"/>
          </a:xfrm>
          <a:prstGeom prst="line">
            <a:avLst/>
          </a:prstGeom>
          <a:noFill/>
          <a:ln w="31750">
            <a:solidFill>
              <a:srgbClr val="1B2430"/>
            </a:solidFill>
            <a:prstDash val="solid"/>
            <a:tailEnd type="triangle"/>
          </a:ln>
        </p:spPr>
        <p:txBody>
          <a:bodyPr/>
          <a:lstStyle/>
          <a:p>
            <a:endParaRPr lang="en-US"/>
          </a:p>
        </p:txBody>
      </p:sp>
      <p:sp>
        <p:nvSpPr>
          <p:cNvPr id="16" name="Shape 14"/>
          <p:cNvSpPr/>
          <p:nvPr/>
        </p:nvSpPr>
        <p:spPr>
          <a:xfrm>
            <a:off x="5733288" y="2286000"/>
            <a:ext cx="667512" cy="914"/>
          </a:xfrm>
          <a:prstGeom prst="line">
            <a:avLst/>
          </a:prstGeom>
          <a:noFill/>
          <a:ln w="31750">
            <a:solidFill>
              <a:srgbClr val="1B2430"/>
            </a:solidFill>
            <a:prstDash val="solid"/>
            <a:tailEnd type="triangle"/>
          </a:ln>
        </p:spPr>
        <p:txBody>
          <a:bodyPr/>
          <a:lstStyle/>
          <a:p>
            <a:endParaRPr lang="en-US"/>
          </a:p>
        </p:txBody>
      </p:sp>
      <p:sp>
        <p:nvSpPr>
          <p:cNvPr id="17" name="Text 15"/>
          <p:cNvSpPr txBox="1"/>
          <p:nvPr/>
        </p:nvSpPr>
        <p:spPr>
          <a:xfrm>
            <a:off x="2679192" y="2377440"/>
            <a:ext cx="777240" cy="457200"/>
          </a:xfrm>
          <a:prstGeom prst="rect">
            <a:avLst/>
          </a:prstGeom>
          <a:noFill/>
          <a:ln/>
        </p:spPr>
        <p:txBody>
          <a:bodyPr wrap="square" lIns="0" tIns="0" rIns="0" bIns="0" rtlCol="0" anchor="t"/>
          <a:lstStyle/>
          <a:p>
            <a:pPr marL="0" indent="0" algn="ctr">
              <a:buNone/>
            </a:pPr>
            <a:r>
              <a:rPr lang="en-US" sz="1000" dirty="0">
                <a:solidFill>
                  <a:srgbClr val="5B6573"/>
                </a:solidFill>
                <a:latin typeface="Arial" pitchFamily="34" charset="0"/>
                <a:ea typeface="Arial" pitchFamily="34" charset="-122"/>
                <a:cs typeface="Arial" pitchFamily="34" charset="-120"/>
              </a:rPr>
              <a:t>check the box</a:t>
            </a:r>
            <a:endParaRPr lang="en-US" sz="1000" dirty="0"/>
          </a:p>
        </p:txBody>
      </p:sp>
      <p:sp>
        <p:nvSpPr>
          <p:cNvPr id="18" name="Text 16"/>
          <p:cNvSpPr txBox="1"/>
          <p:nvPr/>
        </p:nvSpPr>
        <p:spPr>
          <a:xfrm>
            <a:off x="5669280" y="2377440"/>
            <a:ext cx="777240" cy="457200"/>
          </a:xfrm>
          <a:prstGeom prst="rect">
            <a:avLst/>
          </a:prstGeom>
          <a:noFill/>
          <a:ln/>
        </p:spPr>
        <p:txBody>
          <a:bodyPr wrap="square" lIns="0" tIns="0" rIns="0" bIns="0" rtlCol="0" anchor="t"/>
          <a:lstStyle/>
          <a:p>
            <a:pPr marL="0" indent="0" algn="ctr">
              <a:buNone/>
            </a:pPr>
            <a:r>
              <a:rPr lang="en-US" sz="1000" dirty="0">
                <a:solidFill>
                  <a:srgbClr val="5B6573"/>
                </a:solidFill>
                <a:latin typeface="Arial" pitchFamily="34" charset="0"/>
                <a:ea typeface="Arial" pitchFamily="34" charset="-122"/>
                <a:cs typeface="Arial" pitchFamily="34" charset="-120"/>
              </a:rPr>
              <a:t>"Commit to main"</a:t>
            </a:r>
            <a:endParaRPr lang="en-US" sz="1000" dirty="0"/>
          </a:p>
        </p:txBody>
      </p:sp>
      <p:sp>
        <p:nvSpPr>
          <p:cNvPr id="19" name="Shape 17"/>
          <p:cNvSpPr/>
          <p:nvPr/>
        </p:nvSpPr>
        <p:spPr>
          <a:xfrm>
            <a:off x="457200" y="3703320"/>
            <a:ext cx="8229600" cy="868680"/>
          </a:xfrm>
          <a:prstGeom prst="roundRect">
            <a:avLst>
              <a:gd name="adj" fmla="val 8421"/>
            </a:avLst>
          </a:prstGeom>
          <a:solidFill>
            <a:srgbClr val="F1F3F5"/>
          </a:solidFill>
          <a:ln w="12700">
            <a:solidFill>
              <a:srgbClr val="F1F3F5"/>
            </a:solidFill>
            <a:prstDash val="solid"/>
          </a:ln>
        </p:spPr>
        <p:txBody>
          <a:bodyPr/>
          <a:lstStyle/>
          <a:p>
            <a:endParaRPr lang="en-US"/>
          </a:p>
        </p:txBody>
      </p:sp>
      <p:sp>
        <p:nvSpPr>
          <p:cNvPr id="20" name="Text 18"/>
          <p:cNvSpPr txBox="1"/>
          <p:nvPr/>
        </p:nvSpPr>
        <p:spPr>
          <a:xfrm>
            <a:off x="685800" y="3794760"/>
            <a:ext cx="7772400" cy="685800"/>
          </a:xfrm>
          <a:prstGeom prst="rect">
            <a:avLst/>
          </a:prstGeom>
          <a:noFill/>
          <a:ln/>
        </p:spPr>
        <p:txBody>
          <a:bodyPr wrap="square" lIns="0" tIns="0" rIns="0" bIns="0" rtlCol="0" anchor="ctr"/>
          <a:lstStyle/>
          <a:p>
            <a:pPr marL="0" indent="0">
              <a:buNone/>
            </a:pPr>
            <a:r>
              <a:rPr lang="en-US" sz="1300" dirty="0">
                <a:solidFill>
                  <a:srgbClr val="1F2933"/>
                </a:solidFill>
                <a:latin typeface="Arial" pitchFamily="34" charset="0"/>
                <a:ea typeface="Arial" pitchFamily="34" charset="-122"/>
                <a:cs typeface="Arial" pitchFamily="34" charset="-120"/>
              </a:rPr>
              <a:t>Why stage? You might change five files but only want to commit three. Staging lets you choose exactly what goes into each snapshot, so every commit is one clean, meaningful change.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What is a commit?</a:t>
            </a:r>
            <a:endParaRPr lang="en-US" sz="3000" dirty="0"/>
          </a:p>
        </p:txBody>
      </p:sp>
      <p:sp>
        <p:nvSpPr>
          <p:cNvPr id="3" name="Shape 1"/>
          <p:cNvSpPr/>
          <p:nvPr/>
        </p:nvSpPr>
        <p:spPr>
          <a:xfrm>
            <a:off x="457200" y="1143000"/>
            <a:ext cx="4023360" cy="3474720"/>
          </a:xfrm>
          <a:prstGeom prst="roundRect">
            <a:avLst>
              <a:gd name="adj" fmla="val 2105"/>
            </a:avLst>
          </a:prstGeom>
          <a:solidFill>
            <a:srgbClr val="F1F3F5"/>
          </a:solidFill>
          <a:ln w="12700">
            <a:solidFill>
              <a:srgbClr val="F1F3F5"/>
            </a:solidFill>
            <a:prstDash val="solid"/>
          </a:ln>
        </p:spPr>
        <p:txBody>
          <a:bodyPr/>
          <a:lstStyle/>
          <a:p>
            <a:endParaRPr lang="en-US"/>
          </a:p>
        </p:txBody>
      </p:sp>
      <p:sp>
        <p:nvSpPr>
          <p:cNvPr id="4" name="Text 2"/>
          <p:cNvSpPr txBox="1"/>
          <p:nvPr/>
        </p:nvSpPr>
        <p:spPr>
          <a:xfrm>
            <a:off x="685800" y="1325880"/>
            <a:ext cx="1097280" cy="411480"/>
          </a:xfrm>
          <a:prstGeom prst="rect">
            <a:avLst/>
          </a:prstGeom>
          <a:noFill/>
          <a:ln/>
        </p:spPr>
        <p:txBody>
          <a:bodyPr wrap="square" lIns="0" tIns="0" rIns="0" bIns="0" rtlCol="0" anchor="ctr"/>
          <a:lstStyle/>
          <a:p>
            <a:pPr marL="0" indent="0">
              <a:buNone/>
            </a:pPr>
            <a:r>
              <a:rPr lang="en-US" sz="1300" b="1" dirty="0">
                <a:solidFill>
                  <a:srgbClr val="5B6573"/>
                </a:solidFill>
                <a:latin typeface="Arial" pitchFamily="34" charset="0"/>
                <a:ea typeface="Arial" pitchFamily="34" charset="-122"/>
                <a:cs typeface="Arial" pitchFamily="34" charset="-120"/>
              </a:rPr>
              <a:t>ID</a:t>
            </a:r>
            <a:endParaRPr lang="en-US" sz="1300" dirty="0"/>
          </a:p>
        </p:txBody>
      </p:sp>
      <p:sp>
        <p:nvSpPr>
          <p:cNvPr id="5" name="Text 3"/>
          <p:cNvSpPr txBox="1"/>
          <p:nvPr/>
        </p:nvSpPr>
        <p:spPr>
          <a:xfrm>
            <a:off x="1783080" y="1325880"/>
            <a:ext cx="2560320" cy="411480"/>
          </a:xfrm>
          <a:prstGeom prst="rect">
            <a:avLst/>
          </a:prstGeom>
          <a:noFill/>
          <a:ln/>
        </p:spPr>
        <p:txBody>
          <a:bodyPr wrap="square" lIns="0" tIns="0" rIns="0" bIns="0" rtlCol="0" anchor="ctr"/>
          <a:lstStyle/>
          <a:p>
            <a:pPr marL="0" indent="0">
              <a:buNone/>
            </a:pPr>
            <a:r>
              <a:rPr lang="en-US" sz="1300" b="1" dirty="0">
                <a:solidFill>
                  <a:srgbClr val="1F2933"/>
                </a:solidFill>
                <a:latin typeface="Courier New" pitchFamily="34" charset="0"/>
                <a:ea typeface="Courier New" pitchFamily="34" charset="-122"/>
                <a:cs typeface="Courier New" pitchFamily="34" charset="-120"/>
              </a:rPr>
              <a:t>a3f9c21</a:t>
            </a:r>
            <a:endParaRPr lang="en-US" sz="1300" dirty="0"/>
          </a:p>
        </p:txBody>
      </p:sp>
      <p:sp>
        <p:nvSpPr>
          <p:cNvPr id="6" name="Text 4"/>
          <p:cNvSpPr txBox="1"/>
          <p:nvPr/>
        </p:nvSpPr>
        <p:spPr>
          <a:xfrm>
            <a:off x="685800" y="1856232"/>
            <a:ext cx="1097280" cy="411480"/>
          </a:xfrm>
          <a:prstGeom prst="rect">
            <a:avLst/>
          </a:prstGeom>
          <a:noFill/>
          <a:ln/>
        </p:spPr>
        <p:txBody>
          <a:bodyPr wrap="square" lIns="0" tIns="0" rIns="0" bIns="0" rtlCol="0" anchor="ctr"/>
          <a:lstStyle/>
          <a:p>
            <a:pPr marL="0" indent="0">
              <a:buNone/>
            </a:pPr>
            <a:r>
              <a:rPr lang="en-US" sz="1300" b="1" dirty="0">
                <a:solidFill>
                  <a:srgbClr val="5B6573"/>
                </a:solidFill>
                <a:latin typeface="Arial" pitchFamily="34" charset="0"/>
                <a:ea typeface="Arial" pitchFamily="34" charset="-122"/>
                <a:cs typeface="Arial" pitchFamily="34" charset="-120"/>
              </a:rPr>
              <a:t>Author</a:t>
            </a:r>
            <a:endParaRPr lang="en-US" sz="1300" dirty="0"/>
          </a:p>
        </p:txBody>
      </p:sp>
      <p:sp>
        <p:nvSpPr>
          <p:cNvPr id="7" name="Text 5"/>
          <p:cNvSpPr txBox="1"/>
          <p:nvPr/>
        </p:nvSpPr>
        <p:spPr>
          <a:xfrm>
            <a:off x="1783080" y="1856232"/>
            <a:ext cx="2560320" cy="411480"/>
          </a:xfrm>
          <a:prstGeom prst="rect">
            <a:avLst/>
          </a:prstGeom>
          <a:noFill/>
          <a:ln/>
        </p:spPr>
        <p:txBody>
          <a:bodyPr wrap="square" lIns="0" tIns="0" rIns="0" bIns="0" rtlCol="0" anchor="ctr"/>
          <a:lstStyle/>
          <a:p>
            <a:pPr marL="0" indent="0">
              <a:buNone/>
            </a:pPr>
            <a:r>
              <a:rPr lang="en-US" sz="1300" dirty="0">
                <a:solidFill>
                  <a:srgbClr val="1F2933"/>
                </a:solidFill>
                <a:latin typeface="Arial" pitchFamily="34" charset="0"/>
                <a:ea typeface="Arial" pitchFamily="34" charset="-122"/>
                <a:cs typeface="Arial" pitchFamily="34" charset="-120"/>
              </a:rPr>
              <a:t>Alex</a:t>
            </a:r>
            <a:endParaRPr lang="en-US" sz="1300" dirty="0"/>
          </a:p>
        </p:txBody>
      </p:sp>
      <p:sp>
        <p:nvSpPr>
          <p:cNvPr id="8" name="Text 6"/>
          <p:cNvSpPr txBox="1"/>
          <p:nvPr/>
        </p:nvSpPr>
        <p:spPr>
          <a:xfrm>
            <a:off x="685800" y="2386584"/>
            <a:ext cx="1097280" cy="411480"/>
          </a:xfrm>
          <a:prstGeom prst="rect">
            <a:avLst/>
          </a:prstGeom>
          <a:noFill/>
          <a:ln/>
        </p:spPr>
        <p:txBody>
          <a:bodyPr wrap="square" lIns="0" tIns="0" rIns="0" bIns="0" rtlCol="0" anchor="ctr"/>
          <a:lstStyle/>
          <a:p>
            <a:pPr marL="0" indent="0">
              <a:buNone/>
            </a:pPr>
            <a:r>
              <a:rPr lang="en-US" sz="1300" b="1" dirty="0">
                <a:solidFill>
                  <a:srgbClr val="5B6573"/>
                </a:solidFill>
                <a:latin typeface="Arial" pitchFamily="34" charset="0"/>
                <a:ea typeface="Arial" pitchFamily="34" charset="-122"/>
                <a:cs typeface="Arial" pitchFamily="34" charset="-120"/>
              </a:rPr>
              <a:t>Date</a:t>
            </a:r>
            <a:endParaRPr lang="en-US" sz="1300" dirty="0"/>
          </a:p>
        </p:txBody>
      </p:sp>
      <p:sp>
        <p:nvSpPr>
          <p:cNvPr id="9" name="Text 7"/>
          <p:cNvSpPr txBox="1"/>
          <p:nvPr/>
        </p:nvSpPr>
        <p:spPr>
          <a:xfrm>
            <a:off x="1783080" y="2386584"/>
            <a:ext cx="2560320" cy="411480"/>
          </a:xfrm>
          <a:prstGeom prst="rect">
            <a:avLst/>
          </a:prstGeom>
          <a:noFill/>
          <a:ln/>
        </p:spPr>
        <p:txBody>
          <a:bodyPr wrap="square" lIns="0" tIns="0" rIns="0" bIns="0" rtlCol="0" anchor="ctr"/>
          <a:lstStyle/>
          <a:p>
            <a:pPr marL="0" indent="0">
              <a:buNone/>
            </a:pPr>
            <a:r>
              <a:rPr lang="en-US" sz="1300" dirty="0">
                <a:solidFill>
                  <a:srgbClr val="1F2933"/>
                </a:solidFill>
                <a:latin typeface="Arial" pitchFamily="34" charset="0"/>
                <a:ea typeface="Arial" pitchFamily="34" charset="-122"/>
                <a:cs typeface="Arial" pitchFamily="34" charset="-120"/>
              </a:rPr>
              <a:t>Oct 2, 4:15 PM</a:t>
            </a:r>
            <a:endParaRPr lang="en-US" sz="1300" dirty="0"/>
          </a:p>
        </p:txBody>
      </p:sp>
      <p:sp>
        <p:nvSpPr>
          <p:cNvPr id="10" name="Text 8"/>
          <p:cNvSpPr txBox="1"/>
          <p:nvPr/>
        </p:nvSpPr>
        <p:spPr>
          <a:xfrm>
            <a:off x="685800" y="2916936"/>
            <a:ext cx="1097280" cy="411480"/>
          </a:xfrm>
          <a:prstGeom prst="rect">
            <a:avLst/>
          </a:prstGeom>
          <a:noFill/>
          <a:ln/>
        </p:spPr>
        <p:txBody>
          <a:bodyPr wrap="square" lIns="0" tIns="0" rIns="0" bIns="0" rtlCol="0" anchor="ctr"/>
          <a:lstStyle/>
          <a:p>
            <a:pPr marL="0" indent="0">
              <a:buNone/>
            </a:pPr>
            <a:r>
              <a:rPr lang="en-US" sz="1300" b="1" dirty="0">
                <a:solidFill>
                  <a:srgbClr val="5B6573"/>
                </a:solidFill>
                <a:latin typeface="Arial" pitchFamily="34" charset="0"/>
                <a:ea typeface="Arial" pitchFamily="34" charset="-122"/>
                <a:cs typeface="Arial" pitchFamily="34" charset="-120"/>
              </a:rPr>
              <a:t>Message</a:t>
            </a:r>
            <a:endParaRPr lang="en-US" sz="1300" dirty="0"/>
          </a:p>
        </p:txBody>
      </p:sp>
      <p:sp>
        <p:nvSpPr>
          <p:cNvPr id="11" name="Text 9"/>
          <p:cNvSpPr txBox="1"/>
          <p:nvPr/>
        </p:nvSpPr>
        <p:spPr>
          <a:xfrm>
            <a:off x="1783080" y="2916936"/>
            <a:ext cx="2560320" cy="411480"/>
          </a:xfrm>
          <a:prstGeom prst="rect">
            <a:avLst/>
          </a:prstGeom>
          <a:noFill/>
          <a:ln/>
        </p:spPr>
        <p:txBody>
          <a:bodyPr wrap="square" lIns="0" tIns="0" rIns="0" bIns="0" rtlCol="0" anchor="ctr"/>
          <a:lstStyle/>
          <a:p>
            <a:pPr marL="0" indent="0">
              <a:buNone/>
            </a:pPr>
            <a:r>
              <a:rPr lang="en-US" sz="1300" dirty="0">
                <a:solidFill>
                  <a:srgbClr val="1F2933"/>
                </a:solidFill>
                <a:latin typeface="Arial" pitchFamily="34" charset="0"/>
                <a:ea typeface="Arial" pitchFamily="34" charset="-122"/>
                <a:cs typeface="Arial" pitchFamily="34" charset="-120"/>
              </a:rPr>
              <a:t>Lower CVT PID Kp to 1.4</a:t>
            </a:r>
            <a:endParaRPr lang="en-US" sz="1300" dirty="0"/>
          </a:p>
        </p:txBody>
      </p:sp>
      <p:sp>
        <p:nvSpPr>
          <p:cNvPr id="12" name="Text 10"/>
          <p:cNvSpPr txBox="1"/>
          <p:nvPr/>
        </p:nvSpPr>
        <p:spPr>
          <a:xfrm>
            <a:off x="685800" y="3447288"/>
            <a:ext cx="1097280" cy="411480"/>
          </a:xfrm>
          <a:prstGeom prst="rect">
            <a:avLst/>
          </a:prstGeom>
          <a:noFill/>
          <a:ln/>
        </p:spPr>
        <p:txBody>
          <a:bodyPr wrap="square" lIns="0" tIns="0" rIns="0" bIns="0" rtlCol="0" anchor="ctr"/>
          <a:lstStyle/>
          <a:p>
            <a:pPr marL="0" indent="0">
              <a:buNone/>
            </a:pPr>
            <a:r>
              <a:rPr lang="en-US" sz="1300" b="1" dirty="0">
                <a:solidFill>
                  <a:srgbClr val="5B6573"/>
                </a:solidFill>
                <a:latin typeface="Arial" pitchFamily="34" charset="0"/>
                <a:ea typeface="Arial" pitchFamily="34" charset="-122"/>
                <a:cs typeface="Arial" pitchFamily="34" charset="-120"/>
              </a:rPr>
              <a:t>Parent</a:t>
            </a:r>
            <a:endParaRPr lang="en-US" sz="1300" dirty="0"/>
          </a:p>
        </p:txBody>
      </p:sp>
      <p:sp>
        <p:nvSpPr>
          <p:cNvPr id="13" name="Text 11"/>
          <p:cNvSpPr txBox="1"/>
          <p:nvPr/>
        </p:nvSpPr>
        <p:spPr>
          <a:xfrm>
            <a:off x="1783080" y="3447288"/>
            <a:ext cx="2560320" cy="411480"/>
          </a:xfrm>
          <a:prstGeom prst="rect">
            <a:avLst/>
          </a:prstGeom>
          <a:noFill/>
          <a:ln/>
        </p:spPr>
        <p:txBody>
          <a:bodyPr wrap="square" lIns="0" tIns="0" rIns="0" bIns="0" rtlCol="0" anchor="ctr"/>
          <a:lstStyle/>
          <a:p>
            <a:pPr marL="0" indent="0">
              <a:buNone/>
            </a:pPr>
            <a:r>
              <a:rPr lang="en-US" sz="1300" dirty="0">
                <a:solidFill>
                  <a:srgbClr val="F2711C"/>
                </a:solidFill>
                <a:latin typeface="Courier New" pitchFamily="34" charset="0"/>
                <a:ea typeface="Courier New" pitchFamily="34" charset="-122"/>
                <a:cs typeface="Courier New" pitchFamily="34" charset="-120"/>
              </a:rPr>
              <a:t>7b2e104</a:t>
            </a:r>
            <a:endParaRPr lang="en-US" sz="1300" dirty="0"/>
          </a:p>
        </p:txBody>
      </p:sp>
      <p:sp>
        <p:nvSpPr>
          <p:cNvPr id="14" name="Text 12"/>
          <p:cNvSpPr txBox="1"/>
          <p:nvPr/>
        </p:nvSpPr>
        <p:spPr>
          <a:xfrm>
            <a:off x="685800" y="3977640"/>
            <a:ext cx="1097280" cy="411480"/>
          </a:xfrm>
          <a:prstGeom prst="rect">
            <a:avLst/>
          </a:prstGeom>
          <a:noFill/>
          <a:ln/>
        </p:spPr>
        <p:txBody>
          <a:bodyPr wrap="square" lIns="0" tIns="0" rIns="0" bIns="0" rtlCol="0" anchor="ctr"/>
          <a:lstStyle/>
          <a:p>
            <a:pPr marL="0" indent="0">
              <a:buNone/>
            </a:pPr>
            <a:r>
              <a:rPr lang="en-US" sz="1300" b="1" dirty="0">
                <a:solidFill>
                  <a:srgbClr val="5B6573"/>
                </a:solidFill>
                <a:latin typeface="Arial" pitchFamily="34" charset="0"/>
                <a:ea typeface="Arial" pitchFamily="34" charset="-122"/>
                <a:cs typeface="Arial" pitchFamily="34" charset="-120"/>
              </a:rPr>
              <a:t>Snapshot</a:t>
            </a:r>
            <a:endParaRPr lang="en-US" sz="1300" dirty="0"/>
          </a:p>
        </p:txBody>
      </p:sp>
      <p:sp>
        <p:nvSpPr>
          <p:cNvPr id="15" name="Text 13"/>
          <p:cNvSpPr txBox="1"/>
          <p:nvPr/>
        </p:nvSpPr>
        <p:spPr>
          <a:xfrm>
            <a:off x="1783080" y="3977640"/>
            <a:ext cx="2560320" cy="411480"/>
          </a:xfrm>
          <a:prstGeom prst="rect">
            <a:avLst/>
          </a:prstGeom>
          <a:noFill/>
          <a:ln/>
        </p:spPr>
        <p:txBody>
          <a:bodyPr wrap="square" lIns="0" tIns="0" rIns="0" bIns="0" rtlCol="0" anchor="ctr"/>
          <a:lstStyle/>
          <a:p>
            <a:pPr marL="0" indent="0">
              <a:buNone/>
            </a:pPr>
            <a:r>
              <a:rPr lang="en-US" sz="1300" dirty="0">
                <a:solidFill>
                  <a:srgbClr val="1F2933"/>
                </a:solidFill>
                <a:latin typeface="Arial" pitchFamily="34" charset="0"/>
                <a:ea typeface="Arial" pitchFamily="34" charset="-122"/>
                <a:cs typeface="Arial" pitchFamily="34" charset="-120"/>
              </a:rPr>
              <a:t>every file in the repo</a:t>
            </a:r>
            <a:endParaRPr lang="en-US" sz="1300" dirty="0"/>
          </a:p>
        </p:txBody>
      </p:sp>
      <p:sp>
        <p:nvSpPr>
          <p:cNvPr id="16" name="Text 14"/>
          <p:cNvSpPr txBox="1"/>
          <p:nvPr/>
        </p:nvSpPr>
        <p:spPr>
          <a:xfrm>
            <a:off x="4846320" y="1188720"/>
            <a:ext cx="3840480" cy="731520"/>
          </a:xfrm>
          <a:prstGeom prst="rect">
            <a:avLst/>
          </a:prstGeom>
          <a:noFill/>
          <a:ln/>
        </p:spPr>
        <p:txBody>
          <a:bodyPr wrap="square" lIns="0" tIns="0" rIns="0" bIns="0" rtlCol="0" anchor="t"/>
          <a:lstStyle/>
          <a:p>
            <a:pPr marL="0" indent="0">
              <a:buNone/>
            </a:pPr>
            <a:r>
              <a:rPr lang="en-US" sz="1700" b="1" dirty="0">
                <a:solidFill>
                  <a:srgbClr val="1F2933"/>
                </a:solidFill>
                <a:latin typeface="Arial" pitchFamily="34" charset="0"/>
                <a:ea typeface="Arial" pitchFamily="34" charset="-122"/>
                <a:cs typeface="Arial" pitchFamily="34" charset="-120"/>
              </a:rPr>
              <a:t>A commit is a saved snapshot of the whole project at one moment.</a:t>
            </a:r>
            <a:endParaRPr lang="en-US" sz="1700" dirty="0"/>
          </a:p>
        </p:txBody>
      </p:sp>
      <p:sp>
        <p:nvSpPr>
          <p:cNvPr id="17" name="Text 15"/>
          <p:cNvSpPr txBox="1"/>
          <p:nvPr/>
        </p:nvSpPr>
        <p:spPr>
          <a:xfrm>
            <a:off x="4846320" y="2011680"/>
            <a:ext cx="3840480" cy="685800"/>
          </a:xfrm>
          <a:prstGeom prst="rect">
            <a:avLst/>
          </a:prstGeom>
          <a:noFill/>
          <a:ln/>
        </p:spPr>
        <p:txBody>
          <a:bodyPr wrap="square" lIns="0" tIns="0" rIns="0" bIns="0" rtlCol="0" anchor="t"/>
          <a:lstStyle/>
          <a:p>
            <a:pPr marL="0" indent="0">
              <a:buNone/>
            </a:pPr>
            <a:r>
              <a:rPr lang="en-US" sz="1350" dirty="0">
                <a:solidFill>
                  <a:srgbClr val="5B6573"/>
                </a:solidFill>
                <a:latin typeface="Arial" pitchFamily="34" charset="0"/>
                <a:ea typeface="Arial" pitchFamily="34" charset="-122"/>
                <a:cs typeface="Arial" pitchFamily="34" charset="-120"/>
              </a:rPr>
              <a:t>The ID is a unique fingerprint calculated from the contents, so history can't be quietly altered.</a:t>
            </a:r>
            <a:endParaRPr lang="en-US" sz="1350" dirty="0"/>
          </a:p>
        </p:txBody>
      </p:sp>
      <p:sp>
        <p:nvSpPr>
          <p:cNvPr id="18" name="Text 16"/>
          <p:cNvSpPr txBox="1"/>
          <p:nvPr/>
        </p:nvSpPr>
        <p:spPr>
          <a:xfrm>
            <a:off x="4846320" y="2743200"/>
            <a:ext cx="3840480" cy="777240"/>
          </a:xfrm>
          <a:prstGeom prst="rect">
            <a:avLst/>
          </a:prstGeom>
          <a:noFill/>
          <a:ln/>
        </p:spPr>
        <p:txBody>
          <a:bodyPr wrap="square" lIns="0" tIns="0" rIns="0" bIns="0" rtlCol="0" anchor="t"/>
          <a:lstStyle/>
          <a:p>
            <a:pPr marL="0" indent="0">
              <a:buNone/>
            </a:pPr>
            <a:r>
              <a:rPr lang="en-US" sz="1350" dirty="0">
                <a:solidFill>
                  <a:srgbClr val="5B6573"/>
                </a:solidFill>
                <a:latin typeface="Arial" pitchFamily="34" charset="0"/>
                <a:ea typeface="Arial" pitchFamily="34" charset="-122"/>
                <a:cs typeface="Arial" pitchFamily="34" charset="-120"/>
              </a:rPr>
              <a:t>The Parent link points to the commit before it. Following those links backward is how Git rebuilds the full history.</a:t>
            </a:r>
            <a:endParaRPr lang="en-US" sz="1350" dirty="0"/>
          </a:p>
        </p:txBody>
      </p:sp>
      <p:sp>
        <p:nvSpPr>
          <p:cNvPr id="19" name="Text 17"/>
          <p:cNvSpPr txBox="1"/>
          <p:nvPr/>
        </p:nvSpPr>
        <p:spPr>
          <a:xfrm>
            <a:off x="4846320" y="3611880"/>
            <a:ext cx="3840480" cy="685800"/>
          </a:xfrm>
          <a:prstGeom prst="rect">
            <a:avLst/>
          </a:prstGeom>
          <a:noFill/>
          <a:ln/>
        </p:spPr>
        <p:txBody>
          <a:bodyPr wrap="square" lIns="0" tIns="0" rIns="0" bIns="0" rtlCol="0" anchor="t"/>
          <a:lstStyle/>
          <a:p>
            <a:pPr marL="0" indent="0">
              <a:buNone/>
            </a:pPr>
            <a:r>
              <a:rPr lang="en-US" sz="1350" dirty="0">
                <a:solidFill>
                  <a:srgbClr val="5B6573"/>
                </a:solidFill>
                <a:latin typeface="Arial" pitchFamily="34" charset="0"/>
                <a:ea typeface="Arial" pitchFamily="34" charset="-122"/>
                <a:cs typeface="Arial" pitchFamily="34" charset="-120"/>
              </a:rPr>
              <a:t>Unchanged files aren't copied again, so thousands of commits stay small.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History is a chain of snapshots</a:t>
            </a:r>
            <a:endParaRPr lang="en-US" sz="3000" dirty="0"/>
          </a:p>
        </p:txBody>
      </p:sp>
      <p:sp>
        <p:nvSpPr>
          <p:cNvPr id="3" name="Shape 1"/>
          <p:cNvSpPr/>
          <p:nvPr/>
        </p:nvSpPr>
        <p:spPr>
          <a:xfrm>
            <a:off x="914400" y="2377440"/>
            <a:ext cx="7223760" cy="914"/>
          </a:xfrm>
          <a:prstGeom prst="line">
            <a:avLst/>
          </a:prstGeom>
          <a:noFill/>
          <a:ln w="50800">
            <a:solidFill>
              <a:srgbClr val="D5DAE0"/>
            </a:solidFill>
            <a:prstDash val="solid"/>
          </a:ln>
        </p:spPr>
        <p:txBody>
          <a:bodyPr/>
          <a:lstStyle/>
          <a:p>
            <a:endParaRPr lang="en-US"/>
          </a:p>
        </p:txBody>
      </p:sp>
      <p:sp>
        <p:nvSpPr>
          <p:cNvPr id="4" name="Shape 2"/>
          <p:cNvSpPr/>
          <p:nvPr/>
        </p:nvSpPr>
        <p:spPr>
          <a:xfrm>
            <a:off x="713232" y="2176272"/>
            <a:ext cx="402336" cy="402336"/>
          </a:xfrm>
          <a:prstGeom prst="ellipse">
            <a:avLst/>
          </a:prstGeom>
          <a:solidFill>
            <a:srgbClr val="2E9E6B"/>
          </a:solidFill>
          <a:ln w="19050">
            <a:solidFill>
              <a:srgbClr val="2E9E6B"/>
            </a:solidFill>
            <a:prstDash val="solid"/>
          </a:ln>
        </p:spPr>
        <p:txBody>
          <a:bodyPr/>
          <a:lstStyle/>
          <a:p>
            <a:endParaRPr lang="en-US"/>
          </a:p>
        </p:txBody>
      </p:sp>
      <p:sp>
        <p:nvSpPr>
          <p:cNvPr id="5" name="Text 3"/>
          <p:cNvSpPr txBox="1"/>
          <p:nvPr/>
        </p:nvSpPr>
        <p:spPr>
          <a:xfrm>
            <a:off x="137160" y="2743200"/>
            <a:ext cx="1554480" cy="594360"/>
          </a:xfrm>
          <a:prstGeom prst="rect">
            <a:avLst/>
          </a:prstGeom>
          <a:noFill/>
          <a:ln/>
        </p:spPr>
        <p:txBody>
          <a:bodyPr wrap="square" lIns="0" tIns="0" rIns="0" bIns="0" rtlCol="0" anchor="t"/>
          <a:lstStyle/>
          <a:p>
            <a:pPr marL="0" indent="0" algn="ctr">
              <a:buNone/>
            </a:pPr>
            <a:r>
              <a:rPr lang="en-US" sz="1200" dirty="0">
                <a:solidFill>
                  <a:srgbClr val="1F2933"/>
                </a:solidFill>
                <a:latin typeface="Arial" pitchFamily="34" charset="0"/>
                <a:ea typeface="Arial" pitchFamily="34" charset="-122"/>
                <a:cs typeface="Arial" pitchFamily="34" charset="-120"/>
              </a:rPr>
              <a:t>Add throttle sensor code</a:t>
            </a:r>
            <a:endParaRPr lang="en-US" sz="1200" dirty="0"/>
          </a:p>
        </p:txBody>
      </p:sp>
      <p:sp>
        <p:nvSpPr>
          <p:cNvPr id="6" name="Shape 4"/>
          <p:cNvSpPr/>
          <p:nvPr/>
        </p:nvSpPr>
        <p:spPr>
          <a:xfrm>
            <a:off x="2496312" y="2176272"/>
            <a:ext cx="402336" cy="402336"/>
          </a:xfrm>
          <a:prstGeom prst="ellipse">
            <a:avLst/>
          </a:prstGeom>
          <a:solidFill>
            <a:srgbClr val="2E9E6B"/>
          </a:solidFill>
          <a:ln w="19050">
            <a:solidFill>
              <a:srgbClr val="2E9E6B"/>
            </a:solidFill>
            <a:prstDash val="solid"/>
          </a:ln>
        </p:spPr>
        <p:txBody>
          <a:bodyPr/>
          <a:lstStyle/>
          <a:p>
            <a:endParaRPr lang="en-US"/>
          </a:p>
        </p:txBody>
      </p:sp>
      <p:sp>
        <p:nvSpPr>
          <p:cNvPr id="7" name="Text 5"/>
          <p:cNvSpPr txBox="1"/>
          <p:nvPr/>
        </p:nvSpPr>
        <p:spPr>
          <a:xfrm>
            <a:off x="1920240" y="1417320"/>
            <a:ext cx="1554480" cy="594360"/>
          </a:xfrm>
          <a:prstGeom prst="rect">
            <a:avLst/>
          </a:prstGeom>
          <a:noFill/>
          <a:ln/>
        </p:spPr>
        <p:txBody>
          <a:bodyPr wrap="square" lIns="0" tIns="0" rIns="0" bIns="0" rtlCol="0" anchor="b"/>
          <a:lstStyle/>
          <a:p>
            <a:pPr marL="0" indent="0" algn="ctr">
              <a:buNone/>
            </a:pPr>
            <a:r>
              <a:rPr lang="en-US" sz="1200" dirty="0">
                <a:solidFill>
                  <a:srgbClr val="1F2933"/>
                </a:solidFill>
                <a:latin typeface="Arial" pitchFamily="34" charset="0"/>
                <a:ea typeface="Arial" pitchFamily="34" charset="-122"/>
                <a:cs typeface="Arial" pitchFamily="34" charset="-120"/>
              </a:rPr>
              <a:t>Add wiring diagram</a:t>
            </a:r>
            <a:endParaRPr lang="en-US" sz="1200" dirty="0"/>
          </a:p>
        </p:txBody>
      </p:sp>
      <p:sp>
        <p:nvSpPr>
          <p:cNvPr id="8" name="Shape 6"/>
          <p:cNvSpPr/>
          <p:nvPr/>
        </p:nvSpPr>
        <p:spPr>
          <a:xfrm>
            <a:off x="4279392" y="2176272"/>
            <a:ext cx="402336" cy="402336"/>
          </a:xfrm>
          <a:prstGeom prst="ellipse">
            <a:avLst/>
          </a:prstGeom>
          <a:solidFill>
            <a:srgbClr val="2E9E6B"/>
          </a:solidFill>
          <a:ln w="19050">
            <a:solidFill>
              <a:srgbClr val="2E9E6B"/>
            </a:solidFill>
            <a:prstDash val="solid"/>
          </a:ln>
        </p:spPr>
        <p:txBody>
          <a:bodyPr/>
          <a:lstStyle/>
          <a:p>
            <a:endParaRPr lang="en-US"/>
          </a:p>
        </p:txBody>
      </p:sp>
      <p:sp>
        <p:nvSpPr>
          <p:cNvPr id="9" name="Text 7"/>
          <p:cNvSpPr txBox="1"/>
          <p:nvPr/>
        </p:nvSpPr>
        <p:spPr>
          <a:xfrm>
            <a:off x="3703320" y="2743200"/>
            <a:ext cx="1554480" cy="594360"/>
          </a:xfrm>
          <a:prstGeom prst="rect">
            <a:avLst/>
          </a:prstGeom>
          <a:noFill/>
          <a:ln/>
        </p:spPr>
        <p:txBody>
          <a:bodyPr wrap="square" lIns="0" tIns="0" rIns="0" bIns="0" rtlCol="0" anchor="t"/>
          <a:lstStyle/>
          <a:p>
            <a:pPr marL="0" indent="0" algn="ctr">
              <a:buNone/>
            </a:pPr>
            <a:r>
              <a:rPr lang="en-US" sz="1200" dirty="0">
                <a:solidFill>
                  <a:srgbClr val="1F2933"/>
                </a:solidFill>
                <a:latin typeface="Arial" pitchFamily="34" charset="0"/>
                <a:ea typeface="Arial" pitchFamily="34" charset="-122"/>
                <a:cs typeface="Arial" pitchFamily="34" charset="-120"/>
              </a:rPr>
              <a:t>Tune CVT PID gains</a:t>
            </a:r>
            <a:endParaRPr lang="en-US" sz="1200" dirty="0"/>
          </a:p>
        </p:txBody>
      </p:sp>
      <p:sp>
        <p:nvSpPr>
          <p:cNvPr id="10" name="Shape 8"/>
          <p:cNvSpPr/>
          <p:nvPr/>
        </p:nvSpPr>
        <p:spPr>
          <a:xfrm>
            <a:off x="6062472" y="2176272"/>
            <a:ext cx="402336" cy="402336"/>
          </a:xfrm>
          <a:prstGeom prst="ellipse">
            <a:avLst/>
          </a:prstGeom>
          <a:solidFill>
            <a:srgbClr val="2E9E6B"/>
          </a:solidFill>
          <a:ln w="19050">
            <a:solidFill>
              <a:srgbClr val="2E9E6B"/>
            </a:solidFill>
            <a:prstDash val="solid"/>
          </a:ln>
        </p:spPr>
        <p:txBody>
          <a:bodyPr/>
          <a:lstStyle/>
          <a:p>
            <a:endParaRPr lang="en-US"/>
          </a:p>
        </p:txBody>
      </p:sp>
      <p:sp>
        <p:nvSpPr>
          <p:cNvPr id="11" name="Text 9"/>
          <p:cNvSpPr txBox="1"/>
          <p:nvPr/>
        </p:nvSpPr>
        <p:spPr>
          <a:xfrm>
            <a:off x="5486400" y="1417320"/>
            <a:ext cx="1554480" cy="594360"/>
          </a:xfrm>
          <a:prstGeom prst="rect">
            <a:avLst/>
          </a:prstGeom>
          <a:noFill/>
          <a:ln/>
        </p:spPr>
        <p:txBody>
          <a:bodyPr wrap="square" lIns="0" tIns="0" rIns="0" bIns="0" rtlCol="0" anchor="b"/>
          <a:lstStyle/>
          <a:p>
            <a:pPr marL="0" indent="0" algn="ctr">
              <a:buNone/>
            </a:pPr>
            <a:r>
              <a:rPr lang="en-US" sz="1200" dirty="0">
                <a:solidFill>
                  <a:srgbClr val="1F2933"/>
                </a:solidFill>
                <a:latin typeface="Arial" pitchFamily="34" charset="0"/>
                <a:ea typeface="Arial" pitchFamily="34" charset="-122"/>
                <a:cs typeface="Arial" pitchFamily="34" charset="-120"/>
              </a:rPr>
              <a:t>Fix brake light logic</a:t>
            </a:r>
            <a:endParaRPr lang="en-US" sz="1200" dirty="0"/>
          </a:p>
        </p:txBody>
      </p:sp>
      <p:sp>
        <p:nvSpPr>
          <p:cNvPr id="12" name="Shape 10"/>
          <p:cNvSpPr/>
          <p:nvPr/>
        </p:nvSpPr>
        <p:spPr>
          <a:xfrm>
            <a:off x="7845552" y="2176272"/>
            <a:ext cx="402336" cy="402336"/>
          </a:xfrm>
          <a:prstGeom prst="ellipse">
            <a:avLst/>
          </a:prstGeom>
          <a:solidFill>
            <a:srgbClr val="F2711C"/>
          </a:solidFill>
          <a:ln w="19050">
            <a:solidFill>
              <a:srgbClr val="F2711C"/>
            </a:solidFill>
            <a:prstDash val="solid"/>
          </a:ln>
        </p:spPr>
        <p:txBody>
          <a:bodyPr/>
          <a:lstStyle/>
          <a:p>
            <a:endParaRPr lang="en-US"/>
          </a:p>
        </p:txBody>
      </p:sp>
      <p:sp>
        <p:nvSpPr>
          <p:cNvPr id="13" name="Text 11"/>
          <p:cNvSpPr txBox="1"/>
          <p:nvPr/>
        </p:nvSpPr>
        <p:spPr>
          <a:xfrm>
            <a:off x="7269480" y="2743200"/>
            <a:ext cx="1554480" cy="594360"/>
          </a:xfrm>
          <a:prstGeom prst="rect">
            <a:avLst/>
          </a:prstGeom>
          <a:noFill/>
          <a:ln/>
        </p:spPr>
        <p:txBody>
          <a:bodyPr wrap="square" lIns="0" tIns="0" rIns="0" bIns="0" rtlCol="0" anchor="t"/>
          <a:lstStyle/>
          <a:p>
            <a:pPr marL="0" indent="0" algn="ctr">
              <a:buNone/>
            </a:pPr>
            <a:r>
              <a:rPr lang="en-US" sz="1200" dirty="0">
                <a:solidFill>
                  <a:srgbClr val="1F2933"/>
                </a:solidFill>
                <a:latin typeface="Arial" pitchFamily="34" charset="0"/>
                <a:ea typeface="Arial" pitchFamily="34" charset="-122"/>
                <a:cs typeface="Arial" pitchFamily="34" charset="-120"/>
              </a:rPr>
              <a:t>Update sensor mount CAD</a:t>
            </a:r>
            <a:endParaRPr lang="en-US" sz="1200" dirty="0"/>
          </a:p>
        </p:txBody>
      </p:sp>
      <p:sp>
        <p:nvSpPr>
          <p:cNvPr id="14" name="Shape 12"/>
          <p:cNvSpPr/>
          <p:nvPr/>
        </p:nvSpPr>
        <p:spPr>
          <a:xfrm>
            <a:off x="7635240" y="1097280"/>
            <a:ext cx="1005840" cy="384048"/>
          </a:xfrm>
          <a:prstGeom prst="roundRect">
            <a:avLst>
              <a:gd name="adj" fmla="val 19048"/>
            </a:avLst>
          </a:prstGeom>
          <a:solidFill>
            <a:srgbClr val="1B2430"/>
          </a:solidFill>
          <a:ln w="12700">
            <a:solidFill>
              <a:srgbClr val="1B2430"/>
            </a:solidFill>
            <a:prstDash val="solid"/>
          </a:ln>
        </p:spPr>
        <p:txBody>
          <a:bodyPr/>
          <a:lstStyle/>
          <a:p>
            <a:endParaRPr lang="en-US"/>
          </a:p>
        </p:txBody>
      </p:sp>
      <p:sp>
        <p:nvSpPr>
          <p:cNvPr id="15" name="Text 13"/>
          <p:cNvSpPr txBox="1"/>
          <p:nvPr/>
        </p:nvSpPr>
        <p:spPr>
          <a:xfrm>
            <a:off x="7635240" y="1097280"/>
            <a:ext cx="10058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main</a:t>
            </a:r>
            <a:endParaRPr lang="en-US" sz="1300" dirty="0"/>
          </a:p>
        </p:txBody>
      </p:sp>
      <p:sp>
        <p:nvSpPr>
          <p:cNvPr id="16" name="Shape 14"/>
          <p:cNvSpPr/>
          <p:nvPr/>
        </p:nvSpPr>
        <p:spPr>
          <a:xfrm>
            <a:off x="8138160" y="1481328"/>
            <a:ext cx="914" cy="621792"/>
          </a:xfrm>
          <a:prstGeom prst="line">
            <a:avLst/>
          </a:prstGeom>
          <a:noFill/>
          <a:ln w="25400">
            <a:solidFill>
              <a:srgbClr val="1B2430"/>
            </a:solidFill>
            <a:prstDash val="solid"/>
            <a:tailEnd type="triangle"/>
          </a:ln>
        </p:spPr>
        <p:txBody>
          <a:bodyPr/>
          <a:lstStyle/>
          <a:p>
            <a:endParaRPr lang="en-US"/>
          </a:p>
        </p:txBody>
      </p:sp>
      <p:sp>
        <p:nvSpPr>
          <p:cNvPr id="17" name="Text 15"/>
          <p:cNvSpPr txBox="1"/>
          <p:nvPr/>
        </p:nvSpPr>
        <p:spPr>
          <a:xfrm>
            <a:off x="457200" y="3291840"/>
            <a:ext cx="1097280" cy="274320"/>
          </a:xfrm>
          <a:prstGeom prst="rect">
            <a:avLst/>
          </a:prstGeom>
          <a:noFill/>
          <a:ln/>
        </p:spPr>
        <p:txBody>
          <a:bodyPr wrap="square" lIns="0" tIns="0" rIns="0" bIns="0" rtlCol="0" anchor="t"/>
          <a:lstStyle/>
          <a:p>
            <a:pPr marL="0" indent="0">
              <a:buNone/>
            </a:pPr>
            <a:r>
              <a:rPr lang="en-US" sz="1100" dirty="0">
                <a:solidFill>
                  <a:srgbClr val="5B6573"/>
                </a:solidFill>
                <a:latin typeface="Arial" pitchFamily="34" charset="0"/>
                <a:ea typeface="Arial" pitchFamily="34" charset="-122"/>
                <a:cs typeface="Arial" pitchFamily="34" charset="-120"/>
              </a:rPr>
              <a:t>oldest</a:t>
            </a:r>
            <a:endParaRPr lang="en-US" sz="1100" dirty="0"/>
          </a:p>
        </p:txBody>
      </p:sp>
      <p:sp>
        <p:nvSpPr>
          <p:cNvPr id="18" name="Text 16"/>
          <p:cNvSpPr txBox="1"/>
          <p:nvPr/>
        </p:nvSpPr>
        <p:spPr>
          <a:xfrm>
            <a:off x="7680960" y="3291840"/>
            <a:ext cx="1005840" cy="274320"/>
          </a:xfrm>
          <a:prstGeom prst="rect">
            <a:avLst/>
          </a:prstGeom>
          <a:noFill/>
          <a:ln/>
        </p:spPr>
        <p:txBody>
          <a:bodyPr wrap="square" lIns="0" tIns="0" rIns="0" bIns="0" rtlCol="0" anchor="t"/>
          <a:lstStyle/>
          <a:p>
            <a:pPr marL="0" indent="0" algn="r">
              <a:buNone/>
            </a:pPr>
            <a:r>
              <a:rPr lang="en-US" sz="1100" dirty="0">
                <a:solidFill>
                  <a:srgbClr val="5B6573"/>
                </a:solidFill>
                <a:latin typeface="Arial" pitchFamily="34" charset="0"/>
                <a:ea typeface="Arial" pitchFamily="34" charset="-122"/>
                <a:cs typeface="Arial" pitchFamily="34" charset="-120"/>
              </a:rPr>
              <a:t>newest</a:t>
            </a:r>
            <a:endParaRPr lang="en-US" sz="1100" dirty="0"/>
          </a:p>
        </p:txBody>
      </p:sp>
      <p:sp>
        <p:nvSpPr>
          <p:cNvPr id="19" name="Shape 17"/>
          <p:cNvSpPr/>
          <p:nvPr/>
        </p:nvSpPr>
        <p:spPr>
          <a:xfrm>
            <a:off x="457200" y="3840480"/>
            <a:ext cx="8229600" cy="731520"/>
          </a:xfrm>
          <a:prstGeom prst="roundRect">
            <a:avLst>
              <a:gd name="adj" fmla="val 10000"/>
            </a:avLst>
          </a:prstGeom>
          <a:solidFill>
            <a:srgbClr val="F1F3F5"/>
          </a:solidFill>
          <a:ln w="12700">
            <a:solidFill>
              <a:srgbClr val="F1F3F5"/>
            </a:solidFill>
            <a:prstDash val="solid"/>
          </a:ln>
        </p:spPr>
        <p:txBody>
          <a:bodyPr/>
          <a:lstStyle/>
          <a:p>
            <a:endParaRPr lang="en-US"/>
          </a:p>
        </p:txBody>
      </p:sp>
      <p:sp>
        <p:nvSpPr>
          <p:cNvPr id="20" name="Text 18"/>
          <p:cNvSpPr txBox="1"/>
          <p:nvPr/>
        </p:nvSpPr>
        <p:spPr>
          <a:xfrm>
            <a:off x="685800" y="3840480"/>
            <a:ext cx="7772400" cy="731520"/>
          </a:xfrm>
          <a:prstGeom prst="rect">
            <a:avLst/>
          </a:prstGeom>
          <a:noFill/>
          <a:ln/>
        </p:spPr>
        <p:txBody>
          <a:bodyPr wrap="square" lIns="0" tIns="0" rIns="0" bIns="0" rtlCol="0" anchor="ctr"/>
          <a:lstStyle/>
          <a:p>
            <a:pPr marL="0" indent="0">
              <a:buNone/>
            </a:pPr>
            <a:r>
              <a:rPr lang="en-US" sz="1350" dirty="0">
                <a:solidFill>
                  <a:srgbClr val="1F2933"/>
                </a:solidFill>
                <a:latin typeface="Arial" pitchFamily="34" charset="0"/>
                <a:ea typeface="Arial" pitchFamily="34" charset="-122"/>
                <a:cs typeface="Arial" pitchFamily="34" charset="-120"/>
              </a:rPr>
              <a:t>"main" is just a label pointing at the newest commit. When you commit, main moves forward to your new commit.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Two copies: your laptop and GitHub</a:t>
            </a:r>
            <a:endParaRPr lang="en-US" sz="3000" dirty="0"/>
          </a:p>
        </p:txBody>
      </p:sp>
      <p:sp>
        <p:nvSpPr>
          <p:cNvPr id="3" name="Shape 1"/>
          <p:cNvSpPr/>
          <p:nvPr/>
        </p:nvSpPr>
        <p:spPr>
          <a:xfrm>
            <a:off x="457200" y="1188720"/>
            <a:ext cx="3108960" cy="2834640"/>
          </a:xfrm>
          <a:prstGeom prst="roundRect">
            <a:avLst>
              <a:gd name="adj" fmla="val 2581"/>
            </a:avLst>
          </a:prstGeom>
          <a:solidFill>
            <a:srgbClr val="F1F3F5"/>
          </a:solidFill>
          <a:ln w="12700">
            <a:solidFill>
              <a:srgbClr val="F1F3F5"/>
            </a:solidFill>
            <a:prstDash val="solid"/>
          </a:ln>
        </p:spPr>
        <p:txBody>
          <a:bodyPr/>
          <a:lstStyle/>
          <a:p>
            <a:endParaRPr lang="en-US"/>
          </a:p>
        </p:txBody>
      </p:sp>
      <p:sp>
        <p:nvSpPr>
          <p:cNvPr id="4" name="Shape 2"/>
          <p:cNvSpPr/>
          <p:nvPr/>
        </p:nvSpPr>
        <p:spPr>
          <a:xfrm>
            <a:off x="5577840" y="1188720"/>
            <a:ext cx="3108960" cy="2834640"/>
          </a:xfrm>
          <a:prstGeom prst="roundRect">
            <a:avLst>
              <a:gd name="adj" fmla="val 2581"/>
            </a:avLst>
          </a:prstGeom>
          <a:solidFill>
            <a:srgbClr val="F1F3F5"/>
          </a:solidFill>
          <a:ln w="12700">
            <a:solidFill>
              <a:srgbClr val="F1F3F5"/>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85800" y="1371600"/>
            <a:ext cx="457200" cy="457200"/>
          </a:xfrm>
          <a:prstGeom prst="rect">
            <a:avLst/>
          </a:prstGeom>
        </p:spPr>
      </p:pic>
      <p:sp>
        <p:nvSpPr>
          <p:cNvPr id="6" name="Text 3"/>
          <p:cNvSpPr txBox="1"/>
          <p:nvPr/>
        </p:nvSpPr>
        <p:spPr>
          <a:xfrm>
            <a:off x="1280160" y="1371600"/>
            <a:ext cx="2194560" cy="457200"/>
          </a:xfrm>
          <a:prstGeom prst="rect">
            <a:avLst/>
          </a:prstGeom>
          <a:noFill/>
          <a:ln/>
        </p:spPr>
        <p:txBody>
          <a:bodyPr wrap="square" lIns="0" tIns="0" rIns="0" bIns="0" rtlCol="0" anchor="ctr"/>
          <a:lstStyle/>
          <a:p>
            <a:pPr marL="0" indent="0">
              <a:buNone/>
            </a:pPr>
            <a:r>
              <a:rPr lang="en-US" sz="1700" b="1" dirty="0">
                <a:solidFill>
                  <a:srgbClr val="1F2933"/>
                </a:solidFill>
                <a:latin typeface="Arial" pitchFamily="34" charset="0"/>
                <a:ea typeface="Arial" pitchFamily="34" charset="-122"/>
                <a:cs typeface="Arial" pitchFamily="34" charset="-120"/>
              </a:rPr>
              <a:t>Local repo</a:t>
            </a:r>
            <a:endParaRPr lang="en-US" sz="1700" dirty="0"/>
          </a:p>
        </p:txBody>
      </p:sp>
      <p:sp>
        <p:nvSpPr>
          <p:cNvPr id="7" name="Text 4"/>
          <p:cNvSpPr txBox="1"/>
          <p:nvPr/>
        </p:nvSpPr>
        <p:spPr>
          <a:xfrm>
            <a:off x="685800" y="1920240"/>
            <a:ext cx="2651760" cy="548640"/>
          </a:xfrm>
          <a:prstGeom prst="rect">
            <a:avLst/>
          </a:prstGeom>
          <a:noFill/>
          <a:ln/>
        </p:spPr>
        <p:txBody>
          <a:bodyPr wrap="square" lIns="0" tIns="0" rIns="0" bIns="0" rtlCol="0" anchor="t"/>
          <a:lstStyle/>
          <a:p>
            <a:pPr marL="0" indent="0">
              <a:buNone/>
            </a:pPr>
            <a:r>
              <a:rPr lang="en-US" sz="1250" dirty="0">
                <a:solidFill>
                  <a:srgbClr val="5B6573"/>
                </a:solidFill>
                <a:latin typeface="Arial" pitchFamily="34" charset="0"/>
                <a:ea typeface="Arial" pitchFamily="34" charset="-122"/>
                <a:cs typeface="Arial" pitchFamily="34" charset="-120"/>
              </a:rPr>
              <a:t>On your computer. Commits land here first.</a:t>
            </a:r>
            <a:endParaRPr lang="en-US" sz="1250" dirty="0"/>
          </a:p>
        </p:txBody>
      </p:sp>
      <p:pic>
        <p:nvPicPr>
          <p:cNvPr id="8" name="Image 1" descr="preencoded.png"/>
          <p:cNvPicPr>
            <a:picLocks noChangeAspect="1"/>
          </p:cNvPicPr>
          <p:nvPr/>
        </p:nvPicPr>
        <p:blipFill>
          <a:blip r:embed="rId4"/>
          <a:stretch>
            <a:fillRect/>
          </a:stretch>
        </p:blipFill>
        <p:spPr>
          <a:xfrm>
            <a:off x="5806440" y="1371600"/>
            <a:ext cx="457200" cy="457200"/>
          </a:xfrm>
          <a:prstGeom prst="rect">
            <a:avLst/>
          </a:prstGeom>
        </p:spPr>
      </p:pic>
      <p:sp>
        <p:nvSpPr>
          <p:cNvPr id="9" name="Text 5"/>
          <p:cNvSpPr txBox="1"/>
          <p:nvPr/>
        </p:nvSpPr>
        <p:spPr>
          <a:xfrm>
            <a:off x="6400800" y="1371600"/>
            <a:ext cx="2194560" cy="457200"/>
          </a:xfrm>
          <a:prstGeom prst="rect">
            <a:avLst/>
          </a:prstGeom>
          <a:noFill/>
          <a:ln/>
        </p:spPr>
        <p:txBody>
          <a:bodyPr wrap="square" lIns="0" tIns="0" rIns="0" bIns="0" rtlCol="0" anchor="ctr"/>
          <a:lstStyle/>
          <a:p>
            <a:pPr marL="0" indent="0">
              <a:buNone/>
            </a:pPr>
            <a:r>
              <a:rPr lang="en-US" sz="1700" b="1" dirty="0">
                <a:solidFill>
                  <a:srgbClr val="1F2933"/>
                </a:solidFill>
                <a:latin typeface="Arial" pitchFamily="34" charset="0"/>
                <a:ea typeface="Arial" pitchFamily="34" charset="-122"/>
                <a:cs typeface="Arial" pitchFamily="34" charset="-120"/>
              </a:rPr>
              <a:t>Remote ("origin")</a:t>
            </a:r>
            <a:endParaRPr lang="en-US" sz="1700" dirty="0"/>
          </a:p>
        </p:txBody>
      </p:sp>
      <p:sp>
        <p:nvSpPr>
          <p:cNvPr id="10" name="Text 6"/>
          <p:cNvSpPr txBox="1"/>
          <p:nvPr/>
        </p:nvSpPr>
        <p:spPr>
          <a:xfrm>
            <a:off x="5806440" y="1920240"/>
            <a:ext cx="2651760" cy="548640"/>
          </a:xfrm>
          <a:prstGeom prst="rect">
            <a:avLst/>
          </a:prstGeom>
          <a:noFill/>
          <a:ln/>
        </p:spPr>
        <p:txBody>
          <a:bodyPr wrap="square" lIns="0" tIns="0" rIns="0" bIns="0" rtlCol="0" anchor="t"/>
          <a:lstStyle/>
          <a:p>
            <a:pPr marL="0" indent="0">
              <a:buNone/>
            </a:pPr>
            <a:r>
              <a:rPr lang="en-US" sz="1250" dirty="0">
                <a:solidFill>
                  <a:srgbClr val="5B6573"/>
                </a:solidFill>
                <a:latin typeface="Arial" pitchFamily="34" charset="0"/>
                <a:ea typeface="Arial" pitchFamily="34" charset="-122"/>
                <a:cs typeface="Arial" pitchFamily="34" charset="-120"/>
              </a:rPr>
              <a:t>On github.com. The team's shared copy.</a:t>
            </a:r>
            <a:endParaRPr lang="en-US" sz="1250" dirty="0"/>
          </a:p>
        </p:txBody>
      </p:sp>
      <p:sp>
        <p:nvSpPr>
          <p:cNvPr id="11" name="Shape 7"/>
          <p:cNvSpPr/>
          <p:nvPr/>
        </p:nvSpPr>
        <p:spPr>
          <a:xfrm>
            <a:off x="822960" y="3017520"/>
            <a:ext cx="329184" cy="329184"/>
          </a:xfrm>
          <a:prstGeom prst="ellipse">
            <a:avLst/>
          </a:prstGeom>
          <a:solidFill>
            <a:srgbClr val="2E9E6B"/>
          </a:solidFill>
          <a:ln w="19050">
            <a:solidFill>
              <a:srgbClr val="2E9E6B"/>
            </a:solidFill>
            <a:prstDash val="solid"/>
          </a:ln>
        </p:spPr>
        <p:txBody>
          <a:bodyPr/>
          <a:lstStyle/>
          <a:p>
            <a:endParaRPr lang="en-US"/>
          </a:p>
        </p:txBody>
      </p:sp>
      <p:sp>
        <p:nvSpPr>
          <p:cNvPr id="12" name="Shape 8"/>
          <p:cNvSpPr/>
          <p:nvPr/>
        </p:nvSpPr>
        <p:spPr>
          <a:xfrm>
            <a:off x="5943600" y="3017520"/>
            <a:ext cx="329184" cy="329184"/>
          </a:xfrm>
          <a:prstGeom prst="ellipse">
            <a:avLst/>
          </a:prstGeom>
          <a:solidFill>
            <a:srgbClr val="2E9E6B"/>
          </a:solidFill>
          <a:ln w="19050">
            <a:solidFill>
              <a:srgbClr val="2E9E6B"/>
            </a:solidFill>
            <a:prstDash val="solid"/>
          </a:ln>
        </p:spPr>
        <p:txBody>
          <a:bodyPr/>
          <a:lstStyle/>
          <a:p>
            <a:endParaRPr lang="en-US"/>
          </a:p>
        </p:txBody>
      </p:sp>
      <p:sp>
        <p:nvSpPr>
          <p:cNvPr id="13" name="Shape 9"/>
          <p:cNvSpPr/>
          <p:nvPr/>
        </p:nvSpPr>
        <p:spPr>
          <a:xfrm>
            <a:off x="1554480" y="3017520"/>
            <a:ext cx="329184" cy="329184"/>
          </a:xfrm>
          <a:prstGeom prst="ellipse">
            <a:avLst/>
          </a:prstGeom>
          <a:solidFill>
            <a:srgbClr val="2E9E6B"/>
          </a:solidFill>
          <a:ln w="19050">
            <a:solidFill>
              <a:srgbClr val="2E9E6B"/>
            </a:solidFill>
            <a:prstDash val="solid"/>
          </a:ln>
        </p:spPr>
        <p:txBody>
          <a:bodyPr/>
          <a:lstStyle/>
          <a:p>
            <a:endParaRPr lang="en-US"/>
          </a:p>
        </p:txBody>
      </p:sp>
      <p:sp>
        <p:nvSpPr>
          <p:cNvPr id="14" name="Shape 10"/>
          <p:cNvSpPr/>
          <p:nvPr/>
        </p:nvSpPr>
        <p:spPr>
          <a:xfrm>
            <a:off x="6675120" y="3017520"/>
            <a:ext cx="329184" cy="329184"/>
          </a:xfrm>
          <a:prstGeom prst="ellipse">
            <a:avLst/>
          </a:prstGeom>
          <a:solidFill>
            <a:srgbClr val="2E9E6B"/>
          </a:solidFill>
          <a:ln w="19050">
            <a:solidFill>
              <a:srgbClr val="2E9E6B"/>
            </a:solidFill>
            <a:prstDash val="solid"/>
          </a:ln>
        </p:spPr>
        <p:txBody>
          <a:bodyPr/>
          <a:lstStyle/>
          <a:p>
            <a:endParaRPr lang="en-US"/>
          </a:p>
        </p:txBody>
      </p:sp>
      <p:sp>
        <p:nvSpPr>
          <p:cNvPr id="15" name="Shape 11"/>
          <p:cNvSpPr/>
          <p:nvPr/>
        </p:nvSpPr>
        <p:spPr>
          <a:xfrm>
            <a:off x="2286000" y="3017520"/>
            <a:ext cx="329184" cy="329184"/>
          </a:xfrm>
          <a:prstGeom prst="ellipse">
            <a:avLst/>
          </a:prstGeom>
          <a:solidFill>
            <a:srgbClr val="2E9E6B"/>
          </a:solidFill>
          <a:ln w="19050">
            <a:solidFill>
              <a:srgbClr val="2E9E6B"/>
            </a:solidFill>
            <a:prstDash val="solid"/>
          </a:ln>
        </p:spPr>
        <p:txBody>
          <a:bodyPr/>
          <a:lstStyle/>
          <a:p>
            <a:endParaRPr lang="en-US"/>
          </a:p>
        </p:txBody>
      </p:sp>
      <p:sp>
        <p:nvSpPr>
          <p:cNvPr id="16" name="Shape 12"/>
          <p:cNvSpPr/>
          <p:nvPr/>
        </p:nvSpPr>
        <p:spPr>
          <a:xfrm>
            <a:off x="7406640" y="3017520"/>
            <a:ext cx="329184" cy="329184"/>
          </a:xfrm>
          <a:prstGeom prst="ellipse">
            <a:avLst/>
          </a:prstGeom>
          <a:solidFill>
            <a:srgbClr val="2E9E6B"/>
          </a:solidFill>
          <a:ln w="19050">
            <a:solidFill>
              <a:srgbClr val="2E9E6B"/>
            </a:solidFill>
            <a:prstDash val="solid"/>
          </a:ln>
        </p:spPr>
        <p:txBody>
          <a:bodyPr/>
          <a:lstStyle/>
          <a:p>
            <a:endParaRPr lang="en-US"/>
          </a:p>
        </p:txBody>
      </p:sp>
      <p:sp>
        <p:nvSpPr>
          <p:cNvPr id="17" name="Shape 13"/>
          <p:cNvSpPr/>
          <p:nvPr/>
        </p:nvSpPr>
        <p:spPr>
          <a:xfrm>
            <a:off x="1152144" y="3182112"/>
            <a:ext cx="402336" cy="914"/>
          </a:xfrm>
          <a:prstGeom prst="line">
            <a:avLst/>
          </a:prstGeom>
          <a:noFill/>
          <a:ln w="31750">
            <a:solidFill>
              <a:srgbClr val="2E9E6B"/>
            </a:solidFill>
            <a:prstDash val="solid"/>
          </a:ln>
        </p:spPr>
        <p:txBody>
          <a:bodyPr/>
          <a:lstStyle/>
          <a:p>
            <a:endParaRPr lang="en-US"/>
          </a:p>
        </p:txBody>
      </p:sp>
      <p:sp>
        <p:nvSpPr>
          <p:cNvPr id="18" name="Shape 14"/>
          <p:cNvSpPr/>
          <p:nvPr/>
        </p:nvSpPr>
        <p:spPr>
          <a:xfrm>
            <a:off x="1883664" y="3182112"/>
            <a:ext cx="402336" cy="914"/>
          </a:xfrm>
          <a:prstGeom prst="line">
            <a:avLst/>
          </a:prstGeom>
          <a:noFill/>
          <a:ln w="31750">
            <a:solidFill>
              <a:srgbClr val="2E9E6B"/>
            </a:solidFill>
            <a:prstDash val="solid"/>
          </a:ln>
        </p:spPr>
        <p:txBody>
          <a:bodyPr/>
          <a:lstStyle/>
          <a:p>
            <a:endParaRPr lang="en-US"/>
          </a:p>
        </p:txBody>
      </p:sp>
      <p:sp>
        <p:nvSpPr>
          <p:cNvPr id="19" name="Shape 15"/>
          <p:cNvSpPr/>
          <p:nvPr/>
        </p:nvSpPr>
        <p:spPr>
          <a:xfrm>
            <a:off x="6272784" y="3182112"/>
            <a:ext cx="402336" cy="914"/>
          </a:xfrm>
          <a:prstGeom prst="line">
            <a:avLst/>
          </a:prstGeom>
          <a:noFill/>
          <a:ln w="31750">
            <a:solidFill>
              <a:srgbClr val="2E9E6B"/>
            </a:solidFill>
            <a:prstDash val="solid"/>
          </a:ln>
        </p:spPr>
        <p:txBody>
          <a:bodyPr/>
          <a:lstStyle/>
          <a:p>
            <a:endParaRPr lang="en-US"/>
          </a:p>
        </p:txBody>
      </p:sp>
      <p:sp>
        <p:nvSpPr>
          <p:cNvPr id="20" name="Shape 16"/>
          <p:cNvSpPr/>
          <p:nvPr/>
        </p:nvSpPr>
        <p:spPr>
          <a:xfrm>
            <a:off x="7004304" y="3182112"/>
            <a:ext cx="402336" cy="914"/>
          </a:xfrm>
          <a:prstGeom prst="line">
            <a:avLst/>
          </a:prstGeom>
          <a:noFill/>
          <a:ln w="31750">
            <a:solidFill>
              <a:srgbClr val="2E9E6B"/>
            </a:solidFill>
            <a:prstDash val="solid"/>
          </a:ln>
        </p:spPr>
        <p:txBody>
          <a:bodyPr/>
          <a:lstStyle/>
          <a:p>
            <a:endParaRPr lang="en-US"/>
          </a:p>
        </p:txBody>
      </p:sp>
      <p:sp>
        <p:nvSpPr>
          <p:cNvPr id="21" name="Shape 17"/>
          <p:cNvSpPr/>
          <p:nvPr/>
        </p:nvSpPr>
        <p:spPr>
          <a:xfrm>
            <a:off x="3749040" y="1920240"/>
            <a:ext cx="1645920" cy="914"/>
          </a:xfrm>
          <a:prstGeom prst="line">
            <a:avLst/>
          </a:prstGeom>
          <a:noFill/>
          <a:ln w="38100">
            <a:solidFill>
              <a:srgbClr val="F2711C"/>
            </a:solidFill>
            <a:prstDash val="solid"/>
            <a:tailEnd type="triangle"/>
          </a:ln>
        </p:spPr>
        <p:txBody>
          <a:bodyPr/>
          <a:lstStyle/>
          <a:p>
            <a:endParaRPr lang="en-US"/>
          </a:p>
        </p:txBody>
      </p:sp>
      <p:sp>
        <p:nvSpPr>
          <p:cNvPr id="22" name="Text 18"/>
          <p:cNvSpPr txBox="1"/>
          <p:nvPr/>
        </p:nvSpPr>
        <p:spPr>
          <a:xfrm>
            <a:off x="3749040" y="1508760"/>
            <a:ext cx="1645920" cy="320040"/>
          </a:xfrm>
          <a:prstGeom prst="rect">
            <a:avLst/>
          </a:prstGeom>
          <a:noFill/>
          <a:ln/>
        </p:spPr>
        <p:txBody>
          <a:bodyPr wrap="square" lIns="0" tIns="0" rIns="0" bIns="0" rtlCol="0" anchor="t"/>
          <a:lstStyle/>
          <a:p>
            <a:pPr marL="0" indent="0" algn="ctr">
              <a:buNone/>
            </a:pPr>
            <a:r>
              <a:rPr lang="en-US" sz="1400" b="1" dirty="0">
                <a:solidFill>
                  <a:srgbClr val="F2711C"/>
                </a:solidFill>
                <a:latin typeface="Arial" pitchFamily="34" charset="0"/>
                <a:ea typeface="Arial" pitchFamily="34" charset="-122"/>
                <a:cs typeface="Arial" pitchFamily="34" charset="-120"/>
              </a:rPr>
              <a:t>Push</a:t>
            </a:r>
            <a:endParaRPr lang="en-US" sz="1400" dirty="0"/>
          </a:p>
        </p:txBody>
      </p:sp>
      <p:sp>
        <p:nvSpPr>
          <p:cNvPr id="23" name="Text 19"/>
          <p:cNvSpPr txBox="1"/>
          <p:nvPr/>
        </p:nvSpPr>
        <p:spPr>
          <a:xfrm>
            <a:off x="3611880" y="1984248"/>
            <a:ext cx="1920240" cy="274320"/>
          </a:xfrm>
          <a:prstGeom prst="rect">
            <a:avLst/>
          </a:prstGeom>
          <a:noFill/>
          <a:ln/>
        </p:spPr>
        <p:txBody>
          <a:bodyPr wrap="square" lIns="0" tIns="0" rIns="0" bIns="0" rtlCol="0" anchor="t"/>
          <a:lstStyle/>
          <a:p>
            <a:pPr marL="0" indent="0" algn="ctr">
              <a:buNone/>
            </a:pPr>
            <a:r>
              <a:rPr lang="en-US" sz="1000" dirty="0">
                <a:solidFill>
                  <a:srgbClr val="5B6573"/>
                </a:solidFill>
                <a:latin typeface="Arial" pitchFamily="34" charset="0"/>
                <a:ea typeface="Arial" pitchFamily="34" charset="-122"/>
                <a:cs typeface="Arial" pitchFamily="34" charset="-120"/>
              </a:rPr>
              <a:t>send your commits up</a:t>
            </a:r>
            <a:endParaRPr lang="en-US" sz="1000" dirty="0"/>
          </a:p>
        </p:txBody>
      </p:sp>
      <p:sp>
        <p:nvSpPr>
          <p:cNvPr id="24" name="Shape 20"/>
          <p:cNvSpPr/>
          <p:nvPr/>
        </p:nvSpPr>
        <p:spPr>
          <a:xfrm>
            <a:off x="3749040" y="2743200"/>
            <a:ext cx="1645920" cy="914"/>
          </a:xfrm>
          <a:prstGeom prst="line">
            <a:avLst/>
          </a:prstGeom>
          <a:noFill/>
          <a:ln w="38100">
            <a:solidFill>
              <a:srgbClr val="5B6573"/>
            </a:solidFill>
            <a:prstDash val="dash"/>
            <a:headEnd type="triangle"/>
          </a:ln>
        </p:spPr>
        <p:txBody>
          <a:bodyPr/>
          <a:lstStyle/>
          <a:p>
            <a:endParaRPr lang="en-US"/>
          </a:p>
        </p:txBody>
      </p:sp>
      <p:sp>
        <p:nvSpPr>
          <p:cNvPr id="25" name="Text 21"/>
          <p:cNvSpPr txBox="1"/>
          <p:nvPr/>
        </p:nvSpPr>
        <p:spPr>
          <a:xfrm>
            <a:off x="3749040" y="2331720"/>
            <a:ext cx="1645920" cy="320040"/>
          </a:xfrm>
          <a:prstGeom prst="rect">
            <a:avLst/>
          </a:prstGeom>
          <a:noFill/>
          <a:ln/>
        </p:spPr>
        <p:txBody>
          <a:bodyPr wrap="square" lIns="0" tIns="0" rIns="0" bIns="0" rtlCol="0" anchor="t"/>
          <a:lstStyle/>
          <a:p>
            <a:pPr marL="0" indent="0" algn="ctr">
              <a:buNone/>
            </a:pPr>
            <a:r>
              <a:rPr lang="en-US" sz="1400" b="1" dirty="0">
                <a:solidFill>
                  <a:srgbClr val="5B6573"/>
                </a:solidFill>
                <a:latin typeface="Arial" pitchFamily="34" charset="0"/>
                <a:ea typeface="Arial" pitchFamily="34" charset="-122"/>
                <a:cs typeface="Arial" pitchFamily="34" charset="-120"/>
              </a:rPr>
              <a:t>Fetch</a:t>
            </a:r>
            <a:endParaRPr lang="en-US" sz="1400" dirty="0"/>
          </a:p>
        </p:txBody>
      </p:sp>
      <p:sp>
        <p:nvSpPr>
          <p:cNvPr id="26" name="Text 22"/>
          <p:cNvSpPr txBox="1"/>
          <p:nvPr/>
        </p:nvSpPr>
        <p:spPr>
          <a:xfrm>
            <a:off x="3611880" y="2807208"/>
            <a:ext cx="1920240" cy="274320"/>
          </a:xfrm>
          <a:prstGeom prst="rect">
            <a:avLst/>
          </a:prstGeom>
          <a:noFill/>
          <a:ln/>
        </p:spPr>
        <p:txBody>
          <a:bodyPr wrap="square" lIns="0" tIns="0" rIns="0" bIns="0" rtlCol="0" anchor="t"/>
          <a:lstStyle/>
          <a:p>
            <a:pPr marL="0" indent="0" algn="ctr">
              <a:buNone/>
            </a:pPr>
            <a:r>
              <a:rPr lang="en-US" sz="1000" dirty="0">
                <a:solidFill>
                  <a:srgbClr val="5B6573"/>
                </a:solidFill>
                <a:latin typeface="Arial" pitchFamily="34" charset="0"/>
                <a:ea typeface="Arial" pitchFamily="34" charset="-122"/>
                <a:cs typeface="Arial" pitchFamily="34" charset="-120"/>
              </a:rPr>
              <a:t>check if anything is new</a:t>
            </a:r>
            <a:endParaRPr lang="en-US" sz="1000" dirty="0"/>
          </a:p>
        </p:txBody>
      </p:sp>
      <p:sp>
        <p:nvSpPr>
          <p:cNvPr id="27" name="Shape 23"/>
          <p:cNvSpPr/>
          <p:nvPr/>
        </p:nvSpPr>
        <p:spPr>
          <a:xfrm>
            <a:off x="3749040" y="3566160"/>
            <a:ext cx="1645920" cy="914"/>
          </a:xfrm>
          <a:prstGeom prst="line">
            <a:avLst/>
          </a:prstGeom>
          <a:noFill/>
          <a:ln w="38100">
            <a:solidFill>
              <a:srgbClr val="3A6EA5"/>
            </a:solidFill>
            <a:prstDash val="solid"/>
            <a:headEnd type="triangle"/>
          </a:ln>
        </p:spPr>
        <p:txBody>
          <a:bodyPr/>
          <a:lstStyle/>
          <a:p>
            <a:endParaRPr lang="en-US"/>
          </a:p>
        </p:txBody>
      </p:sp>
      <p:sp>
        <p:nvSpPr>
          <p:cNvPr id="28" name="Text 24"/>
          <p:cNvSpPr txBox="1"/>
          <p:nvPr/>
        </p:nvSpPr>
        <p:spPr>
          <a:xfrm>
            <a:off x="3749040" y="3154680"/>
            <a:ext cx="1645920" cy="320040"/>
          </a:xfrm>
          <a:prstGeom prst="rect">
            <a:avLst/>
          </a:prstGeom>
          <a:noFill/>
          <a:ln/>
        </p:spPr>
        <p:txBody>
          <a:bodyPr wrap="square" lIns="0" tIns="0" rIns="0" bIns="0" rtlCol="0" anchor="t"/>
          <a:lstStyle/>
          <a:p>
            <a:pPr marL="0" indent="0" algn="ctr">
              <a:buNone/>
            </a:pPr>
            <a:r>
              <a:rPr lang="en-US" sz="1400" b="1" dirty="0">
                <a:solidFill>
                  <a:srgbClr val="3A6EA5"/>
                </a:solidFill>
                <a:latin typeface="Arial" pitchFamily="34" charset="0"/>
                <a:ea typeface="Arial" pitchFamily="34" charset="-122"/>
                <a:cs typeface="Arial" pitchFamily="34" charset="-120"/>
              </a:rPr>
              <a:t>Pull</a:t>
            </a:r>
            <a:endParaRPr lang="en-US" sz="1400" dirty="0"/>
          </a:p>
        </p:txBody>
      </p:sp>
      <p:sp>
        <p:nvSpPr>
          <p:cNvPr id="29" name="Text 25"/>
          <p:cNvSpPr txBox="1"/>
          <p:nvPr/>
        </p:nvSpPr>
        <p:spPr>
          <a:xfrm>
            <a:off x="3611880" y="3630168"/>
            <a:ext cx="1920240" cy="274320"/>
          </a:xfrm>
          <a:prstGeom prst="rect">
            <a:avLst/>
          </a:prstGeom>
          <a:noFill/>
          <a:ln/>
        </p:spPr>
        <p:txBody>
          <a:bodyPr wrap="square" lIns="0" tIns="0" rIns="0" bIns="0" rtlCol="0" anchor="t"/>
          <a:lstStyle/>
          <a:p>
            <a:pPr marL="0" indent="0" algn="ctr">
              <a:buNone/>
            </a:pPr>
            <a:r>
              <a:rPr lang="en-US" sz="1000" dirty="0">
                <a:solidFill>
                  <a:srgbClr val="5B6573"/>
                </a:solidFill>
                <a:latin typeface="Arial" pitchFamily="34" charset="0"/>
                <a:ea typeface="Arial" pitchFamily="34" charset="-122"/>
                <a:cs typeface="Arial" pitchFamily="34" charset="-120"/>
              </a:rPr>
              <a:t>download new commits &amp; merge</a:t>
            </a:r>
            <a:endParaRPr lang="en-US" sz="1000" dirty="0"/>
          </a:p>
        </p:txBody>
      </p:sp>
      <p:sp>
        <p:nvSpPr>
          <p:cNvPr id="30" name="Text 26"/>
          <p:cNvSpPr txBox="1"/>
          <p:nvPr/>
        </p:nvSpPr>
        <p:spPr>
          <a:xfrm>
            <a:off x="457200" y="4251960"/>
            <a:ext cx="8229600" cy="411480"/>
          </a:xfrm>
          <a:prstGeom prst="rect">
            <a:avLst/>
          </a:prstGeom>
          <a:noFill/>
          <a:ln/>
        </p:spPr>
        <p:txBody>
          <a:bodyPr wrap="square" lIns="0" tIns="0" rIns="0" bIns="0" rtlCol="0" anchor="t"/>
          <a:lstStyle/>
          <a:p>
            <a:pPr marL="0" indent="0">
              <a:buNone/>
            </a:pPr>
            <a:r>
              <a:rPr lang="en-US" sz="1400" b="1" dirty="0">
                <a:solidFill>
                  <a:srgbClr val="F2711C"/>
                </a:solidFill>
                <a:latin typeface="Arial" pitchFamily="34" charset="0"/>
                <a:ea typeface="Arial" pitchFamily="34" charset="-122"/>
                <a:cs typeface="Arial" pitchFamily="34" charset="-120"/>
              </a:rPr>
              <a:t>Committing never touches GitHub. Nobody sees your work until you push.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One button, three jobs</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t"/>
          <a:lstStyle/>
          <a:p>
            <a:pPr marL="0" indent="0">
              <a:buNone/>
            </a:pPr>
            <a:r>
              <a:rPr lang="en-US" sz="1400" dirty="0">
                <a:solidFill>
                  <a:srgbClr val="5B6573"/>
                </a:solidFill>
                <a:latin typeface="Arial" pitchFamily="34" charset="0"/>
                <a:ea typeface="Arial" pitchFamily="34" charset="-122"/>
                <a:cs typeface="Arial" pitchFamily="34" charset="-120"/>
              </a:rPr>
              <a:t>The top-right button in GitHub Desktop changes depending on what's out of sync.</a:t>
            </a:r>
            <a:endParaRPr lang="en-US" sz="1400" dirty="0"/>
          </a:p>
        </p:txBody>
      </p:sp>
      <p:sp>
        <p:nvSpPr>
          <p:cNvPr id="4" name="Shape 2"/>
          <p:cNvSpPr/>
          <p:nvPr/>
        </p:nvSpPr>
        <p:spPr>
          <a:xfrm>
            <a:off x="457200" y="1463040"/>
            <a:ext cx="3291840" cy="822960"/>
          </a:xfrm>
          <a:prstGeom prst="roundRect">
            <a:avLst>
              <a:gd name="adj" fmla="val 8889"/>
            </a:avLst>
          </a:prstGeom>
          <a:solidFill>
            <a:srgbClr val="1B2430"/>
          </a:solidFill>
          <a:ln w="12700">
            <a:solidFill>
              <a:srgbClr val="1B2430"/>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85800" y="1709928"/>
            <a:ext cx="329184" cy="329184"/>
          </a:xfrm>
          <a:prstGeom prst="rect">
            <a:avLst/>
          </a:prstGeom>
        </p:spPr>
      </p:pic>
      <p:sp>
        <p:nvSpPr>
          <p:cNvPr id="6" name="Text 3"/>
          <p:cNvSpPr txBox="1"/>
          <p:nvPr/>
        </p:nvSpPr>
        <p:spPr>
          <a:xfrm>
            <a:off x="1188720" y="1572768"/>
            <a:ext cx="2468880" cy="365760"/>
          </a:xfrm>
          <a:prstGeom prst="rect">
            <a:avLst/>
          </a:prstGeom>
          <a:noFill/>
          <a:ln/>
        </p:spPr>
        <p:txBody>
          <a:bodyPr wrap="square" lIns="0" tIns="0" rIns="0" bIns="0" rtlCol="0" anchor="t"/>
          <a:lstStyle/>
          <a:p>
            <a:pPr marL="0" indent="0">
              <a:buNone/>
            </a:pPr>
            <a:r>
              <a:rPr lang="en-US" sz="1500" b="1" dirty="0">
                <a:solidFill>
                  <a:srgbClr val="FFFFFF"/>
                </a:solidFill>
                <a:latin typeface="Arial" pitchFamily="34" charset="0"/>
                <a:ea typeface="Arial" pitchFamily="34" charset="-122"/>
                <a:cs typeface="Arial" pitchFamily="34" charset="-120"/>
              </a:rPr>
              <a:t>Fetch origin</a:t>
            </a:r>
            <a:endParaRPr lang="en-US" sz="1500" dirty="0"/>
          </a:p>
        </p:txBody>
      </p:sp>
      <p:sp>
        <p:nvSpPr>
          <p:cNvPr id="7" name="Text 4"/>
          <p:cNvSpPr txBox="1"/>
          <p:nvPr/>
        </p:nvSpPr>
        <p:spPr>
          <a:xfrm>
            <a:off x="1188720" y="1920240"/>
            <a:ext cx="2468880" cy="274320"/>
          </a:xfrm>
          <a:prstGeom prst="rect">
            <a:avLst/>
          </a:prstGeom>
          <a:noFill/>
          <a:ln/>
        </p:spPr>
        <p:txBody>
          <a:bodyPr wrap="square" lIns="0" tIns="0" rIns="0" bIns="0" rtlCol="0" anchor="t"/>
          <a:lstStyle/>
          <a:p>
            <a:pPr marL="0" indent="0">
              <a:buNone/>
            </a:pPr>
            <a:r>
              <a:rPr lang="en-US" sz="1050" dirty="0">
                <a:solidFill>
                  <a:srgbClr val="AEB8C4"/>
                </a:solidFill>
                <a:latin typeface="Arial" pitchFamily="34" charset="0"/>
                <a:ea typeface="Arial" pitchFamily="34" charset="-122"/>
                <a:cs typeface="Arial" pitchFamily="34" charset="-120"/>
              </a:rPr>
              <a:t>Last fetched just now</a:t>
            </a:r>
            <a:endParaRPr lang="en-US" sz="1050" dirty="0"/>
          </a:p>
        </p:txBody>
      </p:sp>
      <p:sp>
        <p:nvSpPr>
          <p:cNvPr id="8" name="Shape 5"/>
          <p:cNvSpPr/>
          <p:nvPr/>
        </p:nvSpPr>
        <p:spPr>
          <a:xfrm>
            <a:off x="4069080" y="1737360"/>
            <a:ext cx="274320" cy="274320"/>
          </a:xfrm>
          <a:prstGeom prst="ellipse">
            <a:avLst/>
          </a:prstGeom>
          <a:solidFill>
            <a:srgbClr val="5B6573"/>
          </a:solidFill>
          <a:ln w="19050">
            <a:solidFill>
              <a:srgbClr val="5B6573"/>
            </a:solidFill>
            <a:prstDash val="solid"/>
          </a:ln>
        </p:spPr>
        <p:txBody>
          <a:bodyPr/>
          <a:lstStyle/>
          <a:p>
            <a:endParaRPr lang="en-US"/>
          </a:p>
        </p:txBody>
      </p:sp>
      <p:sp>
        <p:nvSpPr>
          <p:cNvPr id="9" name="Text 6"/>
          <p:cNvSpPr txBox="1"/>
          <p:nvPr/>
        </p:nvSpPr>
        <p:spPr>
          <a:xfrm>
            <a:off x="4526280" y="1508760"/>
            <a:ext cx="4160520" cy="731520"/>
          </a:xfrm>
          <a:prstGeom prst="rect">
            <a:avLst/>
          </a:prstGeom>
          <a:noFill/>
          <a:ln/>
        </p:spPr>
        <p:txBody>
          <a:bodyPr wrap="square" lIns="0" tIns="0" rIns="0" bIns="0" rtlCol="0" anchor="ctr"/>
          <a:lstStyle/>
          <a:p>
            <a:pPr marL="0" indent="0">
              <a:buNone/>
            </a:pPr>
            <a:r>
              <a:rPr lang="en-US" sz="1350" dirty="0">
                <a:solidFill>
                  <a:srgbClr val="1F2933"/>
                </a:solidFill>
                <a:latin typeface="Arial" pitchFamily="34" charset="0"/>
                <a:ea typeface="Arial" pitchFamily="34" charset="-122"/>
                <a:cs typeface="Arial" pitchFamily="34" charset="-120"/>
              </a:rPr>
              <a:t>Everything matches as far as your computer knows. Click it to check GitHub for new commits.</a:t>
            </a:r>
            <a:endParaRPr lang="en-US" sz="1350" dirty="0"/>
          </a:p>
        </p:txBody>
      </p:sp>
      <p:sp>
        <p:nvSpPr>
          <p:cNvPr id="10" name="Shape 7"/>
          <p:cNvSpPr/>
          <p:nvPr/>
        </p:nvSpPr>
        <p:spPr>
          <a:xfrm>
            <a:off x="457200" y="2542032"/>
            <a:ext cx="3291840" cy="822960"/>
          </a:xfrm>
          <a:prstGeom prst="roundRect">
            <a:avLst>
              <a:gd name="adj" fmla="val 8889"/>
            </a:avLst>
          </a:prstGeom>
          <a:solidFill>
            <a:srgbClr val="1B2430"/>
          </a:solidFill>
          <a:ln w="12700">
            <a:solidFill>
              <a:srgbClr val="1B2430"/>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85800" y="2788920"/>
            <a:ext cx="329184" cy="329184"/>
          </a:xfrm>
          <a:prstGeom prst="rect">
            <a:avLst/>
          </a:prstGeom>
        </p:spPr>
      </p:pic>
      <p:sp>
        <p:nvSpPr>
          <p:cNvPr id="12" name="Text 8"/>
          <p:cNvSpPr txBox="1"/>
          <p:nvPr/>
        </p:nvSpPr>
        <p:spPr>
          <a:xfrm>
            <a:off x="1188720" y="2651760"/>
            <a:ext cx="2468880" cy="365760"/>
          </a:xfrm>
          <a:prstGeom prst="rect">
            <a:avLst/>
          </a:prstGeom>
          <a:noFill/>
          <a:ln/>
        </p:spPr>
        <p:txBody>
          <a:bodyPr wrap="square" lIns="0" tIns="0" rIns="0" bIns="0" rtlCol="0" anchor="t"/>
          <a:lstStyle/>
          <a:p>
            <a:pPr marL="0" indent="0">
              <a:buNone/>
            </a:pPr>
            <a:r>
              <a:rPr lang="en-US" sz="1500" b="1" dirty="0">
                <a:solidFill>
                  <a:srgbClr val="FFFFFF"/>
                </a:solidFill>
                <a:latin typeface="Arial" pitchFamily="34" charset="0"/>
                <a:ea typeface="Arial" pitchFamily="34" charset="-122"/>
                <a:cs typeface="Arial" pitchFamily="34" charset="-120"/>
              </a:rPr>
              <a:t>Pull origin  ↓3</a:t>
            </a:r>
            <a:endParaRPr lang="en-US" sz="1500" dirty="0"/>
          </a:p>
        </p:txBody>
      </p:sp>
      <p:sp>
        <p:nvSpPr>
          <p:cNvPr id="13" name="Text 9"/>
          <p:cNvSpPr txBox="1"/>
          <p:nvPr/>
        </p:nvSpPr>
        <p:spPr>
          <a:xfrm>
            <a:off x="1188720" y="2999232"/>
            <a:ext cx="2468880" cy="274320"/>
          </a:xfrm>
          <a:prstGeom prst="rect">
            <a:avLst/>
          </a:prstGeom>
          <a:noFill/>
          <a:ln/>
        </p:spPr>
        <p:txBody>
          <a:bodyPr wrap="square" lIns="0" tIns="0" rIns="0" bIns="0" rtlCol="0" anchor="t"/>
          <a:lstStyle/>
          <a:p>
            <a:pPr marL="0" indent="0">
              <a:buNone/>
            </a:pPr>
            <a:r>
              <a:rPr lang="en-US" sz="1050" dirty="0">
                <a:solidFill>
                  <a:srgbClr val="AEB8C4"/>
                </a:solidFill>
                <a:latin typeface="Arial" pitchFamily="34" charset="0"/>
                <a:ea typeface="Arial" pitchFamily="34" charset="-122"/>
                <a:cs typeface="Arial" pitchFamily="34" charset="-120"/>
              </a:rPr>
              <a:t>Teammates pushed 3 commits</a:t>
            </a:r>
            <a:endParaRPr lang="en-US" sz="1050" dirty="0"/>
          </a:p>
        </p:txBody>
      </p:sp>
      <p:sp>
        <p:nvSpPr>
          <p:cNvPr id="14" name="Shape 10"/>
          <p:cNvSpPr/>
          <p:nvPr/>
        </p:nvSpPr>
        <p:spPr>
          <a:xfrm>
            <a:off x="4069080" y="2816352"/>
            <a:ext cx="274320" cy="274320"/>
          </a:xfrm>
          <a:prstGeom prst="ellipse">
            <a:avLst/>
          </a:prstGeom>
          <a:solidFill>
            <a:srgbClr val="3A6EA5"/>
          </a:solidFill>
          <a:ln w="19050">
            <a:solidFill>
              <a:srgbClr val="3A6EA5"/>
            </a:solidFill>
            <a:prstDash val="solid"/>
          </a:ln>
        </p:spPr>
        <p:txBody>
          <a:bodyPr/>
          <a:lstStyle/>
          <a:p>
            <a:endParaRPr lang="en-US"/>
          </a:p>
        </p:txBody>
      </p:sp>
      <p:sp>
        <p:nvSpPr>
          <p:cNvPr id="15" name="Text 11"/>
          <p:cNvSpPr txBox="1"/>
          <p:nvPr/>
        </p:nvSpPr>
        <p:spPr>
          <a:xfrm>
            <a:off x="4526280" y="2587752"/>
            <a:ext cx="4160520" cy="731520"/>
          </a:xfrm>
          <a:prstGeom prst="rect">
            <a:avLst/>
          </a:prstGeom>
          <a:noFill/>
          <a:ln/>
        </p:spPr>
        <p:txBody>
          <a:bodyPr wrap="square" lIns="0" tIns="0" rIns="0" bIns="0" rtlCol="0" anchor="ctr"/>
          <a:lstStyle/>
          <a:p>
            <a:pPr marL="0" indent="0">
              <a:buNone/>
            </a:pPr>
            <a:r>
              <a:rPr lang="en-US" sz="1350" dirty="0">
                <a:solidFill>
                  <a:srgbClr val="1F2933"/>
                </a:solidFill>
                <a:latin typeface="Arial" pitchFamily="34" charset="0"/>
                <a:ea typeface="Arial" pitchFamily="34" charset="-122"/>
                <a:cs typeface="Arial" pitchFamily="34" charset="-120"/>
              </a:rPr>
              <a:t>Your copy is behind. Pull before doing anything else.</a:t>
            </a:r>
            <a:endParaRPr lang="en-US" sz="1350" dirty="0"/>
          </a:p>
        </p:txBody>
      </p:sp>
      <p:sp>
        <p:nvSpPr>
          <p:cNvPr id="16" name="Shape 12"/>
          <p:cNvSpPr/>
          <p:nvPr/>
        </p:nvSpPr>
        <p:spPr>
          <a:xfrm>
            <a:off x="457200" y="3621024"/>
            <a:ext cx="3291840" cy="822960"/>
          </a:xfrm>
          <a:prstGeom prst="roundRect">
            <a:avLst>
              <a:gd name="adj" fmla="val 8889"/>
            </a:avLst>
          </a:prstGeom>
          <a:solidFill>
            <a:srgbClr val="1B2430"/>
          </a:solidFill>
          <a:ln w="12700">
            <a:solidFill>
              <a:srgbClr val="1B2430"/>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85800" y="3867912"/>
            <a:ext cx="329184" cy="329184"/>
          </a:xfrm>
          <a:prstGeom prst="rect">
            <a:avLst/>
          </a:prstGeom>
        </p:spPr>
      </p:pic>
      <p:sp>
        <p:nvSpPr>
          <p:cNvPr id="18" name="Text 13"/>
          <p:cNvSpPr txBox="1"/>
          <p:nvPr/>
        </p:nvSpPr>
        <p:spPr>
          <a:xfrm>
            <a:off x="1188720" y="3730752"/>
            <a:ext cx="2468880" cy="365760"/>
          </a:xfrm>
          <a:prstGeom prst="rect">
            <a:avLst/>
          </a:prstGeom>
          <a:noFill/>
          <a:ln/>
        </p:spPr>
        <p:txBody>
          <a:bodyPr wrap="square" lIns="0" tIns="0" rIns="0" bIns="0" rtlCol="0" anchor="t"/>
          <a:lstStyle/>
          <a:p>
            <a:pPr marL="0" indent="0">
              <a:buNone/>
            </a:pPr>
            <a:r>
              <a:rPr lang="en-US" sz="1500" b="1" dirty="0">
                <a:solidFill>
                  <a:srgbClr val="FFFFFF"/>
                </a:solidFill>
                <a:latin typeface="Arial" pitchFamily="34" charset="0"/>
                <a:ea typeface="Arial" pitchFamily="34" charset="-122"/>
                <a:cs typeface="Arial" pitchFamily="34" charset="-120"/>
              </a:rPr>
              <a:t>Push origin  ↑2</a:t>
            </a:r>
            <a:endParaRPr lang="en-US" sz="1500" dirty="0"/>
          </a:p>
        </p:txBody>
      </p:sp>
      <p:sp>
        <p:nvSpPr>
          <p:cNvPr id="19" name="Text 14"/>
          <p:cNvSpPr txBox="1"/>
          <p:nvPr/>
        </p:nvSpPr>
        <p:spPr>
          <a:xfrm>
            <a:off x="1188720" y="4078224"/>
            <a:ext cx="2468880" cy="274320"/>
          </a:xfrm>
          <a:prstGeom prst="rect">
            <a:avLst/>
          </a:prstGeom>
          <a:noFill/>
          <a:ln/>
        </p:spPr>
        <p:txBody>
          <a:bodyPr wrap="square" lIns="0" tIns="0" rIns="0" bIns="0" rtlCol="0" anchor="t"/>
          <a:lstStyle/>
          <a:p>
            <a:pPr marL="0" indent="0">
              <a:buNone/>
            </a:pPr>
            <a:r>
              <a:rPr lang="en-US" sz="1050" dirty="0">
                <a:solidFill>
                  <a:srgbClr val="AEB8C4"/>
                </a:solidFill>
                <a:latin typeface="Arial" pitchFamily="34" charset="0"/>
                <a:ea typeface="Arial" pitchFamily="34" charset="-122"/>
                <a:cs typeface="Arial" pitchFamily="34" charset="-120"/>
              </a:rPr>
              <a:t>You have 2 unpushed commits</a:t>
            </a:r>
            <a:endParaRPr lang="en-US" sz="1050" dirty="0"/>
          </a:p>
        </p:txBody>
      </p:sp>
      <p:sp>
        <p:nvSpPr>
          <p:cNvPr id="20" name="Shape 15"/>
          <p:cNvSpPr/>
          <p:nvPr/>
        </p:nvSpPr>
        <p:spPr>
          <a:xfrm>
            <a:off x="4069080" y="3895344"/>
            <a:ext cx="274320" cy="274320"/>
          </a:xfrm>
          <a:prstGeom prst="ellipse">
            <a:avLst/>
          </a:prstGeom>
          <a:solidFill>
            <a:srgbClr val="F2711C"/>
          </a:solidFill>
          <a:ln w="19050">
            <a:solidFill>
              <a:srgbClr val="F2711C"/>
            </a:solidFill>
            <a:prstDash val="solid"/>
          </a:ln>
        </p:spPr>
        <p:txBody>
          <a:bodyPr/>
          <a:lstStyle/>
          <a:p>
            <a:endParaRPr lang="en-US"/>
          </a:p>
        </p:txBody>
      </p:sp>
      <p:sp>
        <p:nvSpPr>
          <p:cNvPr id="21" name="Text 16"/>
          <p:cNvSpPr txBox="1"/>
          <p:nvPr/>
        </p:nvSpPr>
        <p:spPr>
          <a:xfrm>
            <a:off x="4526280" y="3666744"/>
            <a:ext cx="4160520" cy="731520"/>
          </a:xfrm>
          <a:prstGeom prst="rect">
            <a:avLst/>
          </a:prstGeom>
          <a:noFill/>
          <a:ln/>
        </p:spPr>
        <p:txBody>
          <a:bodyPr wrap="square" lIns="0" tIns="0" rIns="0" bIns="0" rtlCol="0" anchor="ctr"/>
          <a:lstStyle/>
          <a:p>
            <a:pPr marL="0" indent="0">
              <a:buNone/>
            </a:pPr>
            <a:r>
              <a:rPr lang="en-US" sz="1350" dirty="0">
                <a:solidFill>
                  <a:srgbClr val="1F2933"/>
                </a:solidFill>
                <a:latin typeface="Arial" pitchFamily="34" charset="0"/>
                <a:ea typeface="Arial" pitchFamily="34" charset="-122"/>
                <a:cs typeface="Arial" pitchFamily="34" charset="-120"/>
              </a:rPr>
              <a:t>Your commits only exist on your laptop. Push to share them.</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The daily loop</a:t>
            </a:r>
            <a:endParaRPr lang="en-US" sz="3000" dirty="0"/>
          </a:p>
        </p:txBody>
      </p:sp>
      <p:sp>
        <p:nvSpPr>
          <p:cNvPr id="3" name="Shape 1"/>
          <p:cNvSpPr/>
          <p:nvPr/>
        </p:nvSpPr>
        <p:spPr>
          <a:xfrm>
            <a:off x="640080" y="1188720"/>
            <a:ext cx="3474720" cy="3474720"/>
          </a:xfrm>
          <a:prstGeom prst="ellipse">
            <a:avLst/>
          </a:prstGeom>
          <a:solidFill>
            <a:srgbClr val="FFFFFF"/>
          </a:solidFill>
          <a:ln w="19050">
            <a:solidFill>
              <a:srgbClr val="D5DAE0"/>
            </a:solidFill>
            <a:prstDash val="solid"/>
          </a:ln>
        </p:spPr>
        <p:txBody>
          <a:bodyPr/>
          <a:lstStyle/>
          <a:p>
            <a:endParaRPr lang="en-US"/>
          </a:p>
        </p:txBody>
      </p:sp>
      <p:sp>
        <p:nvSpPr>
          <p:cNvPr id="4" name="Text 2"/>
          <p:cNvSpPr txBox="1"/>
          <p:nvPr/>
        </p:nvSpPr>
        <p:spPr>
          <a:xfrm>
            <a:off x="1554480" y="2560320"/>
            <a:ext cx="1645920" cy="731520"/>
          </a:xfrm>
          <a:prstGeom prst="rect">
            <a:avLst/>
          </a:prstGeom>
          <a:noFill/>
          <a:ln/>
        </p:spPr>
        <p:txBody>
          <a:bodyPr wrap="square" lIns="0" tIns="0" rIns="0" bIns="0" rtlCol="0" anchor="ctr"/>
          <a:lstStyle/>
          <a:p>
            <a:pPr marL="0" indent="0" algn="ctr">
              <a:buNone/>
            </a:pPr>
            <a:r>
              <a:rPr lang="en-US" sz="1300" dirty="0">
                <a:solidFill>
                  <a:srgbClr val="5B6573"/>
                </a:solidFill>
                <a:latin typeface="Arial" pitchFamily="34" charset="0"/>
                <a:ea typeface="Arial" pitchFamily="34" charset="-122"/>
                <a:cs typeface="Arial" pitchFamily="34" charset="-120"/>
              </a:rPr>
              <a:t>every</a:t>
            </a:r>
            <a:endParaRPr lang="en-US" sz="1300" dirty="0"/>
          </a:p>
          <a:p>
            <a:pPr marL="0" indent="0" algn="ctr">
              <a:buNone/>
            </a:pPr>
            <a:r>
              <a:rPr lang="en-US" sz="1300" dirty="0">
                <a:solidFill>
                  <a:srgbClr val="5B6573"/>
                </a:solidFill>
                <a:latin typeface="Arial" pitchFamily="34" charset="0"/>
                <a:ea typeface="Arial" pitchFamily="34" charset="-122"/>
                <a:cs typeface="Arial" pitchFamily="34" charset="-120"/>
              </a:rPr>
              <a:t>work session</a:t>
            </a:r>
            <a:endParaRPr lang="en-US" sz="1300" dirty="0"/>
          </a:p>
        </p:txBody>
      </p:sp>
      <p:sp>
        <p:nvSpPr>
          <p:cNvPr id="5" name="Shape 3"/>
          <p:cNvSpPr/>
          <p:nvPr/>
        </p:nvSpPr>
        <p:spPr>
          <a:xfrm>
            <a:off x="2103120" y="1234440"/>
            <a:ext cx="548640" cy="548640"/>
          </a:xfrm>
          <a:prstGeom prst="ellipse">
            <a:avLst/>
          </a:prstGeom>
          <a:solidFill>
            <a:srgbClr val="3A6EA5"/>
          </a:solidFill>
          <a:ln w="19050">
            <a:solidFill>
              <a:srgbClr val="3A6EA5"/>
            </a:solidFill>
            <a:prstDash val="solid"/>
          </a:ln>
        </p:spPr>
        <p:txBody>
          <a:bodyPr/>
          <a:lstStyle/>
          <a:p>
            <a:endParaRPr lang="en-US"/>
          </a:p>
        </p:txBody>
      </p:sp>
      <p:sp>
        <p:nvSpPr>
          <p:cNvPr id="6" name="Text 4"/>
          <p:cNvSpPr txBox="1"/>
          <p:nvPr/>
        </p:nvSpPr>
        <p:spPr>
          <a:xfrm>
            <a:off x="2103120" y="12344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Shape 5"/>
          <p:cNvSpPr/>
          <p:nvPr/>
        </p:nvSpPr>
        <p:spPr>
          <a:xfrm>
            <a:off x="3451071" y="2213784"/>
            <a:ext cx="548640" cy="548640"/>
          </a:xfrm>
          <a:prstGeom prst="ellipse">
            <a:avLst/>
          </a:prstGeom>
          <a:solidFill>
            <a:srgbClr val="2E9E6B"/>
          </a:solidFill>
          <a:ln w="19050">
            <a:solidFill>
              <a:srgbClr val="2E9E6B"/>
            </a:solidFill>
            <a:prstDash val="solid"/>
          </a:ln>
        </p:spPr>
        <p:txBody>
          <a:bodyPr/>
          <a:lstStyle/>
          <a:p>
            <a:endParaRPr lang="en-US"/>
          </a:p>
        </p:txBody>
      </p:sp>
      <p:sp>
        <p:nvSpPr>
          <p:cNvPr id="8" name="Text 6"/>
          <p:cNvSpPr txBox="1"/>
          <p:nvPr/>
        </p:nvSpPr>
        <p:spPr>
          <a:xfrm>
            <a:off x="3451071" y="221378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9" name="Shape 7"/>
          <p:cNvSpPr/>
          <p:nvPr/>
        </p:nvSpPr>
        <p:spPr>
          <a:xfrm>
            <a:off x="2936200" y="3798396"/>
            <a:ext cx="548640" cy="548640"/>
          </a:xfrm>
          <a:prstGeom prst="ellipse">
            <a:avLst/>
          </a:prstGeom>
          <a:solidFill>
            <a:srgbClr val="2E9E6B"/>
          </a:solidFill>
          <a:ln w="19050">
            <a:solidFill>
              <a:srgbClr val="2E9E6B"/>
            </a:solidFill>
            <a:prstDash val="solid"/>
          </a:ln>
        </p:spPr>
        <p:txBody>
          <a:bodyPr/>
          <a:lstStyle/>
          <a:p>
            <a:endParaRPr lang="en-US"/>
          </a:p>
        </p:txBody>
      </p:sp>
      <p:sp>
        <p:nvSpPr>
          <p:cNvPr id="10" name="Text 8"/>
          <p:cNvSpPr txBox="1"/>
          <p:nvPr/>
        </p:nvSpPr>
        <p:spPr>
          <a:xfrm>
            <a:off x="2936200" y="379839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1" name="Shape 9"/>
          <p:cNvSpPr/>
          <p:nvPr/>
        </p:nvSpPr>
        <p:spPr>
          <a:xfrm>
            <a:off x="1270040" y="3798396"/>
            <a:ext cx="548640" cy="548640"/>
          </a:xfrm>
          <a:prstGeom prst="ellipse">
            <a:avLst/>
          </a:prstGeom>
          <a:solidFill>
            <a:srgbClr val="3A6EA5"/>
          </a:solidFill>
          <a:ln w="19050">
            <a:solidFill>
              <a:srgbClr val="3A6EA5"/>
            </a:solidFill>
            <a:prstDash val="solid"/>
          </a:ln>
        </p:spPr>
        <p:txBody>
          <a:bodyPr/>
          <a:lstStyle/>
          <a:p>
            <a:endParaRPr lang="en-US"/>
          </a:p>
        </p:txBody>
      </p:sp>
      <p:sp>
        <p:nvSpPr>
          <p:cNvPr id="12" name="Text 10"/>
          <p:cNvSpPr txBox="1"/>
          <p:nvPr/>
        </p:nvSpPr>
        <p:spPr>
          <a:xfrm>
            <a:off x="1270040" y="379839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3" name="Shape 11"/>
          <p:cNvSpPr/>
          <p:nvPr/>
        </p:nvSpPr>
        <p:spPr>
          <a:xfrm>
            <a:off x="755169" y="2213784"/>
            <a:ext cx="548640" cy="548640"/>
          </a:xfrm>
          <a:prstGeom prst="ellipse">
            <a:avLst/>
          </a:prstGeom>
          <a:solidFill>
            <a:srgbClr val="F2711C"/>
          </a:solidFill>
          <a:ln w="19050">
            <a:solidFill>
              <a:srgbClr val="F2711C"/>
            </a:solidFill>
            <a:prstDash val="solid"/>
          </a:ln>
        </p:spPr>
        <p:txBody>
          <a:bodyPr/>
          <a:lstStyle/>
          <a:p>
            <a:endParaRPr lang="en-US"/>
          </a:p>
        </p:txBody>
      </p:sp>
      <p:sp>
        <p:nvSpPr>
          <p:cNvPr id="14" name="Text 12"/>
          <p:cNvSpPr txBox="1"/>
          <p:nvPr/>
        </p:nvSpPr>
        <p:spPr>
          <a:xfrm>
            <a:off x="755169" y="221378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15" name="Text 13"/>
          <p:cNvSpPr txBox="1"/>
          <p:nvPr/>
        </p:nvSpPr>
        <p:spPr>
          <a:xfrm>
            <a:off x="4754880" y="1097280"/>
            <a:ext cx="3931920" cy="320040"/>
          </a:xfrm>
          <a:prstGeom prst="rect">
            <a:avLst/>
          </a:prstGeom>
          <a:noFill/>
          <a:ln/>
        </p:spPr>
        <p:txBody>
          <a:bodyPr wrap="square" lIns="0" tIns="0" rIns="0" bIns="0" rtlCol="0" anchor="t"/>
          <a:lstStyle/>
          <a:p>
            <a:pPr marL="0" indent="0">
              <a:buNone/>
            </a:pPr>
            <a:r>
              <a:rPr lang="en-US" sz="1600" b="1" dirty="0">
                <a:solidFill>
                  <a:srgbClr val="3A6EA5"/>
                </a:solidFill>
                <a:latin typeface="Arial" pitchFamily="34" charset="0"/>
                <a:ea typeface="Arial" pitchFamily="34" charset="-122"/>
                <a:cs typeface="Arial" pitchFamily="34" charset="-120"/>
              </a:rPr>
              <a:t>1.  Pull</a:t>
            </a:r>
            <a:endParaRPr lang="en-US" sz="1600" dirty="0"/>
          </a:p>
        </p:txBody>
      </p:sp>
      <p:sp>
        <p:nvSpPr>
          <p:cNvPr id="16" name="Text 14"/>
          <p:cNvSpPr txBox="1"/>
          <p:nvPr/>
        </p:nvSpPr>
        <p:spPr>
          <a:xfrm>
            <a:off x="5120640" y="1417320"/>
            <a:ext cx="3566160" cy="320040"/>
          </a:xfrm>
          <a:prstGeom prst="rect">
            <a:avLst/>
          </a:prstGeom>
          <a:noFill/>
          <a:ln/>
        </p:spPr>
        <p:txBody>
          <a:bodyPr wrap="square" lIns="0" tIns="0" rIns="0" bIns="0" rtlCol="0" anchor="t"/>
          <a:lstStyle/>
          <a:p>
            <a:pPr marL="0" indent="0">
              <a:buNone/>
            </a:pPr>
            <a:r>
              <a:rPr lang="en-US" sz="1250" dirty="0">
                <a:solidFill>
                  <a:srgbClr val="5B6573"/>
                </a:solidFill>
                <a:latin typeface="Arial" pitchFamily="34" charset="0"/>
                <a:ea typeface="Arial" pitchFamily="34" charset="-122"/>
                <a:cs typeface="Arial" pitchFamily="34" charset="-120"/>
              </a:rPr>
              <a:t>Get everyone's latest work first</a:t>
            </a:r>
            <a:endParaRPr lang="en-US" sz="1250" dirty="0"/>
          </a:p>
        </p:txBody>
      </p:sp>
      <p:sp>
        <p:nvSpPr>
          <p:cNvPr id="17" name="Text 15"/>
          <p:cNvSpPr txBox="1"/>
          <p:nvPr/>
        </p:nvSpPr>
        <p:spPr>
          <a:xfrm>
            <a:off x="4754880" y="1810512"/>
            <a:ext cx="3931920" cy="320040"/>
          </a:xfrm>
          <a:prstGeom prst="rect">
            <a:avLst/>
          </a:prstGeom>
          <a:noFill/>
          <a:ln/>
        </p:spPr>
        <p:txBody>
          <a:bodyPr wrap="square" lIns="0" tIns="0" rIns="0" bIns="0" rtlCol="0" anchor="t"/>
          <a:lstStyle/>
          <a:p>
            <a:pPr marL="0" indent="0">
              <a:buNone/>
            </a:pPr>
            <a:r>
              <a:rPr lang="en-US" sz="1600" b="1" dirty="0">
                <a:solidFill>
                  <a:srgbClr val="2E9E6B"/>
                </a:solidFill>
                <a:latin typeface="Arial" pitchFamily="34" charset="0"/>
                <a:ea typeface="Arial" pitchFamily="34" charset="-122"/>
                <a:cs typeface="Arial" pitchFamily="34" charset="-120"/>
              </a:rPr>
              <a:t>2.  Work</a:t>
            </a:r>
            <a:endParaRPr lang="en-US" sz="1600" dirty="0"/>
          </a:p>
        </p:txBody>
      </p:sp>
      <p:sp>
        <p:nvSpPr>
          <p:cNvPr id="18" name="Text 16"/>
          <p:cNvSpPr txBox="1"/>
          <p:nvPr/>
        </p:nvSpPr>
        <p:spPr>
          <a:xfrm>
            <a:off x="5120640" y="2130552"/>
            <a:ext cx="3566160" cy="320040"/>
          </a:xfrm>
          <a:prstGeom prst="rect">
            <a:avLst/>
          </a:prstGeom>
          <a:noFill/>
          <a:ln/>
        </p:spPr>
        <p:txBody>
          <a:bodyPr wrap="square" lIns="0" tIns="0" rIns="0" bIns="0" rtlCol="0" anchor="t"/>
          <a:lstStyle/>
          <a:p>
            <a:pPr marL="0" indent="0">
              <a:buNone/>
            </a:pPr>
            <a:r>
              <a:rPr lang="en-US" sz="1250" dirty="0">
                <a:solidFill>
                  <a:srgbClr val="5B6573"/>
                </a:solidFill>
                <a:latin typeface="Arial" pitchFamily="34" charset="0"/>
                <a:ea typeface="Arial" pitchFamily="34" charset="-122"/>
                <a:cs typeface="Arial" pitchFamily="34" charset="-120"/>
              </a:rPr>
              <a:t>Edit and save files normally</a:t>
            </a:r>
            <a:endParaRPr lang="en-US" sz="1250" dirty="0"/>
          </a:p>
        </p:txBody>
      </p:sp>
      <p:sp>
        <p:nvSpPr>
          <p:cNvPr id="19" name="Text 17"/>
          <p:cNvSpPr txBox="1"/>
          <p:nvPr/>
        </p:nvSpPr>
        <p:spPr>
          <a:xfrm>
            <a:off x="4754880" y="2523744"/>
            <a:ext cx="3931920" cy="320040"/>
          </a:xfrm>
          <a:prstGeom prst="rect">
            <a:avLst/>
          </a:prstGeom>
          <a:noFill/>
          <a:ln/>
        </p:spPr>
        <p:txBody>
          <a:bodyPr wrap="square" lIns="0" tIns="0" rIns="0" bIns="0" rtlCol="0" anchor="t"/>
          <a:lstStyle/>
          <a:p>
            <a:pPr marL="0" indent="0">
              <a:buNone/>
            </a:pPr>
            <a:r>
              <a:rPr lang="en-US" sz="1600" b="1" dirty="0">
                <a:solidFill>
                  <a:srgbClr val="2E9E6B"/>
                </a:solidFill>
                <a:latin typeface="Arial" pitchFamily="34" charset="0"/>
                <a:ea typeface="Arial" pitchFamily="34" charset="-122"/>
                <a:cs typeface="Arial" pitchFamily="34" charset="-120"/>
              </a:rPr>
              <a:t>3.  Commit</a:t>
            </a:r>
            <a:endParaRPr lang="en-US" sz="1600" dirty="0"/>
          </a:p>
        </p:txBody>
      </p:sp>
      <p:sp>
        <p:nvSpPr>
          <p:cNvPr id="20" name="Text 18"/>
          <p:cNvSpPr txBox="1"/>
          <p:nvPr/>
        </p:nvSpPr>
        <p:spPr>
          <a:xfrm>
            <a:off x="5120640" y="2843784"/>
            <a:ext cx="3566160" cy="320040"/>
          </a:xfrm>
          <a:prstGeom prst="rect">
            <a:avLst/>
          </a:prstGeom>
          <a:noFill/>
          <a:ln/>
        </p:spPr>
        <p:txBody>
          <a:bodyPr wrap="square" lIns="0" tIns="0" rIns="0" bIns="0" rtlCol="0" anchor="t"/>
          <a:lstStyle/>
          <a:p>
            <a:pPr marL="0" indent="0">
              <a:buNone/>
            </a:pPr>
            <a:r>
              <a:rPr lang="en-US" sz="1250" dirty="0">
                <a:solidFill>
                  <a:srgbClr val="5B6573"/>
                </a:solidFill>
                <a:latin typeface="Arial" pitchFamily="34" charset="0"/>
                <a:ea typeface="Arial" pitchFamily="34" charset="-122"/>
                <a:cs typeface="Arial" pitchFamily="34" charset="-120"/>
              </a:rPr>
              <a:t>Small, focused snapshots with clear messages</a:t>
            </a:r>
            <a:endParaRPr lang="en-US" sz="1250" dirty="0"/>
          </a:p>
        </p:txBody>
      </p:sp>
      <p:sp>
        <p:nvSpPr>
          <p:cNvPr id="21" name="Text 19"/>
          <p:cNvSpPr txBox="1"/>
          <p:nvPr/>
        </p:nvSpPr>
        <p:spPr>
          <a:xfrm>
            <a:off x="4754880" y="3236976"/>
            <a:ext cx="3931920" cy="320040"/>
          </a:xfrm>
          <a:prstGeom prst="rect">
            <a:avLst/>
          </a:prstGeom>
          <a:noFill/>
          <a:ln/>
        </p:spPr>
        <p:txBody>
          <a:bodyPr wrap="square" lIns="0" tIns="0" rIns="0" bIns="0" rtlCol="0" anchor="t"/>
          <a:lstStyle/>
          <a:p>
            <a:pPr marL="0" indent="0">
              <a:buNone/>
            </a:pPr>
            <a:r>
              <a:rPr lang="en-US" sz="1600" b="1" dirty="0">
                <a:solidFill>
                  <a:srgbClr val="3A6EA5"/>
                </a:solidFill>
                <a:latin typeface="Arial" pitchFamily="34" charset="0"/>
                <a:ea typeface="Arial" pitchFamily="34" charset="-122"/>
                <a:cs typeface="Arial" pitchFamily="34" charset="-120"/>
              </a:rPr>
              <a:t>4.  Pull again</a:t>
            </a:r>
            <a:endParaRPr lang="en-US" sz="1600" dirty="0"/>
          </a:p>
        </p:txBody>
      </p:sp>
      <p:sp>
        <p:nvSpPr>
          <p:cNvPr id="22" name="Text 20"/>
          <p:cNvSpPr txBox="1"/>
          <p:nvPr/>
        </p:nvSpPr>
        <p:spPr>
          <a:xfrm>
            <a:off x="5120640" y="3557016"/>
            <a:ext cx="3566160" cy="320040"/>
          </a:xfrm>
          <a:prstGeom prst="rect">
            <a:avLst/>
          </a:prstGeom>
          <a:noFill/>
          <a:ln/>
        </p:spPr>
        <p:txBody>
          <a:bodyPr wrap="square" lIns="0" tIns="0" rIns="0" bIns="0" rtlCol="0" anchor="t"/>
          <a:lstStyle/>
          <a:p>
            <a:pPr marL="0" indent="0">
              <a:buNone/>
            </a:pPr>
            <a:r>
              <a:rPr lang="en-US" sz="1250" dirty="0">
                <a:solidFill>
                  <a:srgbClr val="5B6573"/>
                </a:solidFill>
                <a:latin typeface="Arial" pitchFamily="34" charset="0"/>
                <a:ea typeface="Arial" pitchFamily="34" charset="-122"/>
                <a:cs typeface="Arial" pitchFamily="34" charset="-120"/>
              </a:rPr>
              <a:t>Catch anything pushed while you worked</a:t>
            </a:r>
            <a:endParaRPr lang="en-US" sz="1250" dirty="0"/>
          </a:p>
        </p:txBody>
      </p:sp>
      <p:sp>
        <p:nvSpPr>
          <p:cNvPr id="23" name="Text 21"/>
          <p:cNvSpPr txBox="1"/>
          <p:nvPr/>
        </p:nvSpPr>
        <p:spPr>
          <a:xfrm>
            <a:off x="4754880" y="3950208"/>
            <a:ext cx="3931920" cy="320040"/>
          </a:xfrm>
          <a:prstGeom prst="rect">
            <a:avLst/>
          </a:prstGeom>
          <a:noFill/>
          <a:ln/>
        </p:spPr>
        <p:txBody>
          <a:bodyPr wrap="square" lIns="0" tIns="0" rIns="0" bIns="0" rtlCol="0" anchor="t"/>
          <a:lstStyle/>
          <a:p>
            <a:pPr marL="0" indent="0">
              <a:buNone/>
            </a:pPr>
            <a:r>
              <a:rPr lang="en-US" sz="1600" b="1" dirty="0">
                <a:solidFill>
                  <a:srgbClr val="F2711C"/>
                </a:solidFill>
                <a:latin typeface="Arial" pitchFamily="34" charset="0"/>
                <a:ea typeface="Arial" pitchFamily="34" charset="-122"/>
                <a:cs typeface="Arial" pitchFamily="34" charset="-120"/>
              </a:rPr>
              <a:t>5.  Push</a:t>
            </a:r>
            <a:endParaRPr lang="en-US" sz="1600" dirty="0"/>
          </a:p>
        </p:txBody>
      </p:sp>
      <p:sp>
        <p:nvSpPr>
          <p:cNvPr id="24" name="Text 22"/>
          <p:cNvSpPr txBox="1"/>
          <p:nvPr/>
        </p:nvSpPr>
        <p:spPr>
          <a:xfrm>
            <a:off x="5120640" y="4270248"/>
            <a:ext cx="3566160" cy="320040"/>
          </a:xfrm>
          <a:prstGeom prst="rect">
            <a:avLst/>
          </a:prstGeom>
          <a:noFill/>
          <a:ln/>
        </p:spPr>
        <p:txBody>
          <a:bodyPr wrap="square" lIns="0" tIns="0" rIns="0" bIns="0" rtlCol="0" anchor="t"/>
          <a:lstStyle/>
          <a:p>
            <a:pPr marL="0" indent="0">
              <a:buNone/>
            </a:pPr>
            <a:r>
              <a:rPr lang="en-US" sz="1250" dirty="0">
                <a:solidFill>
                  <a:srgbClr val="5B6573"/>
                </a:solidFill>
                <a:latin typeface="Arial" pitchFamily="34" charset="0"/>
                <a:ea typeface="Arial" pitchFamily="34" charset="-122"/>
                <a:cs typeface="Arial" pitchFamily="34" charset="-120"/>
              </a:rPr>
              <a:t>Share your commits before you leave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Where things are in GitHub Desktop</a:t>
            </a:r>
            <a:endParaRPr lang="en-US" sz="3000" dirty="0"/>
          </a:p>
        </p:txBody>
      </p:sp>
      <p:sp>
        <p:nvSpPr>
          <p:cNvPr id="3" name="Shape 1"/>
          <p:cNvSpPr/>
          <p:nvPr/>
        </p:nvSpPr>
        <p:spPr>
          <a:xfrm>
            <a:off x="457200" y="1005840"/>
            <a:ext cx="5760720" cy="3657600"/>
          </a:xfrm>
          <a:prstGeom prst="roundRect">
            <a:avLst>
              <a:gd name="adj" fmla="val 2000"/>
            </a:avLst>
          </a:prstGeom>
          <a:solidFill>
            <a:srgbClr val="FFFFFF"/>
          </a:solidFill>
          <a:ln w="12700">
            <a:solidFill>
              <a:srgbClr val="D5DAE0"/>
            </a:solidFill>
            <a:prstDash val="solid"/>
          </a:ln>
        </p:spPr>
        <p:txBody>
          <a:bodyPr/>
          <a:lstStyle/>
          <a:p>
            <a:endParaRPr lang="en-US"/>
          </a:p>
        </p:txBody>
      </p:sp>
      <p:sp>
        <p:nvSpPr>
          <p:cNvPr id="4" name="Shape 2"/>
          <p:cNvSpPr/>
          <p:nvPr/>
        </p:nvSpPr>
        <p:spPr>
          <a:xfrm>
            <a:off x="457200" y="1005840"/>
            <a:ext cx="5760720" cy="502920"/>
          </a:xfrm>
          <a:prstGeom prst="rect">
            <a:avLst/>
          </a:prstGeom>
          <a:solidFill>
            <a:srgbClr val="1B2430"/>
          </a:solidFill>
          <a:ln w="12700">
            <a:solidFill>
              <a:srgbClr val="1B2430"/>
            </a:solidFill>
            <a:prstDash val="solid"/>
          </a:ln>
        </p:spPr>
        <p:txBody>
          <a:bodyPr/>
          <a:lstStyle/>
          <a:p>
            <a:endParaRPr lang="en-US"/>
          </a:p>
        </p:txBody>
      </p:sp>
      <p:sp>
        <p:nvSpPr>
          <p:cNvPr id="5" name="Text 3"/>
          <p:cNvSpPr txBox="1"/>
          <p:nvPr/>
        </p:nvSpPr>
        <p:spPr>
          <a:xfrm>
            <a:off x="594360" y="1060704"/>
            <a:ext cx="1737360" cy="201168"/>
          </a:xfrm>
          <a:prstGeom prst="rect">
            <a:avLst/>
          </a:prstGeom>
          <a:noFill/>
          <a:ln/>
        </p:spPr>
        <p:txBody>
          <a:bodyPr wrap="square" lIns="0" tIns="0" rIns="0" bIns="0" rtlCol="0" anchor="t"/>
          <a:lstStyle/>
          <a:p>
            <a:pPr marL="0" indent="0">
              <a:buNone/>
            </a:pPr>
            <a:r>
              <a:rPr lang="en-US" sz="800" dirty="0">
                <a:solidFill>
                  <a:srgbClr val="AEB8C4"/>
                </a:solidFill>
                <a:latin typeface="Arial" pitchFamily="34" charset="0"/>
                <a:ea typeface="Arial" pitchFamily="34" charset="-122"/>
                <a:cs typeface="Arial" pitchFamily="34" charset="-120"/>
              </a:rPr>
              <a:t>Current repository</a:t>
            </a:r>
            <a:endParaRPr lang="en-US" sz="800" dirty="0"/>
          </a:p>
        </p:txBody>
      </p:sp>
      <p:sp>
        <p:nvSpPr>
          <p:cNvPr id="6" name="Text 4"/>
          <p:cNvSpPr txBox="1"/>
          <p:nvPr/>
        </p:nvSpPr>
        <p:spPr>
          <a:xfrm>
            <a:off x="594360" y="1252728"/>
            <a:ext cx="1737360" cy="228600"/>
          </a:xfrm>
          <a:prstGeom prst="rect">
            <a:avLst/>
          </a:prstGeom>
          <a:noFill/>
          <a:ln/>
        </p:spPr>
        <p:txBody>
          <a:bodyPr wrap="square" lIns="0" tIns="0" rIns="0" bIns="0" rtlCol="0" anchor="t"/>
          <a:lstStyle/>
          <a:p>
            <a:pPr marL="0" indent="0">
              <a:buNone/>
            </a:pPr>
            <a:r>
              <a:rPr lang="en-US" sz="1050" b="1" dirty="0">
                <a:solidFill>
                  <a:srgbClr val="FFFFFF"/>
                </a:solidFill>
                <a:latin typeface="Arial" pitchFamily="34" charset="0"/>
                <a:ea typeface="Arial" pitchFamily="34" charset="-122"/>
                <a:cs typeface="Arial" pitchFamily="34" charset="-120"/>
              </a:rPr>
              <a:t>Baja-Controls</a:t>
            </a:r>
            <a:endParaRPr lang="en-US" sz="1050" dirty="0"/>
          </a:p>
        </p:txBody>
      </p:sp>
      <p:sp>
        <p:nvSpPr>
          <p:cNvPr id="7" name="Text 5"/>
          <p:cNvSpPr txBox="1"/>
          <p:nvPr/>
        </p:nvSpPr>
        <p:spPr>
          <a:xfrm>
            <a:off x="2514600" y="1060704"/>
            <a:ext cx="1737360" cy="201168"/>
          </a:xfrm>
          <a:prstGeom prst="rect">
            <a:avLst/>
          </a:prstGeom>
          <a:noFill/>
          <a:ln/>
        </p:spPr>
        <p:txBody>
          <a:bodyPr wrap="square" lIns="0" tIns="0" rIns="0" bIns="0" rtlCol="0" anchor="t"/>
          <a:lstStyle/>
          <a:p>
            <a:pPr marL="0" indent="0">
              <a:buNone/>
            </a:pPr>
            <a:r>
              <a:rPr lang="en-US" sz="800" dirty="0">
                <a:solidFill>
                  <a:srgbClr val="AEB8C4"/>
                </a:solidFill>
                <a:latin typeface="Arial" pitchFamily="34" charset="0"/>
                <a:ea typeface="Arial" pitchFamily="34" charset="-122"/>
                <a:cs typeface="Arial" pitchFamily="34" charset="-120"/>
              </a:rPr>
              <a:t>Current branch</a:t>
            </a:r>
            <a:endParaRPr lang="en-US" sz="800" dirty="0"/>
          </a:p>
        </p:txBody>
      </p:sp>
      <p:sp>
        <p:nvSpPr>
          <p:cNvPr id="8" name="Text 6"/>
          <p:cNvSpPr txBox="1"/>
          <p:nvPr/>
        </p:nvSpPr>
        <p:spPr>
          <a:xfrm>
            <a:off x="2514600" y="1252728"/>
            <a:ext cx="1737360" cy="228600"/>
          </a:xfrm>
          <a:prstGeom prst="rect">
            <a:avLst/>
          </a:prstGeom>
          <a:noFill/>
          <a:ln/>
        </p:spPr>
        <p:txBody>
          <a:bodyPr wrap="square" lIns="0" tIns="0" rIns="0" bIns="0" rtlCol="0" anchor="t"/>
          <a:lstStyle/>
          <a:p>
            <a:pPr marL="0" indent="0">
              <a:buNone/>
            </a:pPr>
            <a:r>
              <a:rPr lang="en-US" sz="1050" b="1" dirty="0">
                <a:solidFill>
                  <a:srgbClr val="FFFFFF"/>
                </a:solidFill>
                <a:latin typeface="Arial" pitchFamily="34" charset="0"/>
                <a:ea typeface="Arial" pitchFamily="34" charset="-122"/>
                <a:cs typeface="Arial" pitchFamily="34" charset="-120"/>
              </a:rPr>
              <a:t>main</a:t>
            </a:r>
            <a:endParaRPr lang="en-US" sz="1050" dirty="0"/>
          </a:p>
        </p:txBody>
      </p:sp>
      <p:sp>
        <p:nvSpPr>
          <p:cNvPr id="9" name="Text 7"/>
          <p:cNvSpPr txBox="1"/>
          <p:nvPr/>
        </p:nvSpPr>
        <p:spPr>
          <a:xfrm>
            <a:off x="4434840" y="1060704"/>
            <a:ext cx="1371600" cy="228600"/>
          </a:xfrm>
          <a:prstGeom prst="rect">
            <a:avLst/>
          </a:prstGeom>
          <a:noFill/>
          <a:ln/>
        </p:spPr>
        <p:txBody>
          <a:bodyPr wrap="square" lIns="0" tIns="0" rIns="0" bIns="0" rtlCol="0" anchor="t"/>
          <a:lstStyle/>
          <a:p>
            <a:pPr marL="0" indent="0">
              <a:buNone/>
            </a:pPr>
            <a:r>
              <a:rPr lang="en-US" sz="1050" b="1" dirty="0">
                <a:solidFill>
                  <a:srgbClr val="FFFFFF"/>
                </a:solidFill>
                <a:latin typeface="Arial" pitchFamily="34" charset="0"/>
                <a:ea typeface="Arial" pitchFamily="34" charset="-122"/>
                <a:cs typeface="Arial" pitchFamily="34" charset="-120"/>
              </a:rPr>
              <a:t>Push origin ↑1</a:t>
            </a:r>
            <a:endParaRPr lang="en-US" sz="1050" dirty="0"/>
          </a:p>
        </p:txBody>
      </p:sp>
      <p:sp>
        <p:nvSpPr>
          <p:cNvPr id="10" name="Text 8"/>
          <p:cNvSpPr txBox="1"/>
          <p:nvPr/>
        </p:nvSpPr>
        <p:spPr>
          <a:xfrm>
            <a:off x="4434840" y="1280160"/>
            <a:ext cx="1371600" cy="201168"/>
          </a:xfrm>
          <a:prstGeom prst="rect">
            <a:avLst/>
          </a:prstGeom>
          <a:noFill/>
          <a:ln/>
        </p:spPr>
        <p:txBody>
          <a:bodyPr wrap="square" lIns="0" tIns="0" rIns="0" bIns="0" rtlCol="0" anchor="t"/>
          <a:lstStyle/>
          <a:p>
            <a:pPr marL="0" indent="0">
              <a:buNone/>
            </a:pPr>
            <a:r>
              <a:rPr lang="en-US" sz="800" dirty="0">
                <a:solidFill>
                  <a:srgbClr val="AEB8C4"/>
                </a:solidFill>
                <a:latin typeface="Arial" pitchFamily="34" charset="0"/>
                <a:ea typeface="Arial" pitchFamily="34" charset="-122"/>
                <a:cs typeface="Arial" pitchFamily="34" charset="-120"/>
              </a:rPr>
              <a:t>Last fetched 1 min ago</a:t>
            </a:r>
            <a:endParaRPr lang="en-US" sz="800" dirty="0"/>
          </a:p>
        </p:txBody>
      </p:sp>
      <p:sp>
        <p:nvSpPr>
          <p:cNvPr id="11" name="Shape 9"/>
          <p:cNvSpPr/>
          <p:nvPr/>
        </p:nvSpPr>
        <p:spPr>
          <a:xfrm>
            <a:off x="457200" y="1508760"/>
            <a:ext cx="2103120" cy="3154680"/>
          </a:xfrm>
          <a:prstGeom prst="rect">
            <a:avLst/>
          </a:prstGeom>
          <a:solidFill>
            <a:srgbClr val="F1F3F5"/>
          </a:solidFill>
          <a:ln w="12700">
            <a:solidFill>
              <a:srgbClr val="D5DAE0"/>
            </a:solidFill>
            <a:prstDash val="solid"/>
          </a:ln>
        </p:spPr>
        <p:txBody>
          <a:bodyPr/>
          <a:lstStyle/>
          <a:p>
            <a:endParaRPr lang="en-US"/>
          </a:p>
        </p:txBody>
      </p:sp>
      <p:sp>
        <p:nvSpPr>
          <p:cNvPr id="12" name="Text 10"/>
          <p:cNvSpPr txBox="1"/>
          <p:nvPr/>
        </p:nvSpPr>
        <p:spPr>
          <a:xfrm>
            <a:off x="548640" y="1600200"/>
            <a:ext cx="914400" cy="274320"/>
          </a:xfrm>
          <a:prstGeom prst="rect">
            <a:avLst/>
          </a:prstGeom>
          <a:noFill/>
          <a:ln/>
        </p:spPr>
        <p:txBody>
          <a:bodyPr wrap="square" lIns="0" tIns="0" rIns="0" bIns="0" rtlCol="0" anchor="t"/>
          <a:lstStyle/>
          <a:p>
            <a:pPr marL="0" indent="0">
              <a:buNone/>
            </a:pPr>
            <a:r>
              <a:rPr lang="en-US" sz="1000" b="1" dirty="0">
                <a:solidFill>
                  <a:srgbClr val="F2711C"/>
                </a:solidFill>
                <a:latin typeface="Arial" pitchFamily="34" charset="0"/>
                <a:ea typeface="Arial" pitchFamily="34" charset="-122"/>
                <a:cs typeface="Arial" pitchFamily="34" charset="-120"/>
              </a:rPr>
              <a:t>Changes</a:t>
            </a:r>
            <a:endParaRPr lang="en-US" sz="1000" dirty="0"/>
          </a:p>
        </p:txBody>
      </p:sp>
      <p:sp>
        <p:nvSpPr>
          <p:cNvPr id="13" name="Text 11"/>
          <p:cNvSpPr txBox="1"/>
          <p:nvPr/>
        </p:nvSpPr>
        <p:spPr>
          <a:xfrm>
            <a:off x="1508760" y="1600200"/>
            <a:ext cx="914400" cy="274320"/>
          </a:xfrm>
          <a:prstGeom prst="rect">
            <a:avLst/>
          </a:prstGeom>
          <a:noFill/>
          <a:ln/>
        </p:spPr>
        <p:txBody>
          <a:bodyPr wrap="square" lIns="0" tIns="0" rIns="0" bIns="0" rtlCol="0" anchor="t"/>
          <a:lstStyle/>
          <a:p>
            <a:pPr marL="0" indent="0">
              <a:buNone/>
            </a:pPr>
            <a:r>
              <a:rPr lang="en-US" sz="1000" dirty="0">
                <a:solidFill>
                  <a:srgbClr val="5B6573"/>
                </a:solidFill>
                <a:latin typeface="Arial" pitchFamily="34" charset="0"/>
                <a:ea typeface="Arial" pitchFamily="34" charset="-122"/>
                <a:cs typeface="Arial" pitchFamily="34" charset="-120"/>
              </a:rPr>
              <a:t>History</a:t>
            </a:r>
            <a:endParaRPr lang="en-US" sz="1000" dirty="0"/>
          </a:p>
        </p:txBody>
      </p:sp>
      <p:sp>
        <p:nvSpPr>
          <p:cNvPr id="14" name="Shape 12"/>
          <p:cNvSpPr/>
          <p:nvPr/>
        </p:nvSpPr>
        <p:spPr>
          <a:xfrm>
            <a:off x="566928" y="1993392"/>
            <a:ext cx="164592" cy="164592"/>
          </a:xfrm>
          <a:prstGeom prst="roundRect">
            <a:avLst>
              <a:gd name="adj" fmla="val 16667"/>
            </a:avLst>
          </a:prstGeom>
          <a:solidFill>
            <a:srgbClr val="3A6EA5"/>
          </a:solidFill>
          <a:ln w="12700">
            <a:solidFill>
              <a:srgbClr val="3A6EA5"/>
            </a:solidFill>
            <a:prstDash val="solid"/>
          </a:ln>
        </p:spPr>
        <p:txBody>
          <a:bodyPr/>
          <a:lstStyle/>
          <a:p>
            <a:endParaRPr lang="en-US"/>
          </a:p>
        </p:txBody>
      </p:sp>
      <p:sp>
        <p:nvSpPr>
          <p:cNvPr id="15" name="Text 13"/>
          <p:cNvSpPr txBox="1"/>
          <p:nvPr/>
        </p:nvSpPr>
        <p:spPr>
          <a:xfrm>
            <a:off x="804672" y="1947672"/>
            <a:ext cx="1691640" cy="256032"/>
          </a:xfrm>
          <a:prstGeom prst="rect">
            <a:avLst/>
          </a:prstGeom>
          <a:noFill/>
          <a:ln/>
        </p:spPr>
        <p:txBody>
          <a:bodyPr wrap="square" lIns="0" tIns="0" rIns="0" bIns="0" rtlCol="0" anchor="ctr"/>
          <a:lstStyle/>
          <a:p>
            <a:pPr marL="0" indent="0">
              <a:buNone/>
            </a:pPr>
            <a:r>
              <a:rPr lang="en-US" sz="850" dirty="0">
                <a:solidFill>
                  <a:srgbClr val="1F2933"/>
                </a:solidFill>
                <a:latin typeface="Courier New" pitchFamily="34" charset="0"/>
                <a:ea typeface="Courier New" pitchFamily="34" charset="-122"/>
                <a:cs typeface="Courier New" pitchFamily="34" charset="-120"/>
              </a:rPr>
              <a:t>firmware/cvt.ino</a:t>
            </a:r>
            <a:endParaRPr lang="en-US" sz="850" dirty="0"/>
          </a:p>
        </p:txBody>
      </p:sp>
      <p:sp>
        <p:nvSpPr>
          <p:cNvPr id="16" name="Shape 14"/>
          <p:cNvSpPr/>
          <p:nvPr/>
        </p:nvSpPr>
        <p:spPr>
          <a:xfrm>
            <a:off x="566928" y="2313432"/>
            <a:ext cx="164592" cy="164592"/>
          </a:xfrm>
          <a:prstGeom prst="roundRect">
            <a:avLst>
              <a:gd name="adj" fmla="val 16667"/>
            </a:avLst>
          </a:prstGeom>
          <a:solidFill>
            <a:srgbClr val="3A6EA5"/>
          </a:solidFill>
          <a:ln w="12700">
            <a:solidFill>
              <a:srgbClr val="3A6EA5"/>
            </a:solidFill>
            <a:prstDash val="solid"/>
          </a:ln>
        </p:spPr>
        <p:txBody>
          <a:bodyPr/>
          <a:lstStyle/>
          <a:p>
            <a:endParaRPr lang="en-US"/>
          </a:p>
        </p:txBody>
      </p:sp>
      <p:sp>
        <p:nvSpPr>
          <p:cNvPr id="17" name="Text 15"/>
          <p:cNvSpPr txBox="1"/>
          <p:nvPr/>
        </p:nvSpPr>
        <p:spPr>
          <a:xfrm>
            <a:off x="804672" y="2267712"/>
            <a:ext cx="1691640" cy="256032"/>
          </a:xfrm>
          <a:prstGeom prst="rect">
            <a:avLst/>
          </a:prstGeom>
          <a:noFill/>
          <a:ln/>
        </p:spPr>
        <p:txBody>
          <a:bodyPr wrap="square" lIns="0" tIns="0" rIns="0" bIns="0" rtlCol="0" anchor="ctr"/>
          <a:lstStyle/>
          <a:p>
            <a:pPr marL="0" indent="0">
              <a:buNone/>
            </a:pPr>
            <a:r>
              <a:rPr lang="en-US" sz="850" dirty="0">
                <a:solidFill>
                  <a:srgbClr val="1F2933"/>
                </a:solidFill>
                <a:latin typeface="Courier New" pitchFamily="34" charset="0"/>
                <a:ea typeface="Courier New" pitchFamily="34" charset="-122"/>
                <a:cs typeface="Courier New" pitchFamily="34" charset="-120"/>
              </a:rPr>
              <a:t>matlab/pid_tune.m</a:t>
            </a:r>
            <a:endParaRPr lang="en-US" sz="850" dirty="0"/>
          </a:p>
        </p:txBody>
      </p:sp>
      <p:sp>
        <p:nvSpPr>
          <p:cNvPr id="18" name="Shape 16"/>
          <p:cNvSpPr/>
          <p:nvPr/>
        </p:nvSpPr>
        <p:spPr>
          <a:xfrm>
            <a:off x="566928" y="2633472"/>
            <a:ext cx="164592" cy="164592"/>
          </a:xfrm>
          <a:prstGeom prst="roundRect">
            <a:avLst>
              <a:gd name="adj" fmla="val 16667"/>
            </a:avLst>
          </a:prstGeom>
          <a:solidFill>
            <a:srgbClr val="FFFFFF"/>
          </a:solidFill>
          <a:ln w="12700">
            <a:solidFill>
              <a:srgbClr val="3A6EA5"/>
            </a:solidFill>
            <a:prstDash val="solid"/>
          </a:ln>
        </p:spPr>
        <p:txBody>
          <a:bodyPr/>
          <a:lstStyle/>
          <a:p>
            <a:endParaRPr lang="en-US"/>
          </a:p>
        </p:txBody>
      </p:sp>
      <p:sp>
        <p:nvSpPr>
          <p:cNvPr id="19" name="Text 17"/>
          <p:cNvSpPr txBox="1"/>
          <p:nvPr/>
        </p:nvSpPr>
        <p:spPr>
          <a:xfrm>
            <a:off x="804672" y="2587752"/>
            <a:ext cx="1691640" cy="256032"/>
          </a:xfrm>
          <a:prstGeom prst="rect">
            <a:avLst/>
          </a:prstGeom>
          <a:noFill/>
          <a:ln/>
        </p:spPr>
        <p:txBody>
          <a:bodyPr wrap="square" lIns="0" tIns="0" rIns="0" bIns="0" rtlCol="0" anchor="ctr"/>
          <a:lstStyle/>
          <a:p>
            <a:pPr marL="0" indent="0">
              <a:buNone/>
            </a:pPr>
            <a:r>
              <a:rPr lang="en-US" sz="850" dirty="0">
                <a:solidFill>
                  <a:srgbClr val="1F2933"/>
                </a:solidFill>
                <a:latin typeface="Courier New" pitchFamily="34" charset="0"/>
                <a:ea typeface="Courier New" pitchFamily="34" charset="-122"/>
                <a:cs typeface="Courier New" pitchFamily="34" charset="-120"/>
              </a:rPr>
              <a:t>docs/wiring.docx</a:t>
            </a:r>
            <a:endParaRPr lang="en-US" sz="850" dirty="0"/>
          </a:p>
        </p:txBody>
      </p:sp>
      <p:sp>
        <p:nvSpPr>
          <p:cNvPr id="20" name="Shape 18"/>
          <p:cNvSpPr/>
          <p:nvPr/>
        </p:nvSpPr>
        <p:spPr>
          <a:xfrm>
            <a:off x="566928" y="3154680"/>
            <a:ext cx="1883664" cy="274320"/>
          </a:xfrm>
          <a:prstGeom prst="roundRect">
            <a:avLst>
              <a:gd name="adj" fmla="val 26667"/>
            </a:avLst>
          </a:prstGeom>
          <a:solidFill>
            <a:srgbClr val="FFFFFF"/>
          </a:solidFill>
          <a:ln w="12700">
            <a:solidFill>
              <a:srgbClr val="D5DAE0"/>
            </a:solidFill>
            <a:prstDash val="solid"/>
          </a:ln>
        </p:spPr>
        <p:txBody>
          <a:bodyPr/>
          <a:lstStyle/>
          <a:p>
            <a:endParaRPr lang="en-US"/>
          </a:p>
        </p:txBody>
      </p:sp>
      <p:sp>
        <p:nvSpPr>
          <p:cNvPr id="21" name="Text 19"/>
          <p:cNvSpPr txBox="1"/>
          <p:nvPr/>
        </p:nvSpPr>
        <p:spPr>
          <a:xfrm>
            <a:off x="640080" y="3154680"/>
            <a:ext cx="1737360" cy="274320"/>
          </a:xfrm>
          <a:prstGeom prst="rect">
            <a:avLst/>
          </a:prstGeom>
          <a:noFill/>
          <a:ln/>
        </p:spPr>
        <p:txBody>
          <a:bodyPr wrap="square" lIns="0" tIns="0" rIns="0" bIns="0" rtlCol="0" anchor="ctr"/>
          <a:lstStyle/>
          <a:p>
            <a:pPr marL="0" indent="0">
              <a:buNone/>
            </a:pPr>
            <a:r>
              <a:rPr lang="en-US" sz="850" dirty="0">
                <a:solidFill>
                  <a:srgbClr val="5B6573"/>
                </a:solidFill>
                <a:latin typeface="Arial" pitchFamily="34" charset="0"/>
                <a:ea typeface="Arial" pitchFamily="34" charset="-122"/>
                <a:cs typeface="Arial" pitchFamily="34" charset="-120"/>
              </a:rPr>
              <a:t>Summary (required)</a:t>
            </a:r>
            <a:endParaRPr lang="en-US" sz="850" dirty="0"/>
          </a:p>
        </p:txBody>
      </p:sp>
      <p:sp>
        <p:nvSpPr>
          <p:cNvPr id="22" name="Shape 20"/>
          <p:cNvSpPr/>
          <p:nvPr/>
        </p:nvSpPr>
        <p:spPr>
          <a:xfrm>
            <a:off x="566928" y="3493008"/>
            <a:ext cx="1883664" cy="502920"/>
          </a:xfrm>
          <a:prstGeom prst="roundRect">
            <a:avLst>
              <a:gd name="adj" fmla="val 14545"/>
            </a:avLst>
          </a:prstGeom>
          <a:solidFill>
            <a:srgbClr val="FFFFFF"/>
          </a:solidFill>
          <a:ln w="12700">
            <a:solidFill>
              <a:srgbClr val="D5DAE0"/>
            </a:solidFill>
            <a:prstDash val="solid"/>
          </a:ln>
        </p:spPr>
        <p:txBody>
          <a:bodyPr/>
          <a:lstStyle/>
          <a:p>
            <a:endParaRPr lang="en-US"/>
          </a:p>
        </p:txBody>
      </p:sp>
      <p:sp>
        <p:nvSpPr>
          <p:cNvPr id="23" name="Text 21"/>
          <p:cNvSpPr txBox="1"/>
          <p:nvPr/>
        </p:nvSpPr>
        <p:spPr>
          <a:xfrm>
            <a:off x="640080" y="3520440"/>
            <a:ext cx="1737360" cy="228600"/>
          </a:xfrm>
          <a:prstGeom prst="rect">
            <a:avLst/>
          </a:prstGeom>
          <a:noFill/>
          <a:ln/>
        </p:spPr>
        <p:txBody>
          <a:bodyPr wrap="square" lIns="0" tIns="0" rIns="0" bIns="0" rtlCol="0" anchor="t"/>
          <a:lstStyle/>
          <a:p>
            <a:pPr marL="0" indent="0">
              <a:buNone/>
            </a:pPr>
            <a:r>
              <a:rPr lang="en-US" sz="850" dirty="0">
                <a:solidFill>
                  <a:srgbClr val="5B6573"/>
                </a:solidFill>
                <a:latin typeface="Arial" pitchFamily="34" charset="0"/>
                <a:ea typeface="Arial" pitchFamily="34" charset="-122"/>
                <a:cs typeface="Arial" pitchFamily="34" charset="-120"/>
              </a:rPr>
              <a:t>Description</a:t>
            </a:r>
            <a:endParaRPr lang="en-US" sz="850" dirty="0"/>
          </a:p>
        </p:txBody>
      </p:sp>
      <p:sp>
        <p:nvSpPr>
          <p:cNvPr id="24" name="Shape 22"/>
          <p:cNvSpPr/>
          <p:nvPr/>
        </p:nvSpPr>
        <p:spPr>
          <a:xfrm>
            <a:off x="566928" y="4114800"/>
            <a:ext cx="1883664" cy="365760"/>
          </a:xfrm>
          <a:prstGeom prst="roundRect">
            <a:avLst>
              <a:gd name="adj" fmla="val 20000"/>
            </a:avLst>
          </a:prstGeom>
          <a:solidFill>
            <a:srgbClr val="3A6EA5"/>
          </a:solidFill>
          <a:ln w="12700">
            <a:solidFill>
              <a:srgbClr val="3A6EA5"/>
            </a:solidFill>
            <a:prstDash val="solid"/>
          </a:ln>
        </p:spPr>
        <p:txBody>
          <a:bodyPr/>
          <a:lstStyle/>
          <a:p>
            <a:endParaRPr lang="en-US"/>
          </a:p>
        </p:txBody>
      </p:sp>
      <p:sp>
        <p:nvSpPr>
          <p:cNvPr id="25" name="Text 23"/>
          <p:cNvSpPr txBox="1"/>
          <p:nvPr/>
        </p:nvSpPr>
        <p:spPr>
          <a:xfrm>
            <a:off x="566928" y="4114800"/>
            <a:ext cx="1883664"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Commit to main</a:t>
            </a:r>
            <a:endParaRPr lang="en-US" sz="1000" dirty="0"/>
          </a:p>
        </p:txBody>
      </p:sp>
      <p:sp>
        <p:nvSpPr>
          <p:cNvPr id="26" name="Text 24"/>
          <p:cNvSpPr txBox="1"/>
          <p:nvPr/>
        </p:nvSpPr>
        <p:spPr>
          <a:xfrm>
            <a:off x="2697480" y="1600200"/>
            <a:ext cx="3383280" cy="274320"/>
          </a:xfrm>
          <a:prstGeom prst="rect">
            <a:avLst/>
          </a:prstGeom>
          <a:noFill/>
          <a:ln/>
        </p:spPr>
        <p:txBody>
          <a:bodyPr wrap="square" lIns="0" tIns="0" rIns="0" bIns="0" rtlCol="0" anchor="t"/>
          <a:lstStyle/>
          <a:p>
            <a:pPr marL="0" indent="0">
              <a:buNone/>
            </a:pPr>
            <a:r>
              <a:rPr lang="en-US" sz="900" b="1" dirty="0">
                <a:solidFill>
                  <a:srgbClr val="1F2933"/>
                </a:solidFill>
                <a:latin typeface="Courier New" pitchFamily="34" charset="0"/>
                <a:ea typeface="Courier New" pitchFamily="34" charset="-122"/>
                <a:cs typeface="Courier New" pitchFamily="34" charset="-120"/>
              </a:rPr>
              <a:t>matlab/pid_tune.m</a:t>
            </a:r>
            <a:endParaRPr lang="en-US" sz="900" dirty="0"/>
          </a:p>
        </p:txBody>
      </p:sp>
      <p:sp>
        <p:nvSpPr>
          <p:cNvPr id="27" name="Shape 25"/>
          <p:cNvSpPr/>
          <p:nvPr/>
        </p:nvSpPr>
        <p:spPr>
          <a:xfrm>
            <a:off x="2651760" y="1965960"/>
            <a:ext cx="3474720" cy="292608"/>
          </a:xfrm>
          <a:prstGeom prst="rect">
            <a:avLst/>
          </a:prstGeom>
          <a:solidFill>
            <a:srgbClr val="F8DEDE"/>
          </a:solidFill>
          <a:ln w="12700">
            <a:solidFill>
              <a:srgbClr val="F8DEDE"/>
            </a:solidFill>
            <a:prstDash val="solid"/>
          </a:ln>
        </p:spPr>
        <p:txBody>
          <a:bodyPr/>
          <a:lstStyle/>
          <a:p>
            <a:endParaRPr lang="en-US"/>
          </a:p>
        </p:txBody>
      </p:sp>
      <p:sp>
        <p:nvSpPr>
          <p:cNvPr id="28" name="Text 26"/>
          <p:cNvSpPr txBox="1"/>
          <p:nvPr/>
        </p:nvSpPr>
        <p:spPr>
          <a:xfrm>
            <a:off x="2743200" y="1965960"/>
            <a:ext cx="3291840" cy="292608"/>
          </a:xfrm>
          <a:prstGeom prst="rect">
            <a:avLst/>
          </a:prstGeom>
          <a:noFill/>
          <a:ln/>
        </p:spPr>
        <p:txBody>
          <a:bodyPr wrap="square" lIns="0" tIns="0" rIns="0" bIns="0" rtlCol="0" anchor="ctr"/>
          <a:lstStyle/>
          <a:p>
            <a:pPr marL="0" indent="0">
              <a:buNone/>
            </a:pPr>
            <a:r>
              <a:rPr lang="en-US" sz="950" dirty="0">
                <a:solidFill>
                  <a:srgbClr val="1F2933"/>
                </a:solidFill>
                <a:latin typeface="Courier New" pitchFamily="34" charset="0"/>
                <a:ea typeface="Courier New" pitchFamily="34" charset="-122"/>
                <a:cs typeface="Courier New" pitchFamily="34" charset="-120"/>
              </a:rPr>
              <a:t>-   Kp = 2.0;</a:t>
            </a:r>
            <a:endParaRPr lang="en-US" sz="950" dirty="0"/>
          </a:p>
        </p:txBody>
      </p:sp>
      <p:sp>
        <p:nvSpPr>
          <p:cNvPr id="29" name="Shape 27"/>
          <p:cNvSpPr/>
          <p:nvPr/>
        </p:nvSpPr>
        <p:spPr>
          <a:xfrm>
            <a:off x="2651760" y="2258568"/>
            <a:ext cx="3474720" cy="292608"/>
          </a:xfrm>
          <a:prstGeom prst="rect">
            <a:avLst/>
          </a:prstGeom>
          <a:solidFill>
            <a:srgbClr val="DDF1E6"/>
          </a:solidFill>
          <a:ln w="12700">
            <a:solidFill>
              <a:srgbClr val="DDF1E6"/>
            </a:solidFill>
            <a:prstDash val="solid"/>
          </a:ln>
        </p:spPr>
        <p:txBody>
          <a:bodyPr/>
          <a:lstStyle/>
          <a:p>
            <a:endParaRPr lang="en-US"/>
          </a:p>
        </p:txBody>
      </p:sp>
      <p:sp>
        <p:nvSpPr>
          <p:cNvPr id="30" name="Text 28"/>
          <p:cNvSpPr txBox="1"/>
          <p:nvPr/>
        </p:nvSpPr>
        <p:spPr>
          <a:xfrm>
            <a:off x="2743200" y="2258568"/>
            <a:ext cx="3291840" cy="292608"/>
          </a:xfrm>
          <a:prstGeom prst="rect">
            <a:avLst/>
          </a:prstGeom>
          <a:noFill/>
          <a:ln/>
        </p:spPr>
        <p:txBody>
          <a:bodyPr wrap="square" lIns="0" tIns="0" rIns="0" bIns="0" rtlCol="0" anchor="ctr"/>
          <a:lstStyle/>
          <a:p>
            <a:pPr marL="0" indent="0">
              <a:buNone/>
            </a:pPr>
            <a:r>
              <a:rPr lang="en-US" sz="950" dirty="0">
                <a:solidFill>
                  <a:srgbClr val="1F2933"/>
                </a:solidFill>
                <a:latin typeface="Courier New" pitchFamily="34" charset="0"/>
                <a:ea typeface="Courier New" pitchFamily="34" charset="-122"/>
                <a:cs typeface="Courier New" pitchFamily="34" charset="-120"/>
              </a:rPr>
              <a:t>+   Kp = 1.4;</a:t>
            </a:r>
            <a:endParaRPr lang="en-US" sz="950" dirty="0"/>
          </a:p>
        </p:txBody>
      </p:sp>
      <p:sp>
        <p:nvSpPr>
          <p:cNvPr id="31" name="Shape 29"/>
          <p:cNvSpPr/>
          <p:nvPr/>
        </p:nvSpPr>
        <p:spPr>
          <a:xfrm>
            <a:off x="2651760" y="2551176"/>
            <a:ext cx="3474720" cy="292608"/>
          </a:xfrm>
          <a:prstGeom prst="rect">
            <a:avLst/>
          </a:prstGeom>
          <a:solidFill>
            <a:srgbClr val="FFFFFF"/>
          </a:solidFill>
          <a:ln w="12700">
            <a:solidFill>
              <a:srgbClr val="FFFFFF"/>
            </a:solidFill>
            <a:prstDash val="solid"/>
          </a:ln>
        </p:spPr>
        <p:txBody>
          <a:bodyPr/>
          <a:lstStyle/>
          <a:p>
            <a:endParaRPr lang="en-US"/>
          </a:p>
        </p:txBody>
      </p:sp>
      <p:sp>
        <p:nvSpPr>
          <p:cNvPr id="32" name="Text 30"/>
          <p:cNvSpPr txBox="1"/>
          <p:nvPr/>
        </p:nvSpPr>
        <p:spPr>
          <a:xfrm>
            <a:off x="2743200" y="2551176"/>
            <a:ext cx="3291840" cy="292608"/>
          </a:xfrm>
          <a:prstGeom prst="rect">
            <a:avLst/>
          </a:prstGeom>
          <a:noFill/>
          <a:ln/>
        </p:spPr>
        <p:txBody>
          <a:bodyPr wrap="square" lIns="0" tIns="0" rIns="0" bIns="0" rtlCol="0" anchor="ctr"/>
          <a:lstStyle/>
          <a:p>
            <a:pPr marL="0" indent="0">
              <a:buNone/>
            </a:pPr>
            <a:r>
              <a:rPr lang="en-US" sz="950" dirty="0">
                <a:solidFill>
                  <a:srgbClr val="1F2933"/>
                </a:solidFill>
                <a:latin typeface="Courier New" pitchFamily="34" charset="0"/>
                <a:ea typeface="Courier New" pitchFamily="34" charset="-122"/>
                <a:cs typeface="Courier New" pitchFamily="34" charset="-120"/>
              </a:rPr>
              <a:t>    Ki = 0.35;</a:t>
            </a:r>
            <a:endParaRPr lang="en-US" sz="950" dirty="0"/>
          </a:p>
        </p:txBody>
      </p:sp>
      <p:sp>
        <p:nvSpPr>
          <p:cNvPr id="33" name="Shape 31"/>
          <p:cNvSpPr/>
          <p:nvPr/>
        </p:nvSpPr>
        <p:spPr>
          <a:xfrm>
            <a:off x="2651760" y="2843784"/>
            <a:ext cx="3474720" cy="292608"/>
          </a:xfrm>
          <a:prstGeom prst="rect">
            <a:avLst/>
          </a:prstGeom>
          <a:solidFill>
            <a:srgbClr val="FFFFFF"/>
          </a:solidFill>
          <a:ln w="12700">
            <a:solidFill>
              <a:srgbClr val="FFFFFF"/>
            </a:solidFill>
            <a:prstDash val="solid"/>
          </a:ln>
        </p:spPr>
        <p:txBody>
          <a:bodyPr/>
          <a:lstStyle/>
          <a:p>
            <a:endParaRPr lang="en-US"/>
          </a:p>
        </p:txBody>
      </p:sp>
      <p:sp>
        <p:nvSpPr>
          <p:cNvPr id="34" name="Text 32"/>
          <p:cNvSpPr txBox="1"/>
          <p:nvPr/>
        </p:nvSpPr>
        <p:spPr>
          <a:xfrm>
            <a:off x="2743200" y="2843784"/>
            <a:ext cx="3291840" cy="292608"/>
          </a:xfrm>
          <a:prstGeom prst="rect">
            <a:avLst/>
          </a:prstGeom>
          <a:noFill/>
          <a:ln/>
        </p:spPr>
        <p:txBody>
          <a:bodyPr wrap="square" lIns="0" tIns="0" rIns="0" bIns="0" rtlCol="0" anchor="ctr"/>
          <a:lstStyle/>
          <a:p>
            <a:pPr marL="0" indent="0">
              <a:buNone/>
            </a:pPr>
            <a:r>
              <a:rPr lang="en-US" sz="950" dirty="0">
                <a:solidFill>
                  <a:srgbClr val="1F2933"/>
                </a:solidFill>
                <a:latin typeface="Courier New" pitchFamily="34" charset="0"/>
                <a:ea typeface="Courier New" pitchFamily="34" charset="-122"/>
                <a:cs typeface="Courier New" pitchFamily="34" charset="-120"/>
              </a:rPr>
              <a:t>    Kd = 0.05;</a:t>
            </a:r>
            <a:endParaRPr lang="en-US" sz="950" dirty="0"/>
          </a:p>
        </p:txBody>
      </p:sp>
      <p:sp>
        <p:nvSpPr>
          <p:cNvPr id="35" name="Shape 33"/>
          <p:cNvSpPr/>
          <p:nvPr/>
        </p:nvSpPr>
        <p:spPr>
          <a:xfrm>
            <a:off x="1645920" y="1143000"/>
            <a:ext cx="256032" cy="256032"/>
          </a:xfrm>
          <a:prstGeom prst="ellipse">
            <a:avLst/>
          </a:prstGeom>
          <a:solidFill>
            <a:srgbClr val="F2711C"/>
          </a:solidFill>
          <a:ln w="19050">
            <a:solidFill>
              <a:srgbClr val="F2711C"/>
            </a:solidFill>
            <a:prstDash val="solid"/>
          </a:ln>
        </p:spPr>
        <p:txBody>
          <a:bodyPr/>
          <a:lstStyle/>
          <a:p>
            <a:endParaRPr lang="en-US"/>
          </a:p>
        </p:txBody>
      </p:sp>
      <p:sp>
        <p:nvSpPr>
          <p:cNvPr id="36" name="Text 34"/>
          <p:cNvSpPr txBox="1"/>
          <p:nvPr/>
        </p:nvSpPr>
        <p:spPr>
          <a:xfrm>
            <a:off x="1645920" y="114300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37" name="Shape 35"/>
          <p:cNvSpPr/>
          <p:nvPr/>
        </p:nvSpPr>
        <p:spPr>
          <a:xfrm>
            <a:off x="5852160" y="1143000"/>
            <a:ext cx="256032" cy="256032"/>
          </a:xfrm>
          <a:prstGeom prst="ellipse">
            <a:avLst/>
          </a:prstGeom>
          <a:solidFill>
            <a:srgbClr val="F2711C"/>
          </a:solidFill>
          <a:ln w="19050">
            <a:solidFill>
              <a:srgbClr val="F2711C"/>
            </a:solidFill>
            <a:prstDash val="solid"/>
          </a:ln>
        </p:spPr>
        <p:txBody>
          <a:bodyPr/>
          <a:lstStyle/>
          <a:p>
            <a:endParaRPr lang="en-US"/>
          </a:p>
        </p:txBody>
      </p:sp>
      <p:sp>
        <p:nvSpPr>
          <p:cNvPr id="38" name="Text 36"/>
          <p:cNvSpPr txBox="1"/>
          <p:nvPr/>
        </p:nvSpPr>
        <p:spPr>
          <a:xfrm>
            <a:off x="5852160" y="114300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9" name="Shape 37"/>
          <p:cNvSpPr/>
          <p:nvPr/>
        </p:nvSpPr>
        <p:spPr>
          <a:xfrm>
            <a:off x="2331720" y="2011680"/>
            <a:ext cx="256032" cy="256032"/>
          </a:xfrm>
          <a:prstGeom prst="ellipse">
            <a:avLst/>
          </a:prstGeom>
          <a:solidFill>
            <a:srgbClr val="F2711C"/>
          </a:solidFill>
          <a:ln w="19050">
            <a:solidFill>
              <a:srgbClr val="F2711C"/>
            </a:solidFill>
            <a:prstDash val="solid"/>
          </a:ln>
        </p:spPr>
        <p:txBody>
          <a:bodyPr/>
          <a:lstStyle/>
          <a:p>
            <a:endParaRPr lang="en-US"/>
          </a:p>
        </p:txBody>
      </p:sp>
      <p:sp>
        <p:nvSpPr>
          <p:cNvPr id="40" name="Text 38"/>
          <p:cNvSpPr txBox="1"/>
          <p:nvPr/>
        </p:nvSpPr>
        <p:spPr>
          <a:xfrm>
            <a:off x="2331720" y="201168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41" name="Shape 39"/>
          <p:cNvSpPr/>
          <p:nvPr/>
        </p:nvSpPr>
        <p:spPr>
          <a:xfrm>
            <a:off x="5852160" y="2011680"/>
            <a:ext cx="256032" cy="256032"/>
          </a:xfrm>
          <a:prstGeom prst="ellipse">
            <a:avLst/>
          </a:prstGeom>
          <a:solidFill>
            <a:srgbClr val="F2711C"/>
          </a:solidFill>
          <a:ln w="19050">
            <a:solidFill>
              <a:srgbClr val="F2711C"/>
            </a:solidFill>
            <a:prstDash val="solid"/>
          </a:ln>
        </p:spPr>
        <p:txBody>
          <a:bodyPr/>
          <a:lstStyle/>
          <a:p>
            <a:endParaRPr lang="en-US"/>
          </a:p>
        </p:txBody>
      </p:sp>
      <p:sp>
        <p:nvSpPr>
          <p:cNvPr id="42" name="Text 40"/>
          <p:cNvSpPr txBox="1"/>
          <p:nvPr/>
        </p:nvSpPr>
        <p:spPr>
          <a:xfrm>
            <a:off x="5852160" y="201168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43" name="Shape 41"/>
          <p:cNvSpPr/>
          <p:nvPr/>
        </p:nvSpPr>
        <p:spPr>
          <a:xfrm>
            <a:off x="2331720" y="3200400"/>
            <a:ext cx="256032" cy="256032"/>
          </a:xfrm>
          <a:prstGeom prst="ellipse">
            <a:avLst/>
          </a:prstGeom>
          <a:solidFill>
            <a:srgbClr val="F2711C"/>
          </a:solidFill>
          <a:ln w="19050">
            <a:solidFill>
              <a:srgbClr val="F2711C"/>
            </a:solidFill>
            <a:prstDash val="solid"/>
          </a:ln>
        </p:spPr>
        <p:txBody>
          <a:bodyPr/>
          <a:lstStyle/>
          <a:p>
            <a:endParaRPr lang="en-US"/>
          </a:p>
        </p:txBody>
      </p:sp>
      <p:sp>
        <p:nvSpPr>
          <p:cNvPr id="44" name="Text 42"/>
          <p:cNvSpPr txBox="1"/>
          <p:nvPr/>
        </p:nvSpPr>
        <p:spPr>
          <a:xfrm>
            <a:off x="2331720" y="320040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45" name="Shape 43"/>
          <p:cNvSpPr/>
          <p:nvPr/>
        </p:nvSpPr>
        <p:spPr>
          <a:xfrm>
            <a:off x="6492240" y="1078992"/>
            <a:ext cx="256032" cy="256032"/>
          </a:xfrm>
          <a:prstGeom prst="ellipse">
            <a:avLst/>
          </a:prstGeom>
          <a:solidFill>
            <a:srgbClr val="F2711C"/>
          </a:solidFill>
          <a:ln w="19050">
            <a:solidFill>
              <a:srgbClr val="F2711C"/>
            </a:solidFill>
            <a:prstDash val="solid"/>
          </a:ln>
        </p:spPr>
        <p:txBody>
          <a:bodyPr/>
          <a:lstStyle/>
          <a:p>
            <a:endParaRPr lang="en-US"/>
          </a:p>
        </p:txBody>
      </p:sp>
      <p:sp>
        <p:nvSpPr>
          <p:cNvPr id="46" name="Text 44"/>
          <p:cNvSpPr txBox="1"/>
          <p:nvPr/>
        </p:nvSpPr>
        <p:spPr>
          <a:xfrm>
            <a:off x="6492240" y="107899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7" name="Text 45"/>
          <p:cNvSpPr txBox="1"/>
          <p:nvPr/>
        </p:nvSpPr>
        <p:spPr>
          <a:xfrm>
            <a:off x="6858000" y="1051560"/>
            <a:ext cx="1920240" cy="292608"/>
          </a:xfrm>
          <a:prstGeom prst="rect">
            <a:avLst/>
          </a:prstGeom>
          <a:noFill/>
          <a:ln/>
        </p:spPr>
        <p:txBody>
          <a:bodyPr wrap="square" lIns="0" tIns="0" rIns="0" bIns="0" rtlCol="0" anchor="t"/>
          <a:lstStyle/>
          <a:p>
            <a:pPr marL="0" indent="0">
              <a:buNone/>
            </a:pPr>
            <a:r>
              <a:rPr lang="en-US" sz="1350" b="1" dirty="0">
                <a:solidFill>
                  <a:srgbClr val="1F2933"/>
                </a:solidFill>
                <a:latin typeface="Arial" pitchFamily="34" charset="0"/>
                <a:ea typeface="Arial" pitchFamily="34" charset="-122"/>
                <a:cs typeface="Arial" pitchFamily="34" charset="-120"/>
              </a:rPr>
              <a:t>Repo &amp; branch</a:t>
            </a:r>
            <a:endParaRPr lang="en-US" sz="1350" dirty="0"/>
          </a:p>
        </p:txBody>
      </p:sp>
      <p:sp>
        <p:nvSpPr>
          <p:cNvPr id="48" name="Text 46"/>
          <p:cNvSpPr txBox="1"/>
          <p:nvPr/>
        </p:nvSpPr>
        <p:spPr>
          <a:xfrm>
            <a:off x="6858000" y="1344168"/>
            <a:ext cx="1920240" cy="365760"/>
          </a:xfrm>
          <a:prstGeom prst="rect">
            <a:avLst/>
          </a:prstGeom>
          <a:noFill/>
          <a:ln/>
        </p:spPr>
        <p:txBody>
          <a:bodyPr wrap="square" lIns="0" tIns="0" rIns="0" bIns="0" rtlCol="0" anchor="t"/>
          <a:lstStyle/>
          <a:p>
            <a:pPr marL="0" indent="0">
              <a:buNone/>
            </a:pPr>
            <a:r>
              <a:rPr lang="en-US" sz="1100" dirty="0">
                <a:solidFill>
                  <a:srgbClr val="5B6573"/>
                </a:solidFill>
                <a:latin typeface="Arial" pitchFamily="34" charset="0"/>
                <a:ea typeface="Arial" pitchFamily="34" charset="-122"/>
                <a:cs typeface="Arial" pitchFamily="34" charset="-120"/>
              </a:rPr>
              <a:t>Always shows main for us.</a:t>
            </a:r>
            <a:endParaRPr lang="en-US" sz="1100" dirty="0"/>
          </a:p>
        </p:txBody>
      </p:sp>
      <p:sp>
        <p:nvSpPr>
          <p:cNvPr id="49" name="Shape 47"/>
          <p:cNvSpPr/>
          <p:nvPr/>
        </p:nvSpPr>
        <p:spPr>
          <a:xfrm>
            <a:off x="6492240" y="1810512"/>
            <a:ext cx="256032" cy="256032"/>
          </a:xfrm>
          <a:prstGeom prst="ellipse">
            <a:avLst/>
          </a:prstGeom>
          <a:solidFill>
            <a:srgbClr val="F2711C"/>
          </a:solidFill>
          <a:ln w="19050">
            <a:solidFill>
              <a:srgbClr val="F2711C"/>
            </a:solidFill>
            <a:prstDash val="solid"/>
          </a:ln>
        </p:spPr>
        <p:txBody>
          <a:bodyPr/>
          <a:lstStyle/>
          <a:p>
            <a:endParaRPr lang="en-US"/>
          </a:p>
        </p:txBody>
      </p:sp>
      <p:sp>
        <p:nvSpPr>
          <p:cNvPr id="50" name="Text 48"/>
          <p:cNvSpPr txBox="1"/>
          <p:nvPr/>
        </p:nvSpPr>
        <p:spPr>
          <a:xfrm>
            <a:off x="6492240" y="181051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51" name="Text 49"/>
          <p:cNvSpPr txBox="1"/>
          <p:nvPr/>
        </p:nvSpPr>
        <p:spPr>
          <a:xfrm>
            <a:off x="6858000" y="1783080"/>
            <a:ext cx="1920240" cy="292608"/>
          </a:xfrm>
          <a:prstGeom prst="rect">
            <a:avLst/>
          </a:prstGeom>
          <a:noFill/>
          <a:ln/>
        </p:spPr>
        <p:txBody>
          <a:bodyPr wrap="square" lIns="0" tIns="0" rIns="0" bIns="0" rtlCol="0" anchor="t"/>
          <a:lstStyle/>
          <a:p>
            <a:pPr marL="0" indent="0">
              <a:buNone/>
            </a:pPr>
            <a:r>
              <a:rPr lang="en-US" sz="1350" b="1" dirty="0">
                <a:solidFill>
                  <a:srgbClr val="1F2933"/>
                </a:solidFill>
                <a:latin typeface="Arial" pitchFamily="34" charset="0"/>
                <a:ea typeface="Arial" pitchFamily="34" charset="-122"/>
                <a:cs typeface="Arial" pitchFamily="34" charset="-120"/>
              </a:rPr>
              <a:t>Sync button</a:t>
            </a:r>
            <a:endParaRPr lang="en-US" sz="1350" dirty="0"/>
          </a:p>
        </p:txBody>
      </p:sp>
      <p:sp>
        <p:nvSpPr>
          <p:cNvPr id="52" name="Text 50"/>
          <p:cNvSpPr txBox="1"/>
          <p:nvPr/>
        </p:nvSpPr>
        <p:spPr>
          <a:xfrm>
            <a:off x="6858000" y="2075688"/>
            <a:ext cx="1920240" cy="365760"/>
          </a:xfrm>
          <a:prstGeom prst="rect">
            <a:avLst/>
          </a:prstGeom>
          <a:noFill/>
          <a:ln/>
        </p:spPr>
        <p:txBody>
          <a:bodyPr wrap="square" lIns="0" tIns="0" rIns="0" bIns="0" rtlCol="0" anchor="t"/>
          <a:lstStyle/>
          <a:p>
            <a:pPr marL="0" indent="0">
              <a:buNone/>
            </a:pPr>
            <a:r>
              <a:rPr lang="en-US" sz="1100" dirty="0">
                <a:solidFill>
                  <a:srgbClr val="5B6573"/>
                </a:solidFill>
                <a:latin typeface="Arial" pitchFamily="34" charset="0"/>
                <a:ea typeface="Arial" pitchFamily="34" charset="-122"/>
                <a:cs typeface="Arial" pitchFamily="34" charset="-120"/>
              </a:rPr>
              <a:t>Fetch, Pull, or Push.</a:t>
            </a:r>
            <a:endParaRPr lang="en-US" sz="1100" dirty="0"/>
          </a:p>
        </p:txBody>
      </p:sp>
      <p:sp>
        <p:nvSpPr>
          <p:cNvPr id="53" name="Shape 51"/>
          <p:cNvSpPr/>
          <p:nvPr/>
        </p:nvSpPr>
        <p:spPr>
          <a:xfrm>
            <a:off x="6492240" y="2542032"/>
            <a:ext cx="256032" cy="256032"/>
          </a:xfrm>
          <a:prstGeom prst="ellipse">
            <a:avLst/>
          </a:prstGeom>
          <a:solidFill>
            <a:srgbClr val="F2711C"/>
          </a:solidFill>
          <a:ln w="19050">
            <a:solidFill>
              <a:srgbClr val="F2711C"/>
            </a:solidFill>
            <a:prstDash val="solid"/>
          </a:ln>
        </p:spPr>
        <p:txBody>
          <a:bodyPr/>
          <a:lstStyle/>
          <a:p>
            <a:endParaRPr lang="en-US"/>
          </a:p>
        </p:txBody>
      </p:sp>
      <p:sp>
        <p:nvSpPr>
          <p:cNvPr id="54" name="Text 52"/>
          <p:cNvSpPr txBox="1"/>
          <p:nvPr/>
        </p:nvSpPr>
        <p:spPr>
          <a:xfrm>
            <a:off x="6492240" y="254203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55" name="Text 53"/>
          <p:cNvSpPr txBox="1"/>
          <p:nvPr/>
        </p:nvSpPr>
        <p:spPr>
          <a:xfrm>
            <a:off x="6858000" y="2514600"/>
            <a:ext cx="1920240" cy="292608"/>
          </a:xfrm>
          <a:prstGeom prst="rect">
            <a:avLst/>
          </a:prstGeom>
          <a:noFill/>
          <a:ln/>
        </p:spPr>
        <p:txBody>
          <a:bodyPr wrap="square" lIns="0" tIns="0" rIns="0" bIns="0" rtlCol="0" anchor="t"/>
          <a:lstStyle/>
          <a:p>
            <a:pPr marL="0" indent="0">
              <a:buNone/>
            </a:pPr>
            <a:r>
              <a:rPr lang="en-US" sz="1350" b="1" dirty="0">
                <a:solidFill>
                  <a:srgbClr val="1F2933"/>
                </a:solidFill>
                <a:latin typeface="Arial" pitchFamily="34" charset="0"/>
                <a:ea typeface="Arial" pitchFamily="34" charset="-122"/>
                <a:cs typeface="Arial" pitchFamily="34" charset="-120"/>
              </a:rPr>
              <a:t>Changed files</a:t>
            </a:r>
            <a:endParaRPr lang="en-US" sz="1350" dirty="0"/>
          </a:p>
        </p:txBody>
      </p:sp>
      <p:sp>
        <p:nvSpPr>
          <p:cNvPr id="56" name="Text 54"/>
          <p:cNvSpPr txBox="1"/>
          <p:nvPr/>
        </p:nvSpPr>
        <p:spPr>
          <a:xfrm>
            <a:off x="6858000" y="2807208"/>
            <a:ext cx="1920240" cy="365760"/>
          </a:xfrm>
          <a:prstGeom prst="rect">
            <a:avLst/>
          </a:prstGeom>
          <a:noFill/>
          <a:ln/>
        </p:spPr>
        <p:txBody>
          <a:bodyPr wrap="square" lIns="0" tIns="0" rIns="0" bIns="0" rtlCol="0" anchor="t"/>
          <a:lstStyle/>
          <a:p>
            <a:pPr marL="0" indent="0">
              <a:buNone/>
            </a:pPr>
            <a:r>
              <a:rPr lang="en-US" sz="1100" dirty="0">
                <a:solidFill>
                  <a:srgbClr val="5B6573"/>
                </a:solidFill>
                <a:latin typeface="Arial" pitchFamily="34" charset="0"/>
                <a:ea typeface="Arial" pitchFamily="34" charset="-122"/>
                <a:cs typeface="Arial" pitchFamily="34" charset="-120"/>
              </a:rPr>
              <a:t>Checked = staged for commit.</a:t>
            </a:r>
            <a:endParaRPr lang="en-US" sz="1100" dirty="0"/>
          </a:p>
        </p:txBody>
      </p:sp>
      <p:sp>
        <p:nvSpPr>
          <p:cNvPr id="57" name="Shape 55"/>
          <p:cNvSpPr/>
          <p:nvPr/>
        </p:nvSpPr>
        <p:spPr>
          <a:xfrm>
            <a:off x="6492240" y="3273552"/>
            <a:ext cx="256032" cy="256032"/>
          </a:xfrm>
          <a:prstGeom prst="ellipse">
            <a:avLst/>
          </a:prstGeom>
          <a:solidFill>
            <a:srgbClr val="F2711C"/>
          </a:solidFill>
          <a:ln w="19050">
            <a:solidFill>
              <a:srgbClr val="F2711C"/>
            </a:solidFill>
            <a:prstDash val="solid"/>
          </a:ln>
        </p:spPr>
        <p:txBody>
          <a:bodyPr/>
          <a:lstStyle/>
          <a:p>
            <a:endParaRPr lang="en-US"/>
          </a:p>
        </p:txBody>
      </p:sp>
      <p:sp>
        <p:nvSpPr>
          <p:cNvPr id="58" name="Text 56"/>
          <p:cNvSpPr txBox="1"/>
          <p:nvPr/>
        </p:nvSpPr>
        <p:spPr>
          <a:xfrm>
            <a:off x="6492240" y="327355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59" name="Text 57"/>
          <p:cNvSpPr txBox="1"/>
          <p:nvPr/>
        </p:nvSpPr>
        <p:spPr>
          <a:xfrm>
            <a:off x="6858000" y="3246120"/>
            <a:ext cx="1920240" cy="292608"/>
          </a:xfrm>
          <a:prstGeom prst="rect">
            <a:avLst/>
          </a:prstGeom>
          <a:noFill/>
          <a:ln/>
        </p:spPr>
        <p:txBody>
          <a:bodyPr wrap="square" lIns="0" tIns="0" rIns="0" bIns="0" rtlCol="0" anchor="t"/>
          <a:lstStyle/>
          <a:p>
            <a:pPr marL="0" indent="0">
              <a:buNone/>
            </a:pPr>
            <a:r>
              <a:rPr lang="en-US" sz="1350" b="1" dirty="0">
                <a:solidFill>
                  <a:srgbClr val="1F2933"/>
                </a:solidFill>
                <a:latin typeface="Arial" pitchFamily="34" charset="0"/>
                <a:ea typeface="Arial" pitchFamily="34" charset="-122"/>
                <a:cs typeface="Arial" pitchFamily="34" charset="-120"/>
              </a:rPr>
              <a:t>The diff</a:t>
            </a:r>
            <a:endParaRPr lang="en-US" sz="1350" dirty="0"/>
          </a:p>
        </p:txBody>
      </p:sp>
      <p:sp>
        <p:nvSpPr>
          <p:cNvPr id="60" name="Text 58"/>
          <p:cNvSpPr txBox="1"/>
          <p:nvPr/>
        </p:nvSpPr>
        <p:spPr>
          <a:xfrm>
            <a:off x="6858000" y="3538728"/>
            <a:ext cx="1920240" cy="365760"/>
          </a:xfrm>
          <a:prstGeom prst="rect">
            <a:avLst/>
          </a:prstGeom>
          <a:noFill/>
          <a:ln/>
        </p:spPr>
        <p:txBody>
          <a:bodyPr wrap="square" lIns="0" tIns="0" rIns="0" bIns="0" rtlCol="0" anchor="t"/>
          <a:lstStyle/>
          <a:p>
            <a:pPr marL="0" indent="0">
              <a:buNone/>
            </a:pPr>
            <a:r>
              <a:rPr lang="en-US" sz="1100" dirty="0">
                <a:solidFill>
                  <a:srgbClr val="5B6573"/>
                </a:solidFill>
                <a:latin typeface="Arial" pitchFamily="34" charset="0"/>
                <a:ea typeface="Arial" pitchFamily="34" charset="-122"/>
                <a:cs typeface="Arial" pitchFamily="34" charset="-120"/>
              </a:rPr>
              <a:t>Red removed, green added.</a:t>
            </a:r>
            <a:endParaRPr lang="en-US" sz="1100" dirty="0"/>
          </a:p>
        </p:txBody>
      </p:sp>
      <p:sp>
        <p:nvSpPr>
          <p:cNvPr id="61" name="Shape 59"/>
          <p:cNvSpPr/>
          <p:nvPr/>
        </p:nvSpPr>
        <p:spPr>
          <a:xfrm>
            <a:off x="6492240" y="4005072"/>
            <a:ext cx="256032" cy="256032"/>
          </a:xfrm>
          <a:prstGeom prst="ellipse">
            <a:avLst/>
          </a:prstGeom>
          <a:solidFill>
            <a:srgbClr val="F2711C"/>
          </a:solidFill>
          <a:ln w="19050">
            <a:solidFill>
              <a:srgbClr val="F2711C"/>
            </a:solidFill>
            <a:prstDash val="solid"/>
          </a:ln>
        </p:spPr>
        <p:txBody>
          <a:bodyPr/>
          <a:lstStyle/>
          <a:p>
            <a:endParaRPr lang="en-US"/>
          </a:p>
        </p:txBody>
      </p:sp>
      <p:sp>
        <p:nvSpPr>
          <p:cNvPr id="62" name="Text 60"/>
          <p:cNvSpPr txBox="1"/>
          <p:nvPr/>
        </p:nvSpPr>
        <p:spPr>
          <a:xfrm>
            <a:off x="6492240" y="400507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63" name="Text 61"/>
          <p:cNvSpPr txBox="1"/>
          <p:nvPr/>
        </p:nvSpPr>
        <p:spPr>
          <a:xfrm>
            <a:off x="6858000" y="3977640"/>
            <a:ext cx="1920240" cy="292608"/>
          </a:xfrm>
          <a:prstGeom prst="rect">
            <a:avLst/>
          </a:prstGeom>
          <a:noFill/>
          <a:ln/>
        </p:spPr>
        <p:txBody>
          <a:bodyPr wrap="square" lIns="0" tIns="0" rIns="0" bIns="0" rtlCol="0" anchor="t"/>
          <a:lstStyle/>
          <a:p>
            <a:pPr marL="0" indent="0">
              <a:buNone/>
            </a:pPr>
            <a:r>
              <a:rPr lang="en-US" sz="1350" b="1" dirty="0">
                <a:solidFill>
                  <a:srgbClr val="1F2933"/>
                </a:solidFill>
                <a:latin typeface="Arial" pitchFamily="34" charset="0"/>
                <a:ea typeface="Arial" pitchFamily="34" charset="-122"/>
                <a:cs typeface="Arial" pitchFamily="34" charset="-120"/>
              </a:rPr>
              <a:t>Commit box</a:t>
            </a:r>
            <a:endParaRPr lang="en-US" sz="1350" dirty="0"/>
          </a:p>
        </p:txBody>
      </p:sp>
      <p:sp>
        <p:nvSpPr>
          <p:cNvPr id="64" name="Text 62"/>
          <p:cNvSpPr txBox="1"/>
          <p:nvPr/>
        </p:nvSpPr>
        <p:spPr>
          <a:xfrm>
            <a:off x="6858000" y="4270248"/>
            <a:ext cx="1920240" cy="365760"/>
          </a:xfrm>
          <a:prstGeom prst="rect">
            <a:avLst/>
          </a:prstGeom>
          <a:noFill/>
          <a:ln/>
        </p:spPr>
        <p:txBody>
          <a:bodyPr wrap="square" lIns="0" tIns="0" rIns="0" bIns="0" rtlCol="0" anchor="t"/>
          <a:lstStyle/>
          <a:p>
            <a:pPr marL="0" indent="0">
              <a:buNone/>
            </a:pPr>
            <a:r>
              <a:rPr lang="en-US" sz="1100" dirty="0">
                <a:solidFill>
                  <a:srgbClr val="5B6573"/>
                </a:solidFill>
                <a:latin typeface="Arial" pitchFamily="34" charset="0"/>
                <a:ea typeface="Arial" pitchFamily="34" charset="-122"/>
                <a:cs typeface="Arial" pitchFamily="34" charset="-120"/>
              </a:rPr>
              <a:t>Message, then commit.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Write messages future-you can use</a:t>
            </a:r>
            <a:endParaRPr lang="en-US" sz="3000" dirty="0"/>
          </a:p>
        </p:txBody>
      </p:sp>
      <p:sp>
        <p:nvSpPr>
          <p:cNvPr id="3" name="Shape 1"/>
          <p:cNvSpPr/>
          <p:nvPr/>
        </p:nvSpPr>
        <p:spPr>
          <a:xfrm>
            <a:off x="457200" y="1143000"/>
            <a:ext cx="3931920" cy="2514600"/>
          </a:xfrm>
          <a:prstGeom prst="roundRect">
            <a:avLst>
              <a:gd name="adj" fmla="val 2909"/>
            </a:avLst>
          </a:prstGeom>
          <a:solidFill>
            <a:srgbClr val="F8DEDE"/>
          </a:solidFill>
          <a:ln w="12700">
            <a:solidFill>
              <a:srgbClr val="F8DEDE"/>
            </a:solidFill>
            <a:prstDash val="solid"/>
          </a:ln>
        </p:spPr>
        <p:txBody>
          <a:bodyPr/>
          <a:lstStyle/>
          <a:p>
            <a:endParaRPr lang="en-US"/>
          </a:p>
        </p:txBody>
      </p:sp>
      <p:sp>
        <p:nvSpPr>
          <p:cNvPr id="4" name="Shape 2"/>
          <p:cNvSpPr/>
          <p:nvPr/>
        </p:nvSpPr>
        <p:spPr>
          <a:xfrm>
            <a:off x="4754880" y="1143000"/>
            <a:ext cx="3931920" cy="2514600"/>
          </a:xfrm>
          <a:prstGeom prst="roundRect">
            <a:avLst>
              <a:gd name="adj" fmla="val 2909"/>
            </a:avLst>
          </a:prstGeom>
          <a:solidFill>
            <a:srgbClr val="DDF1E6"/>
          </a:solidFill>
          <a:ln w="12700">
            <a:solidFill>
              <a:srgbClr val="DDF1E6"/>
            </a:solidFill>
            <a:prstDash val="solid"/>
          </a:ln>
        </p:spPr>
        <p:txBody>
          <a:bodyPr/>
          <a:lstStyle/>
          <a:p>
            <a:endParaRPr lang="en-US"/>
          </a:p>
        </p:txBody>
      </p:sp>
      <p:sp>
        <p:nvSpPr>
          <p:cNvPr id="5" name="Shape 3"/>
          <p:cNvSpPr/>
          <p:nvPr/>
        </p:nvSpPr>
        <p:spPr>
          <a:xfrm>
            <a:off x="685800" y="1325880"/>
            <a:ext cx="457200" cy="457200"/>
          </a:xfrm>
          <a:prstGeom prst="ellipse">
            <a:avLst/>
          </a:prstGeom>
          <a:solidFill>
            <a:srgbClr val="D64545"/>
          </a:solidFill>
          <a:ln w="19050">
            <a:solidFill>
              <a:srgbClr val="D64545"/>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00100" y="1440180"/>
            <a:ext cx="228600" cy="228600"/>
          </a:xfrm>
          <a:prstGeom prst="rect">
            <a:avLst/>
          </a:prstGeom>
        </p:spPr>
      </p:pic>
      <p:sp>
        <p:nvSpPr>
          <p:cNvPr id="7" name="Shape 4"/>
          <p:cNvSpPr/>
          <p:nvPr/>
        </p:nvSpPr>
        <p:spPr>
          <a:xfrm>
            <a:off x="4983480" y="1325880"/>
            <a:ext cx="457200" cy="457200"/>
          </a:xfrm>
          <a:prstGeom prst="ellipse">
            <a:avLst/>
          </a:prstGeom>
          <a:solidFill>
            <a:srgbClr val="2E9E6B"/>
          </a:solidFill>
          <a:ln w="19050">
            <a:solidFill>
              <a:srgbClr val="2E9E6B"/>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5097780" y="1440180"/>
            <a:ext cx="228600" cy="228600"/>
          </a:xfrm>
          <a:prstGeom prst="rect">
            <a:avLst/>
          </a:prstGeom>
        </p:spPr>
      </p:pic>
      <p:sp>
        <p:nvSpPr>
          <p:cNvPr id="9" name="Text 5"/>
          <p:cNvSpPr txBox="1"/>
          <p:nvPr/>
        </p:nvSpPr>
        <p:spPr>
          <a:xfrm>
            <a:off x="1280160" y="1325880"/>
            <a:ext cx="2743200" cy="457200"/>
          </a:xfrm>
          <a:prstGeom prst="rect">
            <a:avLst/>
          </a:prstGeom>
          <a:noFill/>
          <a:ln/>
        </p:spPr>
        <p:txBody>
          <a:bodyPr wrap="square" lIns="0" tIns="0" rIns="0" bIns="0" rtlCol="0" anchor="ctr"/>
          <a:lstStyle/>
          <a:p>
            <a:pPr marL="0" indent="0">
              <a:buNone/>
            </a:pPr>
            <a:r>
              <a:rPr lang="en-US" sz="1700" b="1" dirty="0">
                <a:solidFill>
                  <a:srgbClr val="D64545"/>
                </a:solidFill>
                <a:latin typeface="Arial" pitchFamily="34" charset="0"/>
                <a:ea typeface="Arial" pitchFamily="34" charset="-122"/>
                <a:cs typeface="Arial" pitchFamily="34" charset="-120"/>
              </a:rPr>
              <a:t>Useless later</a:t>
            </a:r>
            <a:endParaRPr lang="en-US" sz="1700" dirty="0"/>
          </a:p>
        </p:txBody>
      </p:sp>
      <p:sp>
        <p:nvSpPr>
          <p:cNvPr id="10" name="Text 6"/>
          <p:cNvSpPr txBox="1"/>
          <p:nvPr/>
        </p:nvSpPr>
        <p:spPr>
          <a:xfrm>
            <a:off x="5577840" y="1325880"/>
            <a:ext cx="2743200" cy="457200"/>
          </a:xfrm>
          <a:prstGeom prst="rect">
            <a:avLst/>
          </a:prstGeom>
          <a:noFill/>
          <a:ln/>
        </p:spPr>
        <p:txBody>
          <a:bodyPr wrap="square" lIns="0" tIns="0" rIns="0" bIns="0" rtlCol="0" anchor="ctr"/>
          <a:lstStyle/>
          <a:p>
            <a:pPr marL="0" indent="0">
              <a:buNone/>
            </a:pPr>
            <a:r>
              <a:rPr lang="en-US" sz="1700" b="1" dirty="0">
                <a:solidFill>
                  <a:srgbClr val="2E9E6B"/>
                </a:solidFill>
                <a:latin typeface="Arial" pitchFamily="34" charset="0"/>
                <a:ea typeface="Arial" pitchFamily="34" charset="-122"/>
                <a:cs typeface="Arial" pitchFamily="34" charset="-120"/>
              </a:rPr>
              <a:t>Useful later</a:t>
            </a:r>
            <a:endParaRPr lang="en-US" sz="1700" dirty="0"/>
          </a:p>
        </p:txBody>
      </p:sp>
      <p:sp>
        <p:nvSpPr>
          <p:cNvPr id="11" name="Text 7"/>
          <p:cNvSpPr txBox="1"/>
          <p:nvPr/>
        </p:nvSpPr>
        <p:spPr>
          <a:xfrm>
            <a:off x="731520" y="1965960"/>
            <a:ext cx="3474720" cy="347472"/>
          </a:xfrm>
          <a:prstGeom prst="rect">
            <a:avLst/>
          </a:prstGeom>
          <a:noFill/>
          <a:ln/>
        </p:spPr>
        <p:txBody>
          <a:bodyPr wrap="square" lIns="0" tIns="0" rIns="0" bIns="0" rtlCol="0" anchor="t"/>
          <a:lstStyle/>
          <a:p>
            <a:pPr marL="0" indent="0">
              <a:buNone/>
            </a:pPr>
            <a:r>
              <a:rPr lang="en-US" sz="1300" dirty="0">
                <a:solidFill>
                  <a:srgbClr val="1F2933"/>
                </a:solidFill>
                <a:latin typeface="Courier New" pitchFamily="34" charset="0"/>
                <a:ea typeface="Courier New" pitchFamily="34" charset="-122"/>
                <a:cs typeface="Courier New" pitchFamily="34" charset="-120"/>
              </a:rPr>
              <a:t>stuff</a:t>
            </a:r>
            <a:endParaRPr lang="en-US" sz="1300" dirty="0"/>
          </a:p>
        </p:txBody>
      </p:sp>
      <p:sp>
        <p:nvSpPr>
          <p:cNvPr id="12" name="Text 8"/>
          <p:cNvSpPr txBox="1"/>
          <p:nvPr/>
        </p:nvSpPr>
        <p:spPr>
          <a:xfrm>
            <a:off x="731520" y="2359152"/>
            <a:ext cx="3474720" cy="347472"/>
          </a:xfrm>
          <a:prstGeom prst="rect">
            <a:avLst/>
          </a:prstGeom>
          <a:noFill/>
          <a:ln/>
        </p:spPr>
        <p:txBody>
          <a:bodyPr wrap="square" lIns="0" tIns="0" rIns="0" bIns="0" rtlCol="0" anchor="t"/>
          <a:lstStyle/>
          <a:p>
            <a:pPr marL="0" indent="0">
              <a:buNone/>
            </a:pPr>
            <a:r>
              <a:rPr lang="en-US" sz="1300" dirty="0">
                <a:solidFill>
                  <a:srgbClr val="1F2933"/>
                </a:solidFill>
                <a:latin typeface="Courier New" pitchFamily="34" charset="0"/>
                <a:ea typeface="Courier New" pitchFamily="34" charset="-122"/>
                <a:cs typeface="Courier New" pitchFamily="34" charset="-120"/>
              </a:rPr>
              <a:t>fixed it</a:t>
            </a:r>
            <a:endParaRPr lang="en-US" sz="1300" dirty="0"/>
          </a:p>
        </p:txBody>
      </p:sp>
      <p:sp>
        <p:nvSpPr>
          <p:cNvPr id="13" name="Text 9"/>
          <p:cNvSpPr txBox="1"/>
          <p:nvPr/>
        </p:nvSpPr>
        <p:spPr>
          <a:xfrm>
            <a:off x="731520" y="2752344"/>
            <a:ext cx="3474720" cy="347472"/>
          </a:xfrm>
          <a:prstGeom prst="rect">
            <a:avLst/>
          </a:prstGeom>
          <a:noFill/>
          <a:ln/>
        </p:spPr>
        <p:txBody>
          <a:bodyPr wrap="square" lIns="0" tIns="0" rIns="0" bIns="0" rtlCol="0" anchor="t"/>
          <a:lstStyle/>
          <a:p>
            <a:pPr marL="0" indent="0">
              <a:buNone/>
            </a:pPr>
            <a:r>
              <a:rPr lang="en-US" sz="1300" dirty="0">
                <a:solidFill>
                  <a:srgbClr val="1F2933"/>
                </a:solidFill>
                <a:latin typeface="Courier New" pitchFamily="34" charset="0"/>
                <a:ea typeface="Courier New" pitchFamily="34" charset="-122"/>
                <a:cs typeface="Courier New" pitchFamily="34" charset="-120"/>
              </a:rPr>
              <a:t>update</a:t>
            </a:r>
            <a:endParaRPr lang="en-US" sz="1300" dirty="0"/>
          </a:p>
        </p:txBody>
      </p:sp>
      <p:sp>
        <p:nvSpPr>
          <p:cNvPr id="14" name="Text 10"/>
          <p:cNvSpPr txBox="1"/>
          <p:nvPr/>
        </p:nvSpPr>
        <p:spPr>
          <a:xfrm>
            <a:off x="731520" y="3145536"/>
            <a:ext cx="3474720" cy="347472"/>
          </a:xfrm>
          <a:prstGeom prst="rect">
            <a:avLst/>
          </a:prstGeom>
          <a:noFill/>
          <a:ln/>
        </p:spPr>
        <p:txBody>
          <a:bodyPr wrap="square" lIns="0" tIns="0" rIns="0" bIns="0" rtlCol="0" anchor="t"/>
          <a:lstStyle/>
          <a:p>
            <a:pPr marL="0" indent="0">
              <a:buNone/>
            </a:pPr>
            <a:r>
              <a:rPr lang="en-US" sz="1300" dirty="0">
                <a:solidFill>
                  <a:srgbClr val="1F2933"/>
                </a:solidFill>
                <a:latin typeface="Courier New" pitchFamily="34" charset="0"/>
                <a:ea typeface="Courier New" pitchFamily="34" charset="-122"/>
                <a:cs typeface="Courier New" pitchFamily="34" charset="-120"/>
              </a:rPr>
              <a:t>asdfasdf</a:t>
            </a:r>
            <a:endParaRPr lang="en-US" sz="1300" dirty="0"/>
          </a:p>
        </p:txBody>
      </p:sp>
      <p:sp>
        <p:nvSpPr>
          <p:cNvPr id="15" name="Text 11"/>
          <p:cNvSpPr txBox="1"/>
          <p:nvPr/>
        </p:nvSpPr>
        <p:spPr>
          <a:xfrm>
            <a:off x="5029200" y="1965960"/>
            <a:ext cx="3566160" cy="347472"/>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Add wheel speed sensor interrupt</a:t>
            </a:r>
            <a:endParaRPr lang="en-US" sz="1200" dirty="0"/>
          </a:p>
        </p:txBody>
      </p:sp>
      <p:sp>
        <p:nvSpPr>
          <p:cNvPr id="16" name="Text 12"/>
          <p:cNvSpPr txBox="1"/>
          <p:nvPr/>
        </p:nvSpPr>
        <p:spPr>
          <a:xfrm>
            <a:off x="5029200" y="2359152"/>
            <a:ext cx="3566160" cy="347472"/>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Lower CVT Kp from 2.0 to 1.4</a:t>
            </a:r>
            <a:endParaRPr lang="en-US" sz="1200" dirty="0"/>
          </a:p>
        </p:txBody>
      </p:sp>
      <p:sp>
        <p:nvSpPr>
          <p:cNvPr id="17" name="Text 13"/>
          <p:cNvSpPr txBox="1"/>
          <p:nvPr/>
        </p:nvSpPr>
        <p:spPr>
          <a:xfrm>
            <a:off x="5029200" y="2752344"/>
            <a:ext cx="3566160" cy="347472"/>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Fix brake light staying on at idle</a:t>
            </a:r>
            <a:endParaRPr lang="en-US" sz="1200" dirty="0"/>
          </a:p>
        </p:txBody>
      </p:sp>
      <p:sp>
        <p:nvSpPr>
          <p:cNvPr id="18" name="Text 14"/>
          <p:cNvSpPr txBox="1"/>
          <p:nvPr/>
        </p:nvSpPr>
        <p:spPr>
          <a:xfrm>
            <a:off x="5029200" y="3145536"/>
            <a:ext cx="3566160" cy="347472"/>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Update sensor mount for new caliper</a:t>
            </a:r>
            <a:endParaRPr lang="en-US" sz="1200" dirty="0"/>
          </a:p>
        </p:txBody>
      </p:sp>
      <p:sp>
        <p:nvSpPr>
          <p:cNvPr id="19" name="Text 15"/>
          <p:cNvSpPr txBox="1"/>
          <p:nvPr/>
        </p:nvSpPr>
        <p:spPr>
          <a:xfrm>
            <a:off x="457200" y="3840480"/>
            <a:ext cx="2651760" cy="274320"/>
          </a:xfrm>
          <a:prstGeom prst="rect">
            <a:avLst/>
          </a:prstGeom>
          <a:noFill/>
          <a:ln/>
        </p:spPr>
        <p:txBody>
          <a:bodyPr wrap="square" lIns="0" tIns="0" rIns="0" bIns="0" rtlCol="0" anchor="t"/>
          <a:lstStyle/>
          <a:p>
            <a:pPr marL="0" indent="0">
              <a:buNone/>
            </a:pPr>
            <a:r>
              <a:rPr lang="en-US" sz="1350" b="1" dirty="0">
                <a:solidFill>
                  <a:srgbClr val="F2711C"/>
                </a:solidFill>
                <a:latin typeface="Arial" pitchFamily="34" charset="0"/>
                <a:ea typeface="Arial" pitchFamily="34" charset="-122"/>
                <a:cs typeface="Arial" pitchFamily="34" charset="-120"/>
              </a:rPr>
              <a:t>Summary line</a:t>
            </a:r>
            <a:endParaRPr lang="en-US" sz="1350" dirty="0"/>
          </a:p>
        </p:txBody>
      </p:sp>
      <p:sp>
        <p:nvSpPr>
          <p:cNvPr id="20" name="Text 16"/>
          <p:cNvSpPr txBox="1"/>
          <p:nvPr/>
        </p:nvSpPr>
        <p:spPr>
          <a:xfrm>
            <a:off x="457200" y="4114800"/>
            <a:ext cx="2651760" cy="548640"/>
          </a:xfrm>
          <a:prstGeom prst="rect">
            <a:avLst/>
          </a:prstGeom>
          <a:noFill/>
          <a:ln/>
        </p:spPr>
        <p:txBody>
          <a:bodyPr wrap="square" lIns="0" tIns="0" rIns="0" bIns="0" rtlCol="0" anchor="t"/>
          <a:lstStyle/>
          <a:p>
            <a:pPr marL="0" indent="0">
              <a:buNone/>
            </a:pPr>
            <a:r>
              <a:rPr lang="en-US" sz="1200" dirty="0">
                <a:solidFill>
                  <a:srgbClr val="5B6573"/>
                </a:solidFill>
                <a:latin typeface="Arial" pitchFamily="34" charset="0"/>
                <a:ea typeface="Arial" pitchFamily="34" charset="-122"/>
                <a:cs typeface="Arial" pitchFamily="34" charset="-120"/>
              </a:rPr>
              <a:t>Short, starts with a verb: Add, Fix, Update, Remove.</a:t>
            </a:r>
            <a:endParaRPr lang="en-US" sz="1200" dirty="0"/>
          </a:p>
        </p:txBody>
      </p:sp>
      <p:sp>
        <p:nvSpPr>
          <p:cNvPr id="21" name="Text 17"/>
          <p:cNvSpPr txBox="1"/>
          <p:nvPr/>
        </p:nvSpPr>
        <p:spPr>
          <a:xfrm>
            <a:off x="3291840" y="3840480"/>
            <a:ext cx="2651760" cy="274320"/>
          </a:xfrm>
          <a:prstGeom prst="rect">
            <a:avLst/>
          </a:prstGeom>
          <a:noFill/>
          <a:ln/>
        </p:spPr>
        <p:txBody>
          <a:bodyPr wrap="square" lIns="0" tIns="0" rIns="0" bIns="0" rtlCol="0" anchor="t"/>
          <a:lstStyle/>
          <a:p>
            <a:pPr marL="0" indent="0">
              <a:buNone/>
            </a:pPr>
            <a:r>
              <a:rPr lang="en-US" sz="1350" b="1" dirty="0">
                <a:solidFill>
                  <a:srgbClr val="F2711C"/>
                </a:solidFill>
                <a:latin typeface="Arial" pitchFamily="34" charset="0"/>
                <a:ea typeface="Arial" pitchFamily="34" charset="-122"/>
                <a:cs typeface="Arial" pitchFamily="34" charset="-120"/>
              </a:rPr>
              <a:t>Description</a:t>
            </a:r>
            <a:endParaRPr lang="en-US" sz="1350" dirty="0"/>
          </a:p>
        </p:txBody>
      </p:sp>
      <p:sp>
        <p:nvSpPr>
          <p:cNvPr id="22" name="Text 18"/>
          <p:cNvSpPr txBox="1"/>
          <p:nvPr/>
        </p:nvSpPr>
        <p:spPr>
          <a:xfrm>
            <a:off x="3291840" y="4114800"/>
            <a:ext cx="2651760" cy="548640"/>
          </a:xfrm>
          <a:prstGeom prst="rect">
            <a:avLst/>
          </a:prstGeom>
          <a:noFill/>
          <a:ln/>
        </p:spPr>
        <p:txBody>
          <a:bodyPr wrap="square" lIns="0" tIns="0" rIns="0" bIns="0" rtlCol="0" anchor="t"/>
          <a:lstStyle/>
          <a:p>
            <a:pPr marL="0" indent="0">
              <a:buNone/>
            </a:pPr>
            <a:r>
              <a:rPr lang="en-US" sz="1200" dirty="0">
                <a:solidFill>
                  <a:srgbClr val="5B6573"/>
                </a:solidFill>
                <a:latin typeface="Arial" pitchFamily="34" charset="0"/>
                <a:ea typeface="Arial" pitchFamily="34" charset="-122"/>
                <a:cs typeface="Arial" pitchFamily="34" charset="-120"/>
              </a:rPr>
              <a:t>The why: "after dyno test, belt slipped at 1.8."</a:t>
            </a:r>
            <a:endParaRPr lang="en-US" sz="1200" dirty="0"/>
          </a:p>
        </p:txBody>
      </p:sp>
      <p:sp>
        <p:nvSpPr>
          <p:cNvPr id="23" name="Text 19"/>
          <p:cNvSpPr txBox="1"/>
          <p:nvPr/>
        </p:nvSpPr>
        <p:spPr>
          <a:xfrm>
            <a:off x="6126480" y="3840480"/>
            <a:ext cx="2651760" cy="274320"/>
          </a:xfrm>
          <a:prstGeom prst="rect">
            <a:avLst/>
          </a:prstGeom>
          <a:noFill/>
          <a:ln/>
        </p:spPr>
        <p:txBody>
          <a:bodyPr wrap="square" lIns="0" tIns="0" rIns="0" bIns="0" rtlCol="0" anchor="t"/>
          <a:lstStyle/>
          <a:p>
            <a:pPr marL="0" indent="0">
              <a:buNone/>
            </a:pPr>
            <a:r>
              <a:rPr lang="en-US" sz="1350" b="1" dirty="0">
                <a:solidFill>
                  <a:srgbClr val="F2711C"/>
                </a:solidFill>
                <a:latin typeface="Arial" pitchFamily="34" charset="0"/>
                <a:ea typeface="Arial" pitchFamily="34" charset="-122"/>
                <a:cs typeface="Arial" pitchFamily="34" charset="-120"/>
              </a:rPr>
              <a:t>One idea per commit</a:t>
            </a:r>
            <a:endParaRPr lang="en-US" sz="1350" dirty="0"/>
          </a:p>
        </p:txBody>
      </p:sp>
      <p:sp>
        <p:nvSpPr>
          <p:cNvPr id="24" name="Text 20"/>
          <p:cNvSpPr txBox="1"/>
          <p:nvPr/>
        </p:nvSpPr>
        <p:spPr>
          <a:xfrm>
            <a:off x="6126480" y="4114800"/>
            <a:ext cx="2651760" cy="548640"/>
          </a:xfrm>
          <a:prstGeom prst="rect">
            <a:avLst/>
          </a:prstGeom>
          <a:noFill/>
          <a:ln/>
        </p:spPr>
        <p:txBody>
          <a:bodyPr wrap="square" lIns="0" tIns="0" rIns="0" bIns="0" rtlCol="0" anchor="t"/>
          <a:lstStyle/>
          <a:p>
            <a:pPr marL="0" indent="0">
              <a:buNone/>
            </a:pPr>
            <a:r>
              <a:rPr lang="en-US" sz="1200" dirty="0">
                <a:solidFill>
                  <a:srgbClr val="5B6573"/>
                </a:solidFill>
                <a:latin typeface="Arial" pitchFamily="34" charset="0"/>
                <a:ea typeface="Arial" pitchFamily="34" charset="-122"/>
                <a:cs typeface="Arial" pitchFamily="34" charset="-120"/>
              </a:rPr>
              <a:t>If you need "and", split it into two commits.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When two people commit at the same time</a:t>
            </a:r>
            <a:endParaRPr lang="en-US" sz="3000" dirty="0"/>
          </a:p>
        </p:txBody>
      </p:sp>
      <p:sp>
        <p:nvSpPr>
          <p:cNvPr id="3" name="Text 1"/>
          <p:cNvSpPr txBox="1"/>
          <p:nvPr/>
        </p:nvSpPr>
        <p:spPr>
          <a:xfrm>
            <a:off x="457200" y="1005840"/>
            <a:ext cx="3657600" cy="320040"/>
          </a:xfrm>
          <a:prstGeom prst="rect">
            <a:avLst/>
          </a:prstGeom>
          <a:noFill/>
          <a:ln/>
        </p:spPr>
        <p:txBody>
          <a:bodyPr wrap="square" lIns="0" tIns="0" rIns="0" bIns="0" rtlCol="0" anchor="t"/>
          <a:lstStyle/>
          <a:p>
            <a:pPr marL="0" indent="0">
              <a:buNone/>
            </a:pPr>
            <a:r>
              <a:rPr lang="en-US" sz="1500" b="1" dirty="0">
                <a:solidFill>
                  <a:srgbClr val="1F2933"/>
                </a:solidFill>
                <a:latin typeface="Arial" pitchFamily="34" charset="0"/>
                <a:ea typeface="Arial" pitchFamily="34" charset="-122"/>
                <a:cs typeface="Arial" pitchFamily="34" charset="-120"/>
              </a:rPr>
              <a:t>Before pulling</a:t>
            </a:r>
            <a:endParaRPr lang="en-US" sz="1500" dirty="0"/>
          </a:p>
        </p:txBody>
      </p:sp>
      <p:sp>
        <p:nvSpPr>
          <p:cNvPr id="4" name="Shape 2"/>
          <p:cNvSpPr/>
          <p:nvPr/>
        </p:nvSpPr>
        <p:spPr>
          <a:xfrm>
            <a:off x="731520" y="2148840"/>
            <a:ext cx="731520" cy="914"/>
          </a:xfrm>
          <a:prstGeom prst="line">
            <a:avLst/>
          </a:prstGeom>
          <a:noFill/>
          <a:ln w="38100">
            <a:solidFill>
              <a:srgbClr val="D5DAE0"/>
            </a:solidFill>
            <a:prstDash val="solid"/>
          </a:ln>
        </p:spPr>
        <p:txBody>
          <a:bodyPr/>
          <a:lstStyle/>
          <a:p>
            <a:endParaRPr lang="en-US"/>
          </a:p>
        </p:txBody>
      </p:sp>
      <p:sp>
        <p:nvSpPr>
          <p:cNvPr id="5" name="Shape 3"/>
          <p:cNvSpPr/>
          <p:nvPr/>
        </p:nvSpPr>
        <p:spPr>
          <a:xfrm>
            <a:off x="566928" y="1984248"/>
            <a:ext cx="329184" cy="329184"/>
          </a:xfrm>
          <a:prstGeom prst="ellipse">
            <a:avLst/>
          </a:prstGeom>
          <a:solidFill>
            <a:srgbClr val="2E9E6B"/>
          </a:solidFill>
          <a:ln w="19050">
            <a:solidFill>
              <a:srgbClr val="2E9E6B"/>
            </a:solidFill>
            <a:prstDash val="solid"/>
          </a:ln>
        </p:spPr>
        <p:txBody>
          <a:bodyPr/>
          <a:lstStyle/>
          <a:p>
            <a:endParaRPr lang="en-US"/>
          </a:p>
        </p:txBody>
      </p:sp>
      <p:sp>
        <p:nvSpPr>
          <p:cNvPr id="6" name="Shape 4"/>
          <p:cNvSpPr/>
          <p:nvPr/>
        </p:nvSpPr>
        <p:spPr>
          <a:xfrm>
            <a:off x="1389888" y="1984248"/>
            <a:ext cx="329184" cy="329184"/>
          </a:xfrm>
          <a:prstGeom prst="ellipse">
            <a:avLst/>
          </a:prstGeom>
          <a:solidFill>
            <a:srgbClr val="2E9E6B"/>
          </a:solidFill>
          <a:ln w="19050">
            <a:solidFill>
              <a:srgbClr val="2E9E6B"/>
            </a:solidFill>
            <a:prstDash val="solid"/>
          </a:ln>
        </p:spPr>
        <p:txBody>
          <a:bodyPr/>
          <a:lstStyle/>
          <a:p>
            <a:endParaRPr lang="en-US"/>
          </a:p>
        </p:txBody>
      </p:sp>
      <p:sp>
        <p:nvSpPr>
          <p:cNvPr id="7" name="Shape 5"/>
          <p:cNvSpPr/>
          <p:nvPr/>
        </p:nvSpPr>
        <p:spPr>
          <a:xfrm flipV="1">
            <a:off x="1554480" y="1600200"/>
            <a:ext cx="822960" cy="548640"/>
          </a:xfrm>
          <a:prstGeom prst="line">
            <a:avLst/>
          </a:prstGeom>
          <a:noFill/>
          <a:ln w="38100">
            <a:solidFill>
              <a:srgbClr val="3A6EA5"/>
            </a:solidFill>
            <a:prstDash val="solid"/>
          </a:ln>
        </p:spPr>
        <p:txBody>
          <a:bodyPr/>
          <a:lstStyle/>
          <a:p>
            <a:endParaRPr lang="en-US"/>
          </a:p>
        </p:txBody>
      </p:sp>
      <p:sp>
        <p:nvSpPr>
          <p:cNvPr id="8" name="Shape 6"/>
          <p:cNvSpPr/>
          <p:nvPr/>
        </p:nvSpPr>
        <p:spPr>
          <a:xfrm>
            <a:off x="1554480" y="2148840"/>
            <a:ext cx="822960" cy="548640"/>
          </a:xfrm>
          <a:prstGeom prst="line">
            <a:avLst/>
          </a:prstGeom>
          <a:noFill/>
          <a:ln w="38100">
            <a:solidFill>
              <a:srgbClr val="F2711C"/>
            </a:solidFill>
            <a:prstDash val="solid"/>
          </a:ln>
        </p:spPr>
        <p:txBody>
          <a:bodyPr/>
          <a:lstStyle/>
          <a:p>
            <a:endParaRPr lang="en-US"/>
          </a:p>
        </p:txBody>
      </p:sp>
      <p:sp>
        <p:nvSpPr>
          <p:cNvPr id="9" name="Shape 7"/>
          <p:cNvSpPr/>
          <p:nvPr/>
        </p:nvSpPr>
        <p:spPr>
          <a:xfrm>
            <a:off x="2212848" y="1435608"/>
            <a:ext cx="329184" cy="329184"/>
          </a:xfrm>
          <a:prstGeom prst="ellipse">
            <a:avLst/>
          </a:prstGeom>
          <a:solidFill>
            <a:srgbClr val="3A6EA5"/>
          </a:solidFill>
          <a:ln w="19050">
            <a:solidFill>
              <a:srgbClr val="3A6EA5"/>
            </a:solidFill>
            <a:prstDash val="solid"/>
          </a:ln>
        </p:spPr>
        <p:txBody>
          <a:bodyPr/>
          <a:lstStyle/>
          <a:p>
            <a:endParaRPr lang="en-US"/>
          </a:p>
        </p:txBody>
      </p:sp>
      <p:sp>
        <p:nvSpPr>
          <p:cNvPr id="10" name="Shape 8"/>
          <p:cNvSpPr/>
          <p:nvPr/>
        </p:nvSpPr>
        <p:spPr>
          <a:xfrm>
            <a:off x="2212848" y="2532888"/>
            <a:ext cx="329184" cy="329184"/>
          </a:xfrm>
          <a:prstGeom prst="ellipse">
            <a:avLst/>
          </a:prstGeom>
          <a:solidFill>
            <a:srgbClr val="F2711C"/>
          </a:solidFill>
          <a:ln w="19050">
            <a:solidFill>
              <a:srgbClr val="F2711C"/>
            </a:solidFill>
            <a:prstDash val="solid"/>
          </a:ln>
        </p:spPr>
        <p:txBody>
          <a:bodyPr/>
          <a:lstStyle/>
          <a:p>
            <a:endParaRPr lang="en-US"/>
          </a:p>
        </p:txBody>
      </p:sp>
      <p:sp>
        <p:nvSpPr>
          <p:cNvPr id="11" name="Text 9"/>
          <p:cNvSpPr txBox="1"/>
          <p:nvPr/>
        </p:nvSpPr>
        <p:spPr>
          <a:xfrm>
            <a:off x="2651760" y="1435608"/>
            <a:ext cx="1645920" cy="329184"/>
          </a:xfrm>
          <a:prstGeom prst="rect">
            <a:avLst/>
          </a:prstGeom>
          <a:noFill/>
          <a:ln/>
        </p:spPr>
        <p:txBody>
          <a:bodyPr wrap="square" lIns="0" tIns="0" rIns="0" bIns="0" rtlCol="0" anchor="ctr"/>
          <a:lstStyle/>
          <a:p>
            <a:pPr marL="0" indent="0">
              <a:buNone/>
            </a:pPr>
            <a:r>
              <a:rPr lang="en-US" sz="1200" b="1" dirty="0">
                <a:solidFill>
                  <a:srgbClr val="3A6EA5"/>
                </a:solidFill>
                <a:latin typeface="Arial" pitchFamily="34" charset="0"/>
                <a:ea typeface="Arial" pitchFamily="34" charset="-122"/>
                <a:cs typeface="Arial" pitchFamily="34" charset="-120"/>
              </a:rPr>
              <a:t>Ben pushed this</a:t>
            </a:r>
            <a:endParaRPr lang="en-US" sz="1200" dirty="0"/>
          </a:p>
        </p:txBody>
      </p:sp>
      <p:sp>
        <p:nvSpPr>
          <p:cNvPr id="12" name="Text 10"/>
          <p:cNvSpPr txBox="1"/>
          <p:nvPr/>
        </p:nvSpPr>
        <p:spPr>
          <a:xfrm>
            <a:off x="2651760" y="2532888"/>
            <a:ext cx="1645920" cy="329184"/>
          </a:xfrm>
          <a:prstGeom prst="rect">
            <a:avLst/>
          </a:prstGeom>
          <a:noFill/>
          <a:ln/>
        </p:spPr>
        <p:txBody>
          <a:bodyPr wrap="square" lIns="0" tIns="0" rIns="0" bIns="0" rtlCol="0" anchor="ctr"/>
          <a:lstStyle/>
          <a:p>
            <a:pPr marL="0" indent="0">
              <a:buNone/>
            </a:pPr>
            <a:r>
              <a:rPr lang="en-US" sz="1200" b="1" dirty="0">
                <a:solidFill>
                  <a:srgbClr val="F2711C"/>
                </a:solidFill>
                <a:latin typeface="Arial" pitchFamily="34" charset="0"/>
                <a:ea typeface="Arial" pitchFamily="34" charset="-122"/>
                <a:cs typeface="Arial" pitchFamily="34" charset="-120"/>
              </a:rPr>
              <a:t>Jacob committed this</a:t>
            </a:r>
            <a:endParaRPr lang="en-US" sz="1200" dirty="0"/>
          </a:p>
        </p:txBody>
      </p:sp>
      <p:sp>
        <p:nvSpPr>
          <p:cNvPr id="13" name="Text 11"/>
          <p:cNvSpPr txBox="1"/>
          <p:nvPr/>
        </p:nvSpPr>
        <p:spPr>
          <a:xfrm>
            <a:off x="4754880" y="1005840"/>
            <a:ext cx="3657600" cy="320040"/>
          </a:xfrm>
          <a:prstGeom prst="rect">
            <a:avLst/>
          </a:prstGeom>
          <a:noFill/>
          <a:ln/>
        </p:spPr>
        <p:txBody>
          <a:bodyPr wrap="square" lIns="0" tIns="0" rIns="0" bIns="0" rtlCol="0" anchor="t"/>
          <a:lstStyle/>
          <a:p>
            <a:pPr marL="0" indent="0">
              <a:buNone/>
            </a:pPr>
            <a:r>
              <a:rPr lang="en-US" sz="1500" b="1" dirty="0">
                <a:solidFill>
                  <a:srgbClr val="1F2933"/>
                </a:solidFill>
                <a:latin typeface="Arial" pitchFamily="34" charset="0"/>
                <a:ea typeface="Arial" pitchFamily="34" charset="-122"/>
                <a:cs typeface="Arial" pitchFamily="34" charset="-120"/>
              </a:rPr>
              <a:t>After you pull</a:t>
            </a:r>
            <a:endParaRPr lang="en-US" sz="1500" dirty="0"/>
          </a:p>
        </p:txBody>
      </p:sp>
      <p:sp>
        <p:nvSpPr>
          <p:cNvPr id="14" name="Shape 12"/>
          <p:cNvSpPr/>
          <p:nvPr/>
        </p:nvSpPr>
        <p:spPr>
          <a:xfrm>
            <a:off x="4864608" y="1984248"/>
            <a:ext cx="329184" cy="329184"/>
          </a:xfrm>
          <a:prstGeom prst="ellipse">
            <a:avLst/>
          </a:prstGeom>
          <a:solidFill>
            <a:srgbClr val="2E9E6B"/>
          </a:solidFill>
          <a:ln w="19050">
            <a:solidFill>
              <a:srgbClr val="2E9E6B"/>
            </a:solidFill>
            <a:prstDash val="solid"/>
          </a:ln>
        </p:spPr>
        <p:txBody>
          <a:bodyPr/>
          <a:lstStyle/>
          <a:p>
            <a:endParaRPr lang="en-US"/>
          </a:p>
        </p:txBody>
      </p:sp>
      <p:sp>
        <p:nvSpPr>
          <p:cNvPr id="15" name="Shape 13"/>
          <p:cNvSpPr/>
          <p:nvPr/>
        </p:nvSpPr>
        <p:spPr>
          <a:xfrm>
            <a:off x="5687568" y="1984248"/>
            <a:ext cx="329184" cy="329184"/>
          </a:xfrm>
          <a:prstGeom prst="ellipse">
            <a:avLst/>
          </a:prstGeom>
          <a:solidFill>
            <a:srgbClr val="2E9E6B"/>
          </a:solidFill>
          <a:ln w="19050">
            <a:solidFill>
              <a:srgbClr val="2E9E6B"/>
            </a:solidFill>
            <a:prstDash val="solid"/>
          </a:ln>
        </p:spPr>
        <p:txBody>
          <a:bodyPr/>
          <a:lstStyle/>
          <a:p>
            <a:endParaRPr lang="en-US"/>
          </a:p>
        </p:txBody>
      </p:sp>
      <p:sp>
        <p:nvSpPr>
          <p:cNvPr id="16" name="Shape 14"/>
          <p:cNvSpPr/>
          <p:nvPr/>
        </p:nvSpPr>
        <p:spPr>
          <a:xfrm>
            <a:off x="5193792" y="2148840"/>
            <a:ext cx="493776" cy="914"/>
          </a:xfrm>
          <a:prstGeom prst="line">
            <a:avLst/>
          </a:prstGeom>
          <a:noFill/>
          <a:ln w="38100">
            <a:solidFill>
              <a:srgbClr val="D5DAE0"/>
            </a:solidFill>
            <a:prstDash val="solid"/>
          </a:ln>
        </p:spPr>
        <p:txBody>
          <a:bodyPr/>
          <a:lstStyle/>
          <a:p>
            <a:endParaRPr lang="en-US"/>
          </a:p>
        </p:txBody>
      </p:sp>
      <p:sp>
        <p:nvSpPr>
          <p:cNvPr id="17" name="Shape 15"/>
          <p:cNvSpPr/>
          <p:nvPr/>
        </p:nvSpPr>
        <p:spPr>
          <a:xfrm flipV="1">
            <a:off x="5852160" y="1600200"/>
            <a:ext cx="822960" cy="548640"/>
          </a:xfrm>
          <a:prstGeom prst="line">
            <a:avLst/>
          </a:prstGeom>
          <a:noFill/>
          <a:ln w="38100">
            <a:solidFill>
              <a:srgbClr val="3A6EA5"/>
            </a:solidFill>
            <a:prstDash val="solid"/>
          </a:ln>
        </p:spPr>
        <p:txBody>
          <a:bodyPr/>
          <a:lstStyle/>
          <a:p>
            <a:endParaRPr lang="en-US"/>
          </a:p>
        </p:txBody>
      </p:sp>
      <p:sp>
        <p:nvSpPr>
          <p:cNvPr id="18" name="Shape 16"/>
          <p:cNvSpPr/>
          <p:nvPr/>
        </p:nvSpPr>
        <p:spPr>
          <a:xfrm>
            <a:off x="5852160" y="2148840"/>
            <a:ext cx="822960" cy="548640"/>
          </a:xfrm>
          <a:prstGeom prst="line">
            <a:avLst/>
          </a:prstGeom>
          <a:noFill/>
          <a:ln w="38100">
            <a:solidFill>
              <a:srgbClr val="F2711C"/>
            </a:solidFill>
            <a:prstDash val="solid"/>
          </a:ln>
        </p:spPr>
        <p:txBody>
          <a:bodyPr/>
          <a:lstStyle/>
          <a:p>
            <a:endParaRPr lang="en-US"/>
          </a:p>
        </p:txBody>
      </p:sp>
      <p:sp>
        <p:nvSpPr>
          <p:cNvPr id="19" name="Shape 17"/>
          <p:cNvSpPr/>
          <p:nvPr/>
        </p:nvSpPr>
        <p:spPr>
          <a:xfrm>
            <a:off x="6510528" y="1435608"/>
            <a:ext cx="329184" cy="329184"/>
          </a:xfrm>
          <a:prstGeom prst="ellipse">
            <a:avLst/>
          </a:prstGeom>
          <a:solidFill>
            <a:srgbClr val="3A6EA5"/>
          </a:solidFill>
          <a:ln w="19050">
            <a:solidFill>
              <a:srgbClr val="3A6EA5"/>
            </a:solidFill>
            <a:prstDash val="solid"/>
          </a:ln>
        </p:spPr>
        <p:txBody>
          <a:bodyPr/>
          <a:lstStyle/>
          <a:p>
            <a:endParaRPr lang="en-US"/>
          </a:p>
        </p:txBody>
      </p:sp>
      <p:sp>
        <p:nvSpPr>
          <p:cNvPr id="20" name="Shape 18"/>
          <p:cNvSpPr/>
          <p:nvPr/>
        </p:nvSpPr>
        <p:spPr>
          <a:xfrm>
            <a:off x="6510528" y="2532888"/>
            <a:ext cx="329184" cy="329184"/>
          </a:xfrm>
          <a:prstGeom prst="ellipse">
            <a:avLst/>
          </a:prstGeom>
          <a:solidFill>
            <a:srgbClr val="F2711C"/>
          </a:solidFill>
          <a:ln w="19050">
            <a:solidFill>
              <a:srgbClr val="F2711C"/>
            </a:solidFill>
            <a:prstDash val="solid"/>
          </a:ln>
        </p:spPr>
        <p:txBody>
          <a:bodyPr/>
          <a:lstStyle/>
          <a:p>
            <a:endParaRPr lang="en-US"/>
          </a:p>
        </p:txBody>
      </p:sp>
      <p:sp>
        <p:nvSpPr>
          <p:cNvPr id="21" name="Shape 19"/>
          <p:cNvSpPr/>
          <p:nvPr/>
        </p:nvSpPr>
        <p:spPr>
          <a:xfrm>
            <a:off x="6675120" y="1600200"/>
            <a:ext cx="822960" cy="548640"/>
          </a:xfrm>
          <a:prstGeom prst="line">
            <a:avLst/>
          </a:prstGeom>
          <a:noFill/>
          <a:ln w="38100">
            <a:solidFill>
              <a:srgbClr val="3A6EA5"/>
            </a:solidFill>
            <a:prstDash val="solid"/>
          </a:ln>
        </p:spPr>
        <p:txBody>
          <a:bodyPr/>
          <a:lstStyle/>
          <a:p>
            <a:endParaRPr lang="en-US"/>
          </a:p>
        </p:txBody>
      </p:sp>
      <p:sp>
        <p:nvSpPr>
          <p:cNvPr id="22" name="Shape 20"/>
          <p:cNvSpPr/>
          <p:nvPr/>
        </p:nvSpPr>
        <p:spPr>
          <a:xfrm flipV="1">
            <a:off x="6675120" y="2148840"/>
            <a:ext cx="822960" cy="548640"/>
          </a:xfrm>
          <a:prstGeom prst="line">
            <a:avLst/>
          </a:prstGeom>
          <a:noFill/>
          <a:ln w="38100">
            <a:solidFill>
              <a:srgbClr val="F2711C"/>
            </a:solidFill>
            <a:prstDash val="solid"/>
          </a:ln>
        </p:spPr>
        <p:txBody>
          <a:bodyPr/>
          <a:lstStyle/>
          <a:p>
            <a:endParaRPr lang="en-US"/>
          </a:p>
        </p:txBody>
      </p:sp>
      <p:sp>
        <p:nvSpPr>
          <p:cNvPr id="23" name="Shape 21"/>
          <p:cNvSpPr/>
          <p:nvPr/>
        </p:nvSpPr>
        <p:spPr>
          <a:xfrm>
            <a:off x="7315200" y="1947672"/>
            <a:ext cx="402336" cy="402336"/>
          </a:xfrm>
          <a:prstGeom prst="ellipse">
            <a:avLst/>
          </a:prstGeom>
          <a:solidFill>
            <a:srgbClr val="1B2430"/>
          </a:solidFill>
          <a:ln w="19050">
            <a:solidFill>
              <a:srgbClr val="1B2430"/>
            </a:solidFill>
            <a:prstDash val="solid"/>
          </a:ln>
        </p:spPr>
        <p:txBody>
          <a:bodyPr/>
          <a:lstStyle/>
          <a:p>
            <a:endParaRPr lang="en-US"/>
          </a:p>
        </p:txBody>
      </p:sp>
      <p:sp>
        <p:nvSpPr>
          <p:cNvPr id="24" name="Text 22"/>
          <p:cNvSpPr txBox="1"/>
          <p:nvPr/>
        </p:nvSpPr>
        <p:spPr>
          <a:xfrm>
            <a:off x="7772400" y="1874520"/>
            <a:ext cx="914400" cy="548640"/>
          </a:xfrm>
          <a:prstGeom prst="rect">
            <a:avLst/>
          </a:prstGeom>
          <a:noFill/>
          <a:ln/>
        </p:spPr>
        <p:txBody>
          <a:bodyPr wrap="square" lIns="0" tIns="0" rIns="0" bIns="0" rtlCol="0" anchor="ctr"/>
          <a:lstStyle/>
          <a:p>
            <a:pPr marL="0" indent="0">
              <a:buNone/>
            </a:pPr>
            <a:r>
              <a:rPr lang="en-US" sz="1100" b="1" dirty="0">
                <a:solidFill>
                  <a:srgbClr val="1F2933"/>
                </a:solidFill>
                <a:latin typeface="Arial" pitchFamily="34" charset="0"/>
                <a:ea typeface="Arial" pitchFamily="34" charset="-122"/>
                <a:cs typeface="Arial" pitchFamily="34" charset="-120"/>
              </a:rPr>
              <a:t>merge</a:t>
            </a:r>
            <a:endParaRPr lang="en-US" sz="1100" dirty="0"/>
          </a:p>
          <a:p>
            <a:pPr marL="0" indent="0">
              <a:buNone/>
            </a:pPr>
            <a:r>
              <a:rPr lang="en-US" sz="1100" b="1" dirty="0">
                <a:solidFill>
                  <a:srgbClr val="1F2933"/>
                </a:solidFill>
                <a:latin typeface="Arial" pitchFamily="34" charset="0"/>
                <a:ea typeface="Arial" pitchFamily="34" charset="-122"/>
                <a:cs typeface="Arial" pitchFamily="34" charset="-120"/>
              </a:rPr>
              <a:t>commit</a:t>
            </a:r>
            <a:endParaRPr lang="en-US" sz="1100" dirty="0"/>
          </a:p>
        </p:txBody>
      </p:sp>
      <p:sp>
        <p:nvSpPr>
          <p:cNvPr id="25" name="Shape 23"/>
          <p:cNvSpPr/>
          <p:nvPr/>
        </p:nvSpPr>
        <p:spPr>
          <a:xfrm>
            <a:off x="457200" y="3291840"/>
            <a:ext cx="8229600" cy="1280160"/>
          </a:xfrm>
          <a:prstGeom prst="roundRect">
            <a:avLst>
              <a:gd name="adj" fmla="val 5714"/>
            </a:avLst>
          </a:prstGeom>
          <a:solidFill>
            <a:srgbClr val="F1F3F5"/>
          </a:solidFill>
          <a:ln w="12700">
            <a:solidFill>
              <a:srgbClr val="F1F3F5"/>
            </a:solidFill>
            <a:prstDash val="solid"/>
          </a:ln>
        </p:spPr>
        <p:txBody>
          <a:bodyPr/>
          <a:lstStyle/>
          <a:p>
            <a:endParaRPr lang="en-US"/>
          </a:p>
        </p:txBody>
      </p:sp>
      <p:sp>
        <p:nvSpPr>
          <p:cNvPr id="26" name="Text 24"/>
          <p:cNvSpPr txBox="1"/>
          <p:nvPr/>
        </p:nvSpPr>
        <p:spPr>
          <a:xfrm>
            <a:off x="685800" y="3383280"/>
            <a:ext cx="7772400" cy="1097280"/>
          </a:xfrm>
          <a:prstGeom prst="rect">
            <a:avLst/>
          </a:prstGeom>
          <a:noFill/>
          <a:ln/>
        </p:spPr>
        <p:txBody>
          <a:bodyPr wrap="square" lIns="0" tIns="0" rIns="0" bIns="0" rtlCol="0" anchor="ctr"/>
          <a:lstStyle/>
          <a:p>
            <a:pPr marL="0" indent="0">
              <a:spcAft>
                <a:spcPts val="600"/>
              </a:spcAft>
              <a:buNone/>
            </a:pPr>
            <a:r>
              <a:rPr lang="en-US" sz="1350" b="1" dirty="0">
                <a:solidFill>
                  <a:srgbClr val="D64545"/>
                </a:solidFill>
                <a:latin typeface="Arial" pitchFamily="34" charset="0"/>
                <a:ea typeface="Arial" pitchFamily="34" charset="-122"/>
                <a:cs typeface="Arial" pitchFamily="34" charset="-120"/>
              </a:rPr>
              <a:t>Push gets rejected: </a:t>
            </a:r>
            <a:r>
              <a:rPr lang="en-US" sz="1350" dirty="0">
                <a:solidFill>
                  <a:srgbClr val="1F2933"/>
                </a:solidFill>
                <a:latin typeface="Arial" pitchFamily="34" charset="0"/>
                <a:ea typeface="Arial" pitchFamily="34" charset="-122"/>
                <a:cs typeface="Arial" pitchFamily="34" charset="-120"/>
              </a:rPr>
              <a:t>GitHub won't accept your commits because it has one you don't. Desktop tells you to pull first.</a:t>
            </a:r>
            <a:endParaRPr lang="en-US" sz="1350" dirty="0"/>
          </a:p>
          <a:p>
            <a:pPr marL="0" indent="0">
              <a:spcAft>
                <a:spcPts val="600"/>
              </a:spcAft>
              <a:buNone/>
            </a:pPr>
            <a:r>
              <a:rPr lang="en-US" sz="1350" b="1" dirty="0">
                <a:solidFill>
                  <a:srgbClr val="2E9E6B"/>
                </a:solidFill>
                <a:latin typeface="Arial" pitchFamily="34" charset="0"/>
                <a:ea typeface="Arial" pitchFamily="34" charset="-122"/>
                <a:cs typeface="Arial" pitchFamily="34" charset="-120"/>
              </a:rPr>
              <a:t>Pull combines them: </a:t>
            </a:r>
            <a:r>
              <a:rPr lang="en-US" sz="1350" dirty="0">
                <a:solidFill>
                  <a:srgbClr val="1F2933"/>
                </a:solidFill>
                <a:latin typeface="Arial" pitchFamily="34" charset="0"/>
                <a:ea typeface="Arial" pitchFamily="34" charset="-122"/>
                <a:cs typeface="Arial" pitchFamily="34" charset="-120"/>
              </a:rPr>
              <a:t>Git automatically creates a merge commit that contains both sets of changes. Then push normally.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Merge conflicts: same lines, different edits</a:t>
            </a:r>
            <a:endParaRPr lang="en-US" sz="3000" dirty="0"/>
          </a:p>
        </p:txBody>
      </p:sp>
      <p:sp>
        <p:nvSpPr>
          <p:cNvPr id="3" name="Shape 1"/>
          <p:cNvSpPr/>
          <p:nvPr/>
        </p:nvSpPr>
        <p:spPr>
          <a:xfrm>
            <a:off x="457200" y="1143000"/>
            <a:ext cx="4206240" cy="2377440"/>
          </a:xfrm>
          <a:prstGeom prst="roundRect">
            <a:avLst>
              <a:gd name="adj" fmla="val 3077"/>
            </a:avLst>
          </a:prstGeom>
          <a:solidFill>
            <a:srgbClr val="1B2430"/>
          </a:solidFill>
          <a:ln w="12700">
            <a:solidFill>
              <a:srgbClr val="1B2430"/>
            </a:solidFill>
            <a:prstDash val="solid"/>
          </a:ln>
        </p:spPr>
        <p:txBody>
          <a:bodyPr/>
          <a:lstStyle/>
          <a:p>
            <a:endParaRPr lang="en-US"/>
          </a:p>
        </p:txBody>
      </p:sp>
      <p:sp>
        <p:nvSpPr>
          <p:cNvPr id="4" name="Text 2"/>
          <p:cNvSpPr txBox="1"/>
          <p:nvPr/>
        </p:nvSpPr>
        <p:spPr>
          <a:xfrm>
            <a:off x="685800" y="1325880"/>
            <a:ext cx="3840480" cy="365760"/>
          </a:xfrm>
          <a:prstGeom prst="rect">
            <a:avLst/>
          </a:prstGeom>
          <a:noFill/>
          <a:ln/>
        </p:spPr>
        <p:txBody>
          <a:bodyPr wrap="square" lIns="0" tIns="0" rIns="0" bIns="0" rtlCol="0" anchor="ctr"/>
          <a:lstStyle/>
          <a:p>
            <a:pPr marL="0" indent="0">
              <a:buNone/>
            </a:pPr>
            <a:r>
              <a:rPr lang="en-US" sz="1300" dirty="0">
                <a:solidFill>
                  <a:srgbClr val="F2711C"/>
                </a:solidFill>
                <a:latin typeface="Courier New" pitchFamily="34" charset="0"/>
                <a:ea typeface="Courier New" pitchFamily="34" charset="-122"/>
                <a:cs typeface="Courier New" pitchFamily="34" charset="-120"/>
              </a:rPr>
              <a:t>&lt;&lt;&lt;&lt;&lt;&lt;&lt; HEAD (yours)</a:t>
            </a:r>
            <a:endParaRPr lang="en-US" sz="1300" dirty="0"/>
          </a:p>
        </p:txBody>
      </p:sp>
      <p:sp>
        <p:nvSpPr>
          <p:cNvPr id="5" name="Text 3"/>
          <p:cNvSpPr txBox="1"/>
          <p:nvPr/>
        </p:nvSpPr>
        <p:spPr>
          <a:xfrm>
            <a:off x="685800" y="1728216"/>
            <a:ext cx="3840480" cy="365760"/>
          </a:xfrm>
          <a:prstGeom prst="rect">
            <a:avLst/>
          </a:prstGeom>
          <a:noFill/>
          <a:ln/>
        </p:spPr>
        <p:txBody>
          <a:bodyPr wrap="square" lIns="0" tIns="0" rIns="0" bIns="0" rtlCol="0" anchor="ctr"/>
          <a:lstStyle/>
          <a:p>
            <a:pPr marL="0" indent="0">
              <a:buNone/>
            </a:pPr>
            <a:r>
              <a:rPr lang="en-US" sz="1300" dirty="0">
                <a:solidFill>
                  <a:srgbClr val="E6EBF0"/>
                </a:solidFill>
                <a:latin typeface="Courier New" pitchFamily="34" charset="0"/>
                <a:ea typeface="Courier New" pitchFamily="34" charset="-122"/>
                <a:cs typeface="Courier New" pitchFamily="34" charset="-120"/>
              </a:rPr>
              <a:t>Kp = 1.4;</a:t>
            </a:r>
            <a:endParaRPr lang="en-US" sz="1300" dirty="0"/>
          </a:p>
        </p:txBody>
      </p:sp>
      <p:sp>
        <p:nvSpPr>
          <p:cNvPr id="6" name="Text 4"/>
          <p:cNvSpPr txBox="1"/>
          <p:nvPr/>
        </p:nvSpPr>
        <p:spPr>
          <a:xfrm>
            <a:off x="685800" y="2130552"/>
            <a:ext cx="3840480" cy="365760"/>
          </a:xfrm>
          <a:prstGeom prst="rect">
            <a:avLst/>
          </a:prstGeom>
          <a:noFill/>
          <a:ln/>
        </p:spPr>
        <p:txBody>
          <a:bodyPr wrap="square" lIns="0" tIns="0" rIns="0" bIns="0" rtlCol="0" anchor="ctr"/>
          <a:lstStyle/>
          <a:p>
            <a:pPr marL="0" indent="0">
              <a:buNone/>
            </a:pPr>
            <a:r>
              <a:rPr lang="en-US" sz="1300" dirty="0">
                <a:solidFill>
                  <a:srgbClr val="8FA0B3"/>
                </a:solidFill>
                <a:latin typeface="Courier New" pitchFamily="34" charset="0"/>
                <a:ea typeface="Courier New" pitchFamily="34" charset="-122"/>
                <a:cs typeface="Courier New" pitchFamily="34" charset="-120"/>
              </a:rPr>
              <a:t>=======</a:t>
            </a:r>
            <a:endParaRPr lang="en-US" sz="1300" dirty="0"/>
          </a:p>
        </p:txBody>
      </p:sp>
      <p:sp>
        <p:nvSpPr>
          <p:cNvPr id="7" name="Text 5"/>
          <p:cNvSpPr txBox="1"/>
          <p:nvPr/>
        </p:nvSpPr>
        <p:spPr>
          <a:xfrm>
            <a:off x="685800" y="2532888"/>
            <a:ext cx="3840480" cy="365760"/>
          </a:xfrm>
          <a:prstGeom prst="rect">
            <a:avLst/>
          </a:prstGeom>
          <a:noFill/>
          <a:ln/>
        </p:spPr>
        <p:txBody>
          <a:bodyPr wrap="square" lIns="0" tIns="0" rIns="0" bIns="0" rtlCol="0" anchor="ctr"/>
          <a:lstStyle/>
          <a:p>
            <a:pPr marL="0" indent="0">
              <a:buNone/>
            </a:pPr>
            <a:r>
              <a:rPr lang="en-US" sz="1300" dirty="0">
                <a:solidFill>
                  <a:srgbClr val="E6EBF0"/>
                </a:solidFill>
                <a:latin typeface="Courier New" pitchFamily="34" charset="0"/>
                <a:ea typeface="Courier New" pitchFamily="34" charset="-122"/>
                <a:cs typeface="Courier New" pitchFamily="34" charset="-120"/>
              </a:rPr>
              <a:t>Kp = 1.8;</a:t>
            </a:r>
            <a:endParaRPr lang="en-US" sz="1300" dirty="0"/>
          </a:p>
        </p:txBody>
      </p:sp>
      <p:sp>
        <p:nvSpPr>
          <p:cNvPr id="8" name="Text 6"/>
          <p:cNvSpPr txBox="1"/>
          <p:nvPr/>
        </p:nvSpPr>
        <p:spPr>
          <a:xfrm>
            <a:off x="685800" y="2935224"/>
            <a:ext cx="3840480" cy="365760"/>
          </a:xfrm>
          <a:prstGeom prst="rect">
            <a:avLst/>
          </a:prstGeom>
          <a:noFill/>
          <a:ln/>
        </p:spPr>
        <p:txBody>
          <a:bodyPr wrap="square" lIns="0" tIns="0" rIns="0" bIns="0" rtlCol="0" anchor="ctr"/>
          <a:lstStyle/>
          <a:p>
            <a:pPr marL="0" indent="0">
              <a:buNone/>
            </a:pPr>
            <a:r>
              <a:rPr lang="en-US" sz="1300" dirty="0">
                <a:solidFill>
                  <a:srgbClr val="6FA8DC"/>
                </a:solidFill>
                <a:latin typeface="Courier New" pitchFamily="34" charset="0"/>
                <a:ea typeface="Courier New" pitchFamily="34" charset="-122"/>
                <a:cs typeface="Courier New" pitchFamily="34" charset="-120"/>
              </a:rPr>
              <a:t>&gt;&gt;&gt;&gt;&gt;&gt;&gt; origin/main (Sam's)</a:t>
            </a:r>
            <a:endParaRPr lang="en-US" sz="1300" dirty="0"/>
          </a:p>
        </p:txBody>
      </p:sp>
      <p:sp>
        <p:nvSpPr>
          <p:cNvPr id="9" name="Text 7"/>
          <p:cNvSpPr txBox="1"/>
          <p:nvPr/>
        </p:nvSpPr>
        <p:spPr>
          <a:xfrm>
            <a:off x="457200" y="3611880"/>
            <a:ext cx="4206240" cy="320040"/>
          </a:xfrm>
          <a:prstGeom prst="rect">
            <a:avLst/>
          </a:prstGeom>
          <a:noFill/>
          <a:ln/>
        </p:spPr>
        <p:txBody>
          <a:bodyPr wrap="square" lIns="0" tIns="0" rIns="0" bIns="0" rtlCol="0" anchor="t"/>
          <a:lstStyle/>
          <a:p>
            <a:pPr marL="0" indent="0">
              <a:buNone/>
            </a:pPr>
            <a:r>
              <a:rPr lang="en-US" sz="1150" i="1" dirty="0">
                <a:solidFill>
                  <a:srgbClr val="5B6573"/>
                </a:solidFill>
                <a:latin typeface="Arial" pitchFamily="34" charset="0"/>
                <a:ea typeface="Arial" pitchFamily="34" charset="-122"/>
                <a:cs typeface="Arial" pitchFamily="34" charset="-120"/>
              </a:rPr>
              <a:t>What a conflicted text file looks like</a:t>
            </a:r>
            <a:endParaRPr lang="en-US" sz="1150" dirty="0"/>
          </a:p>
        </p:txBody>
      </p:sp>
      <p:sp>
        <p:nvSpPr>
          <p:cNvPr id="10" name="Shape 8"/>
          <p:cNvSpPr/>
          <p:nvPr/>
        </p:nvSpPr>
        <p:spPr>
          <a:xfrm>
            <a:off x="4983480" y="1143000"/>
            <a:ext cx="365760" cy="365760"/>
          </a:xfrm>
          <a:prstGeom prst="ellipse">
            <a:avLst/>
          </a:prstGeom>
          <a:solidFill>
            <a:srgbClr val="F2711C"/>
          </a:solidFill>
          <a:ln w="19050">
            <a:solidFill>
              <a:srgbClr val="F2711C"/>
            </a:solidFill>
            <a:prstDash val="solid"/>
          </a:ln>
        </p:spPr>
        <p:txBody>
          <a:bodyPr/>
          <a:lstStyle/>
          <a:p>
            <a:endParaRPr lang="en-US"/>
          </a:p>
        </p:txBody>
      </p:sp>
      <p:sp>
        <p:nvSpPr>
          <p:cNvPr id="11" name="Text 9"/>
          <p:cNvSpPr txBox="1"/>
          <p:nvPr/>
        </p:nvSpPr>
        <p:spPr>
          <a:xfrm>
            <a:off x="4983480" y="11430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10"/>
          <p:cNvSpPr txBox="1"/>
          <p:nvPr/>
        </p:nvSpPr>
        <p:spPr>
          <a:xfrm>
            <a:off x="5486400" y="1124712"/>
            <a:ext cx="3200400" cy="274320"/>
          </a:xfrm>
          <a:prstGeom prst="rect">
            <a:avLst/>
          </a:prstGeom>
          <a:noFill/>
          <a:ln/>
        </p:spPr>
        <p:txBody>
          <a:bodyPr wrap="square" lIns="0" tIns="0" rIns="0" bIns="0" rtlCol="0" anchor="t"/>
          <a:lstStyle/>
          <a:p>
            <a:pPr marL="0" indent="0">
              <a:buNone/>
            </a:pPr>
            <a:r>
              <a:rPr lang="en-US" sz="1350" b="1" dirty="0">
                <a:solidFill>
                  <a:srgbClr val="1F2933"/>
                </a:solidFill>
                <a:latin typeface="Arial" pitchFamily="34" charset="0"/>
                <a:ea typeface="Arial" pitchFamily="34" charset="-122"/>
                <a:cs typeface="Arial" pitchFamily="34" charset="-120"/>
              </a:rPr>
              <a:t>Desktop lists the conflicted files</a:t>
            </a:r>
            <a:endParaRPr lang="en-US" sz="1350" dirty="0"/>
          </a:p>
        </p:txBody>
      </p:sp>
      <p:sp>
        <p:nvSpPr>
          <p:cNvPr id="13" name="Text 11"/>
          <p:cNvSpPr txBox="1"/>
          <p:nvPr/>
        </p:nvSpPr>
        <p:spPr>
          <a:xfrm>
            <a:off x="5486400" y="1399032"/>
            <a:ext cx="3200400" cy="320040"/>
          </a:xfrm>
          <a:prstGeom prst="rect">
            <a:avLst/>
          </a:prstGeom>
          <a:noFill/>
          <a:ln/>
        </p:spPr>
        <p:txBody>
          <a:bodyPr wrap="square" lIns="0" tIns="0" rIns="0" bIns="0" rtlCol="0" anchor="t"/>
          <a:lstStyle/>
          <a:p>
            <a:pPr marL="0" indent="0">
              <a:buNone/>
            </a:pPr>
            <a:r>
              <a:rPr lang="en-US" sz="1150" dirty="0">
                <a:solidFill>
                  <a:srgbClr val="5B6573"/>
                </a:solidFill>
                <a:latin typeface="Arial" pitchFamily="34" charset="0"/>
                <a:ea typeface="Arial" pitchFamily="34" charset="-122"/>
                <a:cs typeface="Arial" pitchFamily="34" charset="-120"/>
              </a:rPr>
              <a:t>The merge pauses until each is fixed.</a:t>
            </a:r>
            <a:endParaRPr lang="en-US" sz="1150" dirty="0"/>
          </a:p>
        </p:txBody>
      </p:sp>
      <p:sp>
        <p:nvSpPr>
          <p:cNvPr id="14" name="Shape 12"/>
          <p:cNvSpPr/>
          <p:nvPr/>
        </p:nvSpPr>
        <p:spPr>
          <a:xfrm>
            <a:off x="4983480" y="1837944"/>
            <a:ext cx="365760" cy="365760"/>
          </a:xfrm>
          <a:prstGeom prst="ellipse">
            <a:avLst/>
          </a:prstGeom>
          <a:solidFill>
            <a:srgbClr val="F2711C"/>
          </a:solidFill>
          <a:ln w="19050">
            <a:solidFill>
              <a:srgbClr val="F2711C"/>
            </a:solidFill>
            <a:prstDash val="solid"/>
          </a:ln>
        </p:spPr>
        <p:txBody>
          <a:bodyPr/>
          <a:lstStyle/>
          <a:p>
            <a:endParaRPr lang="en-US"/>
          </a:p>
        </p:txBody>
      </p:sp>
      <p:sp>
        <p:nvSpPr>
          <p:cNvPr id="15" name="Text 13"/>
          <p:cNvSpPr txBox="1"/>
          <p:nvPr/>
        </p:nvSpPr>
        <p:spPr>
          <a:xfrm>
            <a:off x="4983480" y="183794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4"/>
          <p:cNvSpPr txBox="1"/>
          <p:nvPr/>
        </p:nvSpPr>
        <p:spPr>
          <a:xfrm>
            <a:off x="5486400" y="1819656"/>
            <a:ext cx="3200400" cy="274320"/>
          </a:xfrm>
          <a:prstGeom prst="rect">
            <a:avLst/>
          </a:prstGeom>
          <a:noFill/>
          <a:ln/>
        </p:spPr>
        <p:txBody>
          <a:bodyPr wrap="square" lIns="0" tIns="0" rIns="0" bIns="0" rtlCol="0" anchor="t"/>
          <a:lstStyle/>
          <a:p>
            <a:pPr marL="0" indent="0">
              <a:buNone/>
            </a:pPr>
            <a:r>
              <a:rPr lang="en-US" sz="1350" b="1" dirty="0">
                <a:solidFill>
                  <a:srgbClr val="1F2933"/>
                </a:solidFill>
                <a:latin typeface="Arial" pitchFamily="34" charset="0"/>
                <a:ea typeface="Arial" pitchFamily="34" charset="-122"/>
                <a:cs typeface="Arial" pitchFamily="34" charset="-120"/>
              </a:rPr>
              <a:t>Open the file in your editor</a:t>
            </a:r>
            <a:endParaRPr lang="en-US" sz="1350" dirty="0"/>
          </a:p>
        </p:txBody>
      </p:sp>
      <p:sp>
        <p:nvSpPr>
          <p:cNvPr id="17" name="Text 15"/>
          <p:cNvSpPr txBox="1"/>
          <p:nvPr/>
        </p:nvSpPr>
        <p:spPr>
          <a:xfrm>
            <a:off x="5486400" y="2093976"/>
            <a:ext cx="3200400" cy="320040"/>
          </a:xfrm>
          <a:prstGeom prst="rect">
            <a:avLst/>
          </a:prstGeom>
          <a:noFill/>
          <a:ln/>
        </p:spPr>
        <p:txBody>
          <a:bodyPr wrap="square" lIns="0" tIns="0" rIns="0" bIns="0" rtlCol="0" anchor="t"/>
          <a:lstStyle/>
          <a:p>
            <a:pPr marL="0" indent="0">
              <a:buNone/>
            </a:pPr>
            <a:r>
              <a:rPr lang="en-US" sz="1150" dirty="0">
                <a:solidFill>
                  <a:srgbClr val="5B6573"/>
                </a:solidFill>
                <a:latin typeface="Arial" pitchFamily="34" charset="0"/>
                <a:ea typeface="Arial" pitchFamily="34" charset="-122"/>
                <a:cs typeface="Arial" pitchFamily="34" charset="-120"/>
              </a:rPr>
              <a:t>Find the &lt;&lt;&lt;&lt;&lt;&lt;&lt; markers.</a:t>
            </a:r>
            <a:endParaRPr lang="en-US" sz="1150" dirty="0"/>
          </a:p>
        </p:txBody>
      </p:sp>
      <p:sp>
        <p:nvSpPr>
          <p:cNvPr id="18" name="Shape 16"/>
          <p:cNvSpPr/>
          <p:nvPr/>
        </p:nvSpPr>
        <p:spPr>
          <a:xfrm>
            <a:off x="4983480" y="2532888"/>
            <a:ext cx="365760" cy="365760"/>
          </a:xfrm>
          <a:prstGeom prst="ellipse">
            <a:avLst/>
          </a:prstGeom>
          <a:solidFill>
            <a:srgbClr val="F2711C"/>
          </a:solidFill>
          <a:ln w="19050">
            <a:solidFill>
              <a:srgbClr val="F2711C"/>
            </a:solidFill>
            <a:prstDash val="solid"/>
          </a:ln>
        </p:spPr>
        <p:txBody>
          <a:bodyPr/>
          <a:lstStyle/>
          <a:p>
            <a:endParaRPr lang="en-US"/>
          </a:p>
        </p:txBody>
      </p:sp>
      <p:sp>
        <p:nvSpPr>
          <p:cNvPr id="19" name="Text 17"/>
          <p:cNvSpPr txBox="1"/>
          <p:nvPr/>
        </p:nvSpPr>
        <p:spPr>
          <a:xfrm>
            <a:off x="4983480" y="25328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5486400" y="2514600"/>
            <a:ext cx="3200400" cy="274320"/>
          </a:xfrm>
          <a:prstGeom prst="rect">
            <a:avLst/>
          </a:prstGeom>
          <a:noFill/>
          <a:ln/>
        </p:spPr>
        <p:txBody>
          <a:bodyPr wrap="square" lIns="0" tIns="0" rIns="0" bIns="0" rtlCol="0" anchor="t"/>
          <a:lstStyle/>
          <a:p>
            <a:pPr marL="0" indent="0">
              <a:buNone/>
            </a:pPr>
            <a:r>
              <a:rPr lang="en-US" sz="1350" b="1" dirty="0">
                <a:solidFill>
                  <a:srgbClr val="1F2933"/>
                </a:solidFill>
                <a:latin typeface="Arial" pitchFamily="34" charset="0"/>
                <a:ea typeface="Arial" pitchFamily="34" charset="-122"/>
                <a:cs typeface="Arial" pitchFamily="34" charset="-120"/>
              </a:rPr>
              <a:t>Decide what's right</a:t>
            </a:r>
            <a:endParaRPr lang="en-US" sz="1350" dirty="0"/>
          </a:p>
        </p:txBody>
      </p:sp>
      <p:sp>
        <p:nvSpPr>
          <p:cNvPr id="21" name="Text 19"/>
          <p:cNvSpPr txBox="1"/>
          <p:nvPr/>
        </p:nvSpPr>
        <p:spPr>
          <a:xfrm>
            <a:off x="5486400" y="2788920"/>
            <a:ext cx="3200400" cy="320040"/>
          </a:xfrm>
          <a:prstGeom prst="rect">
            <a:avLst/>
          </a:prstGeom>
          <a:noFill/>
          <a:ln/>
        </p:spPr>
        <p:txBody>
          <a:bodyPr wrap="square" lIns="0" tIns="0" rIns="0" bIns="0" rtlCol="0" anchor="t"/>
          <a:lstStyle/>
          <a:p>
            <a:pPr marL="0" indent="0">
              <a:buNone/>
            </a:pPr>
            <a:r>
              <a:rPr lang="en-US" sz="1150" dirty="0">
                <a:solidFill>
                  <a:srgbClr val="5B6573"/>
                </a:solidFill>
                <a:latin typeface="Arial" pitchFamily="34" charset="0"/>
                <a:ea typeface="Arial" pitchFamily="34" charset="-122"/>
                <a:cs typeface="Arial" pitchFamily="34" charset="-120"/>
              </a:rPr>
              <a:t>Keep yours, theirs, or combine them.</a:t>
            </a:r>
            <a:endParaRPr lang="en-US" sz="1150" dirty="0"/>
          </a:p>
        </p:txBody>
      </p:sp>
      <p:sp>
        <p:nvSpPr>
          <p:cNvPr id="22" name="Shape 20"/>
          <p:cNvSpPr/>
          <p:nvPr/>
        </p:nvSpPr>
        <p:spPr>
          <a:xfrm>
            <a:off x="4983480" y="3227832"/>
            <a:ext cx="365760" cy="365760"/>
          </a:xfrm>
          <a:prstGeom prst="ellipse">
            <a:avLst/>
          </a:prstGeom>
          <a:solidFill>
            <a:srgbClr val="F2711C"/>
          </a:solidFill>
          <a:ln w="19050">
            <a:solidFill>
              <a:srgbClr val="F2711C"/>
            </a:solidFill>
            <a:prstDash val="solid"/>
          </a:ln>
        </p:spPr>
        <p:txBody>
          <a:bodyPr/>
          <a:lstStyle/>
          <a:p>
            <a:endParaRPr lang="en-US"/>
          </a:p>
        </p:txBody>
      </p:sp>
      <p:sp>
        <p:nvSpPr>
          <p:cNvPr id="23" name="Text 21"/>
          <p:cNvSpPr txBox="1"/>
          <p:nvPr/>
        </p:nvSpPr>
        <p:spPr>
          <a:xfrm>
            <a:off x="4983480" y="322783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txBox="1"/>
          <p:nvPr/>
        </p:nvSpPr>
        <p:spPr>
          <a:xfrm>
            <a:off x="5486400" y="3209544"/>
            <a:ext cx="3200400" cy="274320"/>
          </a:xfrm>
          <a:prstGeom prst="rect">
            <a:avLst/>
          </a:prstGeom>
          <a:noFill/>
          <a:ln/>
        </p:spPr>
        <p:txBody>
          <a:bodyPr wrap="square" lIns="0" tIns="0" rIns="0" bIns="0" rtlCol="0" anchor="t"/>
          <a:lstStyle/>
          <a:p>
            <a:pPr marL="0" indent="0">
              <a:buNone/>
            </a:pPr>
            <a:r>
              <a:rPr lang="en-US" sz="1350" b="1" dirty="0">
                <a:solidFill>
                  <a:srgbClr val="1F2933"/>
                </a:solidFill>
                <a:latin typeface="Arial" pitchFamily="34" charset="0"/>
                <a:ea typeface="Arial" pitchFamily="34" charset="-122"/>
                <a:cs typeface="Arial" pitchFamily="34" charset="-120"/>
              </a:rPr>
              <a:t>Delete the markers, save</a:t>
            </a:r>
            <a:endParaRPr lang="en-US" sz="1350" dirty="0"/>
          </a:p>
        </p:txBody>
      </p:sp>
      <p:sp>
        <p:nvSpPr>
          <p:cNvPr id="25" name="Text 23"/>
          <p:cNvSpPr txBox="1"/>
          <p:nvPr/>
        </p:nvSpPr>
        <p:spPr>
          <a:xfrm>
            <a:off x="5486400" y="3483864"/>
            <a:ext cx="3200400" cy="320040"/>
          </a:xfrm>
          <a:prstGeom prst="rect">
            <a:avLst/>
          </a:prstGeom>
          <a:noFill/>
          <a:ln/>
        </p:spPr>
        <p:txBody>
          <a:bodyPr wrap="square" lIns="0" tIns="0" rIns="0" bIns="0" rtlCol="0" anchor="t"/>
          <a:lstStyle/>
          <a:p>
            <a:pPr marL="0" indent="0">
              <a:buNone/>
            </a:pPr>
            <a:r>
              <a:rPr lang="en-US" sz="1150" dirty="0">
                <a:solidFill>
                  <a:srgbClr val="5B6573"/>
                </a:solidFill>
                <a:latin typeface="Arial" pitchFamily="34" charset="0"/>
                <a:ea typeface="Arial" pitchFamily="34" charset="-122"/>
                <a:cs typeface="Arial" pitchFamily="34" charset="-120"/>
              </a:rPr>
              <a:t>Desktop shows the file as resolved.</a:t>
            </a:r>
            <a:endParaRPr lang="en-US" sz="1150" dirty="0"/>
          </a:p>
        </p:txBody>
      </p:sp>
      <p:sp>
        <p:nvSpPr>
          <p:cNvPr id="26" name="Shape 24"/>
          <p:cNvSpPr/>
          <p:nvPr/>
        </p:nvSpPr>
        <p:spPr>
          <a:xfrm>
            <a:off x="4983480" y="3922776"/>
            <a:ext cx="365760" cy="365760"/>
          </a:xfrm>
          <a:prstGeom prst="ellipse">
            <a:avLst/>
          </a:prstGeom>
          <a:solidFill>
            <a:srgbClr val="F2711C"/>
          </a:solidFill>
          <a:ln w="19050">
            <a:solidFill>
              <a:srgbClr val="F2711C"/>
            </a:solidFill>
            <a:prstDash val="solid"/>
          </a:ln>
        </p:spPr>
        <p:txBody>
          <a:bodyPr/>
          <a:lstStyle/>
          <a:p>
            <a:endParaRPr lang="en-US"/>
          </a:p>
        </p:txBody>
      </p:sp>
      <p:sp>
        <p:nvSpPr>
          <p:cNvPr id="27" name="Text 25"/>
          <p:cNvSpPr txBox="1"/>
          <p:nvPr/>
        </p:nvSpPr>
        <p:spPr>
          <a:xfrm>
            <a:off x="4983480" y="392277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6"/>
          <p:cNvSpPr txBox="1"/>
          <p:nvPr/>
        </p:nvSpPr>
        <p:spPr>
          <a:xfrm>
            <a:off x="5486400" y="3904488"/>
            <a:ext cx="3200400" cy="274320"/>
          </a:xfrm>
          <a:prstGeom prst="rect">
            <a:avLst/>
          </a:prstGeom>
          <a:noFill/>
          <a:ln/>
        </p:spPr>
        <p:txBody>
          <a:bodyPr wrap="square" lIns="0" tIns="0" rIns="0" bIns="0" rtlCol="0" anchor="t"/>
          <a:lstStyle/>
          <a:p>
            <a:pPr marL="0" indent="0">
              <a:buNone/>
            </a:pPr>
            <a:r>
              <a:rPr lang="en-US" sz="1350" b="1" dirty="0">
                <a:solidFill>
                  <a:srgbClr val="1F2933"/>
                </a:solidFill>
                <a:latin typeface="Arial" pitchFamily="34" charset="0"/>
                <a:ea typeface="Arial" pitchFamily="34" charset="-122"/>
                <a:cs typeface="Arial" pitchFamily="34" charset="-120"/>
              </a:rPr>
              <a:t>Click "Continue merge", then push</a:t>
            </a:r>
            <a:endParaRPr lang="en-US" sz="1350" dirty="0"/>
          </a:p>
        </p:txBody>
      </p:sp>
      <p:sp>
        <p:nvSpPr>
          <p:cNvPr id="29" name="Text 27"/>
          <p:cNvSpPr txBox="1"/>
          <p:nvPr/>
        </p:nvSpPr>
        <p:spPr>
          <a:xfrm>
            <a:off x="5486400" y="4178808"/>
            <a:ext cx="3200400" cy="320040"/>
          </a:xfrm>
          <a:prstGeom prst="rect">
            <a:avLst/>
          </a:prstGeom>
          <a:noFill/>
          <a:ln/>
        </p:spPr>
        <p:txBody>
          <a:bodyPr wrap="square" lIns="0" tIns="0" rIns="0" bIns="0" rtlCol="0" anchor="t"/>
          <a:lstStyle/>
          <a:p>
            <a:pPr marL="0" indent="0">
              <a:buNone/>
            </a:pPr>
            <a:r>
              <a:rPr lang="en-US" sz="1150" dirty="0">
                <a:solidFill>
                  <a:srgbClr val="5B6573"/>
                </a:solidFill>
                <a:latin typeface="Arial" pitchFamily="34" charset="0"/>
                <a:ea typeface="Arial" pitchFamily="34" charset="-122"/>
                <a:cs typeface="Arial" pitchFamily="34" charset="-120"/>
              </a:rPr>
              <a:t>Done.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Git can only merge text files</a:t>
            </a:r>
            <a:endParaRPr lang="en-US" sz="3000" dirty="0"/>
          </a:p>
        </p:txBody>
      </p:sp>
      <p:sp>
        <p:nvSpPr>
          <p:cNvPr id="3" name="Shape 1"/>
          <p:cNvSpPr/>
          <p:nvPr/>
        </p:nvSpPr>
        <p:spPr>
          <a:xfrm>
            <a:off x="457200" y="1051560"/>
            <a:ext cx="4754880" cy="402336"/>
          </a:xfrm>
          <a:prstGeom prst="roundRect">
            <a:avLst>
              <a:gd name="adj" fmla="val 18182"/>
            </a:avLst>
          </a:prstGeom>
          <a:solidFill>
            <a:srgbClr val="DDF1E6"/>
          </a:solidFill>
          <a:ln w="12700">
            <a:solidFill>
              <a:srgbClr val="DDF1E6"/>
            </a:solidFill>
            <a:prstDash val="solid"/>
          </a:ln>
        </p:spPr>
        <p:txBody>
          <a:bodyPr/>
          <a:lstStyle/>
          <a:p>
            <a:endParaRPr lang="en-US"/>
          </a:p>
        </p:txBody>
      </p:sp>
      <p:sp>
        <p:nvSpPr>
          <p:cNvPr id="4" name="Text 2"/>
          <p:cNvSpPr txBox="1"/>
          <p:nvPr/>
        </p:nvSpPr>
        <p:spPr>
          <a:xfrm>
            <a:off x="640080" y="1051560"/>
            <a:ext cx="2377440" cy="402336"/>
          </a:xfrm>
          <a:prstGeom prst="rect">
            <a:avLst/>
          </a:prstGeom>
          <a:noFill/>
          <a:ln/>
        </p:spPr>
        <p:txBody>
          <a:bodyPr wrap="square" lIns="0" tIns="0" rIns="0" bIns="0" rtlCol="0" anchor="ctr"/>
          <a:lstStyle/>
          <a:p>
            <a:pPr marL="0" indent="0">
              <a:buNone/>
            </a:pPr>
            <a:r>
              <a:rPr lang="en-US" sz="1200" b="1" dirty="0">
                <a:solidFill>
                  <a:srgbClr val="1F2933"/>
                </a:solidFill>
                <a:latin typeface="Courier New" pitchFamily="34" charset="0"/>
                <a:ea typeface="Courier New" pitchFamily="34" charset="-122"/>
                <a:cs typeface="Courier New" pitchFamily="34" charset="-120"/>
              </a:rPr>
              <a:t>.java  .cpp  .h  .c  .py</a:t>
            </a:r>
            <a:endParaRPr lang="en-US" sz="1200" dirty="0"/>
          </a:p>
        </p:txBody>
      </p:sp>
      <p:sp>
        <p:nvSpPr>
          <p:cNvPr id="5" name="Text 3"/>
          <p:cNvSpPr txBox="1"/>
          <p:nvPr/>
        </p:nvSpPr>
        <p:spPr>
          <a:xfrm>
            <a:off x="3017520" y="1051560"/>
            <a:ext cx="1554480" cy="402336"/>
          </a:xfrm>
          <a:prstGeom prst="rect">
            <a:avLst/>
          </a:prstGeom>
          <a:noFill/>
          <a:ln/>
        </p:spPr>
        <p:txBody>
          <a:bodyPr wrap="square" lIns="0" tIns="0" rIns="0" bIns="0" rtlCol="0" anchor="ctr"/>
          <a:lstStyle/>
          <a:p>
            <a:pPr marL="0" indent="0">
              <a:buNone/>
            </a:pPr>
            <a:r>
              <a:rPr lang="en-US" sz="1200" dirty="0">
                <a:solidFill>
                  <a:srgbClr val="5B6573"/>
                </a:solidFill>
                <a:latin typeface="Arial" pitchFamily="34" charset="0"/>
                <a:ea typeface="Arial" pitchFamily="34" charset="-122"/>
                <a:cs typeface="Arial" pitchFamily="34" charset="-120"/>
              </a:rPr>
              <a:t>Code</a:t>
            </a:r>
            <a:endParaRPr lang="en-US" sz="1200" dirty="0"/>
          </a:p>
        </p:txBody>
      </p:sp>
      <p:sp>
        <p:nvSpPr>
          <p:cNvPr id="6" name="Shape 4"/>
          <p:cNvSpPr/>
          <p:nvPr/>
        </p:nvSpPr>
        <p:spPr>
          <a:xfrm>
            <a:off x="4754880" y="1115568"/>
            <a:ext cx="274320" cy="274320"/>
          </a:xfrm>
          <a:prstGeom prst="ellipse">
            <a:avLst/>
          </a:prstGeom>
          <a:solidFill>
            <a:srgbClr val="2E9E6B"/>
          </a:solidFill>
          <a:ln w="19050">
            <a:solidFill>
              <a:srgbClr val="2E9E6B"/>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823460" y="1184148"/>
            <a:ext cx="137160" cy="137160"/>
          </a:xfrm>
          <a:prstGeom prst="rect">
            <a:avLst/>
          </a:prstGeom>
        </p:spPr>
      </p:pic>
      <p:sp>
        <p:nvSpPr>
          <p:cNvPr id="8" name="Shape 5"/>
          <p:cNvSpPr/>
          <p:nvPr/>
        </p:nvSpPr>
        <p:spPr>
          <a:xfrm>
            <a:off x="457200" y="1527048"/>
            <a:ext cx="4754880" cy="402336"/>
          </a:xfrm>
          <a:prstGeom prst="roundRect">
            <a:avLst>
              <a:gd name="adj" fmla="val 18182"/>
            </a:avLst>
          </a:prstGeom>
          <a:solidFill>
            <a:srgbClr val="DDF1E6"/>
          </a:solidFill>
          <a:ln w="12700">
            <a:solidFill>
              <a:srgbClr val="DDF1E6"/>
            </a:solidFill>
            <a:prstDash val="solid"/>
          </a:ln>
        </p:spPr>
        <p:txBody>
          <a:bodyPr/>
          <a:lstStyle/>
          <a:p>
            <a:endParaRPr lang="en-US"/>
          </a:p>
        </p:txBody>
      </p:sp>
      <p:sp>
        <p:nvSpPr>
          <p:cNvPr id="9" name="Text 6"/>
          <p:cNvSpPr txBox="1"/>
          <p:nvPr/>
        </p:nvSpPr>
        <p:spPr>
          <a:xfrm>
            <a:off x="640080" y="1527048"/>
            <a:ext cx="2377440" cy="402336"/>
          </a:xfrm>
          <a:prstGeom prst="rect">
            <a:avLst/>
          </a:prstGeom>
          <a:noFill/>
          <a:ln/>
        </p:spPr>
        <p:txBody>
          <a:bodyPr wrap="square" lIns="0" tIns="0" rIns="0" bIns="0" rtlCol="0" anchor="ctr"/>
          <a:lstStyle/>
          <a:p>
            <a:pPr marL="0" indent="0">
              <a:buNone/>
            </a:pPr>
            <a:r>
              <a:rPr lang="en-US" sz="1200" b="1" dirty="0">
                <a:solidFill>
                  <a:srgbClr val="1F2933"/>
                </a:solidFill>
                <a:latin typeface="Courier New" pitchFamily="34" charset="0"/>
                <a:ea typeface="Courier New" pitchFamily="34" charset="-122"/>
                <a:cs typeface="Courier New" pitchFamily="34" charset="-120"/>
              </a:rPr>
              <a:t>.m</a:t>
            </a:r>
            <a:endParaRPr lang="en-US" sz="1200" dirty="0"/>
          </a:p>
        </p:txBody>
      </p:sp>
      <p:sp>
        <p:nvSpPr>
          <p:cNvPr id="10" name="Text 7"/>
          <p:cNvSpPr txBox="1"/>
          <p:nvPr/>
        </p:nvSpPr>
        <p:spPr>
          <a:xfrm>
            <a:off x="3017520" y="1527048"/>
            <a:ext cx="1554480" cy="402336"/>
          </a:xfrm>
          <a:prstGeom prst="rect">
            <a:avLst/>
          </a:prstGeom>
          <a:noFill/>
          <a:ln/>
        </p:spPr>
        <p:txBody>
          <a:bodyPr wrap="square" lIns="0" tIns="0" rIns="0" bIns="0" rtlCol="0" anchor="ctr"/>
          <a:lstStyle/>
          <a:p>
            <a:pPr marL="0" indent="0">
              <a:buNone/>
            </a:pPr>
            <a:r>
              <a:rPr lang="en-US" sz="1200" dirty="0">
                <a:solidFill>
                  <a:srgbClr val="5B6573"/>
                </a:solidFill>
                <a:latin typeface="Arial" pitchFamily="34" charset="0"/>
                <a:ea typeface="Arial" pitchFamily="34" charset="-122"/>
                <a:cs typeface="Arial" pitchFamily="34" charset="-120"/>
              </a:rPr>
              <a:t>MATLAB scripts</a:t>
            </a:r>
            <a:endParaRPr lang="en-US" sz="1200" dirty="0"/>
          </a:p>
        </p:txBody>
      </p:sp>
      <p:sp>
        <p:nvSpPr>
          <p:cNvPr id="11" name="Shape 8"/>
          <p:cNvSpPr/>
          <p:nvPr/>
        </p:nvSpPr>
        <p:spPr>
          <a:xfrm>
            <a:off x="4754880" y="1591056"/>
            <a:ext cx="274320" cy="274320"/>
          </a:xfrm>
          <a:prstGeom prst="ellipse">
            <a:avLst/>
          </a:prstGeom>
          <a:solidFill>
            <a:srgbClr val="2E9E6B"/>
          </a:solidFill>
          <a:ln w="19050">
            <a:solidFill>
              <a:srgbClr val="2E9E6B"/>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4823460" y="1659636"/>
            <a:ext cx="137160" cy="137160"/>
          </a:xfrm>
          <a:prstGeom prst="rect">
            <a:avLst/>
          </a:prstGeom>
        </p:spPr>
      </p:pic>
      <p:sp>
        <p:nvSpPr>
          <p:cNvPr id="13" name="Shape 9"/>
          <p:cNvSpPr/>
          <p:nvPr/>
        </p:nvSpPr>
        <p:spPr>
          <a:xfrm>
            <a:off x="457200" y="2002536"/>
            <a:ext cx="4754880" cy="402336"/>
          </a:xfrm>
          <a:prstGeom prst="roundRect">
            <a:avLst>
              <a:gd name="adj" fmla="val 18182"/>
            </a:avLst>
          </a:prstGeom>
          <a:solidFill>
            <a:srgbClr val="DDF1E6"/>
          </a:solidFill>
          <a:ln w="12700">
            <a:solidFill>
              <a:srgbClr val="DDF1E6"/>
            </a:solidFill>
            <a:prstDash val="solid"/>
          </a:ln>
        </p:spPr>
        <p:txBody>
          <a:bodyPr/>
          <a:lstStyle/>
          <a:p>
            <a:endParaRPr lang="en-US"/>
          </a:p>
        </p:txBody>
      </p:sp>
      <p:sp>
        <p:nvSpPr>
          <p:cNvPr id="14" name="Text 10"/>
          <p:cNvSpPr txBox="1"/>
          <p:nvPr/>
        </p:nvSpPr>
        <p:spPr>
          <a:xfrm>
            <a:off x="640080" y="2002536"/>
            <a:ext cx="2377440" cy="402336"/>
          </a:xfrm>
          <a:prstGeom prst="rect">
            <a:avLst/>
          </a:prstGeom>
          <a:noFill/>
          <a:ln/>
        </p:spPr>
        <p:txBody>
          <a:bodyPr wrap="square" lIns="0" tIns="0" rIns="0" bIns="0" rtlCol="0" anchor="ctr"/>
          <a:lstStyle/>
          <a:p>
            <a:pPr marL="0" indent="0">
              <a:buNone/>
            </a:pPr>
            <a:r>
              <a:rPr lang="en-US" sz="1200" b="1" dirty="0">
                <a:solidFill>
                  <a:srgbClr val="1F2933"/>
                </a:solidFill>
                <a:latin typeface="Courier New" pitchFamily="34" charset="0"/>
                <a:ea typeface="Courier New" pitchFamily="34" charset="-122"/>
                <a:cs typeface="Courier New" pitchFamily="34" charset="-120"/>
              </a:rPr>
              <a:t>.md  .txt  .csv</a:t>
            </a:r>
            <a:endParaRPr lang="en-US" sz="1200" dirty="0"/>
          </a:p>
        </p:txBody>
      </p:sp>
      <p:sp>
        <p:nvSpPr>
          <p:cNvPr id="15" name="Text 11"/>
          <p:cNvSpPr txBox="1"/>
          <p:nvPr/>
        </p:nvSpPr>
        <p:spPr>
          <a:xfrm>
            <a:off x="3017520" y="2002536"/>
            <a:ext cx="1554480" cy="402336"/>
          </a:xfrm>
          <a:prstGeom prst="rect">
            <a:avLst/>
          </a:prstGeom>
          <a:noFill/>
          <a:ln/>
        </p:spPr>
        <p:txBody>
          <a:bodyPr wrap="square" lIns="0" tIns="0" rIns="0" bIns="0" rtlCol="0" anchor="ctr"/>
          <a:lstStyle/>
          <a:p>
            <a:pPr marL="0" indent="0">
              <a:buNone/>
            </a:pPr>
            <a:r>
              <a:rPr lang="en-US" sz="1200" dirty="0">
                <a:solidFill>
                  <a:srgbClr val="5B6573"/>
                </a:solidFill>
                <a:latin typeface="Arial" pitchFamily="34" charset="0"/>
                <a:ea typeface="Arial" pitchFamily="34" charset="-122"/>
                <a:cs typeface="Arial" pitchFamily="34" charset="-120"/>
              </a:rPr>
              <a:t>Notes &amp; data</a:t>
            </a:r>
            <a:endParaRPr lang="en-US" sz="1200" dirty="0"/>
          </a:p>
        </p:txBody>
      </p:sp>
      <p:sp>
        <p:nvSpPr>
          <p:cNvPr id="16" name="Shape 12"/>
          <p:cNvSpPr/>
          <p:nvPr/>
        </p:nvSpPr>
        <p:spPr>
          <a:xfrm>
            <a:off x="4754880" y="2066544"/>
            <a:ext cx="274320" cy="274320"/>
          </a:xfrm>
          <a:prstGeom prst="ellipse">
            <a:avLst/>
          </a:prstGeom>
          <a:solidFill>
            <a:srgbClr val="2E9E6B"/>
          </a:solidFill>
          <a:ln w="19050">
            <a:solidFill>
              <a:srgbClr val="2E9E6B"/>
            </a:solidFill>
            <a:prstDash val="solid"/>
          </a:ln>
        </p:spPr>
        <p:txBody>
          <a:bodyPr/>
          <a:lstStyle/>
          <a:p>
            <a:endParaRPr lang="en-US"/>
          </a:p>
        </p:txBody>
      </p:sp>
      <p:pic>
        <p:nvPicPr>
          <p:cNvPr id="17" name="Image 2" descr="preencoded.png"/>
          <p:cNvPicPr>
            <a:picLocks noChangeAspect="1"/>
          </p:cNvPicPr>
          <p:nvPr/>
        </p:nvPicPr>
        <p:blipFill>
          <a:blip r:embed="rId3"/>
          <a:stretch>
            <a:fillRect/>
          </a:stretch>
        </p:blipFill>
        <p:spPr>
          <a:xfrm>
            <a:off x="4823460" y="2135124"/>
            <a:ext cx="137160" cy="137160"/>
          </a:xfrm>
          <a:prstGeom prst="rect">
            <a:avLst/>
          </a:prstGeom>
        </p:spPr>
      </p:pic>
      <p:sp>
        <p:nvSpPr>
          <p:cNvPr id="18" name="Shape 13"/>
          <p:cNvSpPr/>
          <p:nvPr/>
        </p:nvSpPr>
        <p:spPr>
          <a:xfrm>
            <a:off x="457200" y="2478024"/>
            <a:ext cx="4754880" cy="402336"/>
          </a:xfrm>
          <a:prstGeom prst="roundRect">
            <a:avLst>
              <a:gd name="adj" fmla="val 18182"/>
            </a:avLst>
          </a:prstGeom>
          <a:solidFill>
            <a:srgbClr val="F8DEDE"/>
          </a:solidFill>
          <a:ln w="12700">
            <a:solidFill>
              <a:srgbClr val="F8DEDE"/>
            </a:solidFill>
            <a:prstDash val="solid"/>
          </a:ln>
        </p:spPr>
        <p:txBody>
          <a:bodyPr/>
          <a:lstStyle/>
          <a:p>
            <a:endParaRPr lang="en-US"/>
          </a:p>
        </p:txBody>
      </p:sp>
      <p:sp>
        <p:nvSpPr>
          <p:cNvPr id="19" name="Text 14"/>
          <p:cNvSpPr txBox="1"/>
          <p:nvPr/>
        </p:nvSpPr>
        <p:spPr>
          <a:xfrm>
            <a:off x="640080" y="2478024"/>
            <a:ext cx="2377440" cy="402336"/>
          </a:xfrm>
          <a:prstGeom prst="rect">
            <a:avLst/>
          </a:prstGeom>
          <a:noFill/>
          <a:ln/>
        </p:spPr>
        <p:txBody>
          <a:bodyPr wrap="square" lIns="0" tIns="0" rIns="0" bIns="0" rtlCol="0" anchor="ctr"/>
          <a:lstStyle/>
          <a:p>
            <a:pPr marL="0" indent="0">
              <a:buNone/>
            </a:pPr>
            <a:r>
              <a:rPr lang="en-US" sz="1200" b="1" dirty="0">
                <a:solidFill>
                  <a:srgbClr val="1F2933"/>
                </a:solidFill>
                <a:latin typeface="Courier New" pitchFamily="34" charset="0"/>
                <a:ea typeface="Courier New" pitchFamily="34" charset="-122"/>
                <a:cs typeface="Courier New" pitchFamily="34" charset="-120"/>
              </a:rPr>
              <a:t>.slx</a:t>
            </a:r>
            <a:endParaRPr lang="en-US" sz="1200" dirty="0"/>
          </a:p>
        </p:txBody>
      </p:sp>
      <p:sp>
        <p:nvSpPr>
          <p:cNvPr id="20" name="Text 15"/>
          <p:cNvSpPr txBox="1"/>
          <p:nvPr/>
        </p:nvSpPr>
        <p:spPr>
          <a:xfrm>
            <a:off x="3017520" y="2478024"/>
            <a:ext cx="1554480" cy="402336"/>
          </a:xfrm>
          <a:prstGeom prst="rect">
            <a:avLst/>
          </a:prstGeom>
          <a:noFill/>
          <a:ln/>
        </p:spPr>
        <p:txBody>
          <a:bodyPr wrap="square" lIns="0" tIns="0" rIns="0" bIns="0" rtlCol="0" anchor="ctr"/>
          <a:lstStyle/>
          <a:p>
            <a:pPr marL="0" indent="0">
              <a:buNone/>
            </a:pPr>
            <a:r>
              <a:rPr lang="en-US" sz="1200" dirty="0">
                <a:solidFill>
                  <a:srgbClr val="5B6573"/>
                </a:solidFill>
                <a:latin typeface="Arial" pitchFamily="34" charset="0"/>
                <a:ea typeface="Arial" pitchFamily="34" charset="-122"/>
                <a:cs typeface="Arial" pitchFamily="34" charset="-120"/>
              </a:rPr>
              <a:t>Simulink models</a:t>
            </a:r>
            <a:endParaRPr lang="en-US" sz="1200" dirty="0"/>
          </a:p>
        </p:txBody>
      </p:sp>
      <p:sp>
        <p:nvSpPr>
          <p:cNvPr id="21" name="Shape 16"/>
          <p:cNvSpPr/>
          <p:nvPr/>
        </p:nvSpPr>
        <p:spPr>
          <a:xfrm>
            <a:off x="4754880" y="2542032"/>
            <a:ext cx="274320" cy="274320"/>
          </a:xfrm>
          <a:prstGeom prst="ellipse">
            <a:avLst/>
          </a:prstGeom>
          <a:solidFill>
            <a:srgbClr val="D64545"/>
          </a:solidFill>
          <a:ln w="19050">
            <a:solidFill>
              <a:srgbClr val="D64545"/>
            </a:solidFill>
            <a:prstDash val="solid"/>
          </a:ln>
        </p:spPr>
        <p:txBody>
          <a:bodyPr/>
          <a:lstStyle/>
          <a:p>
            <a:endParaRPr lang="en-US"/>
          </a:p>
        </p:txBody>
      </p:sp>
      <p:pic>
        <p:nvPicPr>
          <p:cNvPr id="22" name="Image 3" descr="preencoded.png"/>
          <p:cNvPicPr>
            <a:picLocks noChangeAspect="1"/>
          </p:cNvPicPr>
          <p:nvPr/>
        </p:nvPicPr>
        <p:blipFill>
          <a:blip r:embed="rId4"/>
          <a:stretch>
            <a:fillRect/>
          </a:stretch>
        </p:blipFill>
        <p:spPr>
          <a:xfrm>
            <a:off x="4823460" y="2610612"/>
            <a:ext cx="137160" cy="137160"/>
          </a:xfrm>
          <a:prstGeom prst="rect">
            <a:avLst/>
          </a:prstGeom>
        </p:spPr>
      </p:pic>
      <p:sp>
        <p:nvSpPr>
          <p:cNvPr id="23" name="Shape 17"/>
          <p:cNvSpPr/>
          <p:nvPr/>
        </p:nvSpPr>
        <p:spPr>
          <a:xfrm>
            <a:off x="457200" y="2953512"/>
            <a:ext cx="4754880" cy="402336"/>
          </a:xfrm>
          <a:prstGeom prst="roundRect">
            <a:avLst>
              <a:gd name="adj" fmla="val 18182"/>
            </a:avLst>
          </a:prstGeom>
          <a:solidFill>
            <a:srgbClr val="F8DEDE"/>
          </a:solidFill>
          <a:ln w="12700">
            <a:solidFill>
              <a:srgbClr val="F8DEDE"/>
            </a:solidFill>
            <a:prstDash val="solid"/>
          </a:ln>
        </p:spPr>
        <p:txBody>
          <a:bodyPr/>
          <a:lstStyle/>
          <a:p>
            <a:endParaRPr lang="en-US"/>
          </a:p>
        </p:txBody>
      </p:sp>
      <p:sp>
        <p:nvSpPr>
          <p:cNvPr id="24" name="Text 18"/>
          <p:cNvSpPr txBox="1"/>
          <p:nvPr/>
        </p:nvSpPr>
        <p:spPr>
          <a:xfrm>
            <a:off x="640080" y="2953512"/>
            <a:ext cx="2377440" cy="402336"/>
          </a:xfrm>
          <a:prstGeom prst="rect">
            <a:avLst/>
          </a:prstGeom>
          <a:noFill/>
          <a:ln/>
        </p:spPr>
        <p:txBody>
          <a:bodyPr wrap="square" lIns="0" tIns="0" rIns="0" bIns="0" rtlCol="0" anchor="ctr"/>
          <a:lstStyle/>
          <a:p>
            <a:pPr marL="0" indent="0">
              <a:buNone/>
            </a:pPr>
            <a:r>
              <a:rPr lang="en-US" sz="1200" b="1" dirty="0">
                <a:solidFill>
                  <a:srgbClr val="1F2933"/>
                </a:solidFill>
                <a:latin typeface="Courier New" pitchFamily="34" charset="0"/>
                <a:ea typeface="Courier New" pitchFamily="34" charset="-122"/>
                <a:cs typeface="Courier New" pitchFamily="34" charset="-120"/>
              </a:rPr>
              <a:t>.SLDPRT  .STL  .STEP</a:t>
            </a:r>
            <a:endParaRPr lang="en-US" sz="1200" dirty="0"/>
          </a:p>
        </p:txBody>
      </p:sp>
      <p:sp>
        <p:nvSpPr>
          <p:cNvPr id="25" name="Text 19"/>
          <p:cNvSpPr txBox="1"/>
          <p:nvPr/>
        </p:nvSpPr>
        <p:spPr>
          <a:xfrm>
            <a:off x="3017520" y="2953512"/>
            <a:ext cx="1554480" cy="402336"/>
          </a:xfrm>
          <a:prstGeom prst="rect">
            <a:avLst/>
          </a:prstGeom>
          <a:noFill/>
          <a:ln/>
        </p:spPr>
        <p:txBody>
          <a:bodyPr wrap="square" lIns="0" tIns="0" rIns="0" bIns="0" rtlCol="0" anchor="ctr"/>
          <a:lstStyle/>
          <a:p>
            <a:pPr marL="0" indent="0">
              <a:buNone/>
            </a:pPr>
            <a:r>
              <a:rPr lang="en-US" sz="1200" dirty="0">
                <a:solidFill>
                  <a:srgbClr val="5B6573"/>
                </a:solidFill>
                <a:latin typeface="Arial" pitchFamily="34" charset="0"/>
                <a:ea typeface="Arial" pitchFamily="34" charset="-122"/>
                <a:cs typeface="Arial" pitchFamily="34" charset="-120"/>
              </a:rPr>
              <a:t>CAD</a:t>
            </a:r>
            <a:endParaRPr lang="en-US" sz="1200" dirty="0"/>
          </a:p>
        </p:txBody>
      </p:sp>
      <p:sp>
        <p:nvSpPr>
          <p:cNvPr id="26" name="Shape 20"/>
          <p:cNvSpPr/>
          <p:nvPr/>
        </p:nvSpPr>
        <p:spPr>
          <a:xfrm>
            <a:off x="4754880" y="3017520"/>
            <a:ext cx="274320" cy="274320"/>
          </a:xfrm>
          <a:prstGeom prst="ellipse">
            <a:avLst/>
          </a:prstGeom>
          <a:solidFill>
            <a:srgbClr val="D64545"/>
          </a:solidFill>
          <a:ln w="19050">
            <a:solidFill>
              <a:srgbClr val="D64545"/>
            </a:solidFill>
            <a:prstDash val="solid"/>
          </a:ln>
        </p:spPr>
        <p:txBody>
          <a:bodyPr/>
          <a:lstStyle/>
          <a:p>
            <a:endParaRPr lang="en-US"/>
          </a:p>
        </p:txBody>
      </p:sp>
      <p:pic>
        <p:nvPicPr>
          <p:cNvPr id="27" name="Image 4" descr="preencoded.png"/>
          <p:cNvPicPr>
            <a:picLocks noChangeAspect="1"/>
          </p:cNvPicPr>
          <p:nvPr/>
        </p:nvPicPr>
        <p:blipFill>
          <a:blip r:embed="rId4"/>
          <a:stretch>
            <a:fillRect/>
          </a:stretch>
        </p:blipFill>
        <p:spPr>
          <a:xfrm>
            <a:off x="4823460" y="3086100"/>
            <a:ext cx="137160" cy="137160"/>
          </a:xfrm>
          <a:prstGeom prst="rect">
            <a:avLst/>
          </a:prstGeom>
        </p:spPr>
      </p:pic>
      <p:sp>
        <p:nvSpPr>
          <p:cNvPr id="28" name="Shape 21"/>
          <p:cNvSpPr/>
          <p:nvPr/>
        </p:nvSpPr>
        <p:spPr>
          <a:xfrm>
            <a:off x="457200" y="3429000"/>
            <a:ext cx="4754880" cy="402336"/>
          </a:xfrm>
          <a:prstGeom prst="roundRect">
            <a:avLst>
              <a:gd name="adj" fmla="val 18182"/>
            </a:avLst>
          </a:prstGeom>
          <a:solidFill>
            <a:srgbClr val="F8DEDE"/>
          </a:solidFill>
          <a:ln w="12700">
            <a:solidFill>
              <a:srgbClr val="F8DEDE"/>
            </a:solidFill>
            <a:prstDash val="solid"/>
          </a:ln>
        </p:spPr>
        <p:txBody>
          <a:bodyPr/>
          <a:lstStyle/>
          <a:p>
            <a:endParaRPr lang="en-US"/>
          </a:p>
        </p:txBody>
      </p:sp>
      <p:sp>
        <p:nvSpPr>
          <p:cNvPr id="29" name="Text 22"/>
          <p:cNvSpPr txBox="1"/>
          <p:nvPr/>
        </p:nvSpPr>
        <p:spPr>
          <a:xfrm>
            <a:off x="640080" y="3429000"/>
            <a:ext cx="2377440" cy="402336"/>
          </a:xfrm>
          <a:prstGeom prst="rect">
            <a:avLst/>
          </a:prstGeom>
          <a:noFill/>
          <a:ln/>
        </p:spPr>
        <p:txBody>
          <a:bodyPr wrap="square" lIns="0" tIns="0" rIns="0" bIns="0" rtlCol="0" anchor="ctr"/>
          <a:lstStyle/>
          <a:p>
            <a:pPr marL="0" indent="0">
              <a:buNone/>
            </a:pPr>
            <a:r>
              <a:rPr lang="en-US" sz="1200" b="1" dirty="0">
                <a:solidFill>
                  <a:srgbClr val="1F2933"/>
                </a:solidFill>
                <a:latin typeface="Courier New" pitchFamily="34" charset="0"/>
                <a:ea typeface="Courier New" pitchFamily="34" charset="-122"/>
                <a:cs typeface="Courier New" pitchFamily="34" charset="-120"/>
              </a:rPr>
              <a:t>.docx  .pptx  .xlsx</a:t>
            </a:r>
            <a:endParaRPr lang="en-US" sz="1200" dirty="0"/>
          </a:p>
        </p:txBody>
      </p:sp>
      <p:sp>
        <p:nvSpPr>
          <p:cNvPr id="30" name="Text 23"/>
          <p:cNvSpPr txBox="1"/>
          <p:nvPr/>
        </p:nvSpPr>
        <p:spPr>
          <a:xfrm>
            <a:off x="3017520" y="3429000"/>
            <a:ext cx="1554480" cy="402336"/>
          </a:xfrm>
          <a:prstGeom prst="rect">
            <a:avLst/>
          </a:prstGeom>
          <a:noFill/>
          <a:ln/>
        </p:spPr>
        <p:txBody>
          <a:bodyPr wrap="square" lIns="0" tIns="0" rIns="0" bIns="0" rtlCol="0" anchor="ctr"/>
          <a:lstStyle/>
          <a:p>
            <a:pPr marL="0" indent="0">
              <a:buNone/>
            </a:pPr>
            <a:r>
              <a:rPr lang="en-US" sz="1200" dirty="0">
                <a:solidFill>
                  <a:srgbClr val="5B6573"/>
                </a:solidFill>
                <a:latin typeface="Arial" pitchFamily="34" charset="0"/>
                <a:ea typeface="Arial" pitchFamily="34" charset="-122"/>
                <a:cs typeface="Arial" pitchFamily="34" charset="-120"/>
              </a:rPr>
              <a:t>Office files</a:t>
            </a:r>
            <a:endParaRPr lang="en-US" sz="1200" dirty="0"/>
          </a:p>
        </p:txBody>
      </p:sp>
      <p:sp>
        <p:nvSpPr>
          <p:cNvPr id="31" name="Shape 24"/>
          <p:cNvSpPr/>
          <p:nvPr/>
        </p:nvSpPr>
        <p:spPr>
          <a:xfrm>
            <a:off x="4754880" y="3493008"/>
            <a:ext cx="274320" cy="274320"/>
          </a:xfrm>
          <a:prstGeom prst="ellipse">
            <a:avLst/>
          </a:prstGeom>
          <a:solidFill>
            <a:srgbClr val="D64545"/>
          </a:solidFill>
          <a:ln w="19050">
            <a:solidFill>
              <a:srgbClr val="D64545"/>
            </a:solidFill>
            <a:prstDash val="solid"/>
          </a:ln>
        </p:spPr>
        <p:txBody>
          <a:bodyPr/>
          <a:lstStyle/>
          <a:p>
            <a:endParaRPr lang="en-US"/>
          </a:p>
        </p:txBody>
      </p:sp>
      <p:pic>
        <p:nvPicPr>
          <p:cNvPr id="32" name="Image 5" descr="preencoded.png"/>
          <p:cNvPicPr>
            <a:picLocks noChangeAspect="1"/>
          </p:cNvPicPr>
          <p:nvPr/>
        </p:nvPicPr>
        <p:blipFill>
          <a:blip r:embed="rId4"/>
          <a:stretch>
            <a:fillRect/>
          </a:stretch>
        </p:blipFill>
        <p:spPr>
          <a:xfrm>
            <a:off x="4823460" y="3561588"/>
            <a:ext cx="137160" cy="137160"/>
          </a:xfrm>
          <a:prstGeom prst="rect">
            <a:avLst/>
          </a:prstGeom>
        </p:spPr>
      </p:pic>
      <p:sp>
        <p:nvSpPr>
          <p:cNvPr id="33" name="Shape 25"/>
          <p:cNvSpPr/>
          <p:nvPr/>
        </p:nvSpPr>
        <p:spPr>
          <a:xfrm>
            <a:off x="457200" y="3904488"/>
            <a:ext cx="4754880" cy="402336"/>
          </a:xfrm>
          <a:prstGeom prst="roundRect">
            <a:avLst>
              <a:gd name="adj" fmla="val 18182"/>
            </a:avLst>
          </a:prstGeom>
          <a:solidFill>
            <a:srgbClr val="F8DEDE"/>
          </a:solidFill>
          <a:ln w="12700">
            <a:solidFill>
              <a:srgbClr val="F8DEDE"/>
            </a:solidFill>
            <a:prstDash val="solid"/>
          </a:ln>
        </p:spPr>
        <p:txBody>
          <a:bodyPr/>
          <a:lstStyle/>
          <a:p>
            <a:endParaRPr lang="en-US"/>
          </a:p>
        </p:txBody>
      </p:sp>
      <p:sp>
        <p:nvSpPr>
          <p:cNvPr id="34" name="Text 26"/>
          <p:cNvSpPr txBox="1"/>
          <p:nvPr/>
        </p:nvSpPr>
        <p:spPr>
          <a:xfrm>
            <a:off x="640080" y="3904488"/>
            <a:ext cx="2377440" cy="402336"/>
          </a:xfrm>
          <a:prstGeom prst="rect">
            <a:avLst/>
          </a:prstGeom>
          <a:noFill/>
          <a:ln/>
        </p:spPr>
        <p:txBody>
          <a:bodyPr wrap="square" lIns="0" tIns="0" rIns="0" bIns="0" rtlCol="0" anchor="ctr"/>
          <a:lstStyle/>
          <a:p>
            <a:pPr marL="0" indent="0">
              <a:buNone/>
            </a:pPr>
            <a:r>
              <a:rPr lang="en-US" sz="1200" b="1" dirty="0">
                <a:solidFill>
                  <a:srgbClr val="1F2933"/>
                </a:solidFill>
                <a:latin typeface="Courier New" pitchFamily="34" charset="0"/>
                <a:ea typeface="Courier New" pitchFamily="34" charset="-122"/>
                <a:cs typeface="Courier New" pitchFamily="34" charset="-120"/>
              </a:rPr>
              <a:t>.pdf  .png  .jpg</a:t>
            </a:r>
            <a:endParaRPr lang="en-US" sz="1200" dirty="0"/>
          </a:p>
        </p:txBody>
      </p:sp>
      <p:sp>
        <p:nvSpPr>
          <p:cNvPr id="35" name="Text 27"/>
          <p:cNvSpPr txBox="1"/>
          <p:nvPr/>
        </p:nvSpPr>
        <p:spPr>
          <a:xfrm>
            <a:off x="3017520" y="3904488"/>
            <a:ext cx="1554480" cy="402336"/>
          </a:xfrm>
          <a:prstGeom prst="rect">
            <a:avLst/>
          </a:prstGeom>
          <a:noFill/>
          <a:ln/>
        </p:spPr>
        <p:txBody>
          <a:bodyPr wrap="square" lIns="0" tIns="0" rIns="0" bIns="0" rtlCol="0" anchor="ctr"/>
          <a:lstStyle/>
          <a:p>
            <a:pPr marL="0" indent="0">
              <a:buNone/>
            </a:pPr>
            <a:r>
              <a:rPr lang="en-US" sz="1200" dirty="0">
                <a:solidFill>
                  <a:srgbClr val="5B6573"/>
                </a:solidFill>
                <a:latin typeface="Arial" pitchFamily="34" charset="0"/>
                <a:ea typeface="Arial" pitchFamily="34" charset="-122"/>
                <a:cs typeface="Arial" pitchFamily="34" charset="-120"/>
              </a:rPr>
              <a:t>PDFs &amp; images</a:t>
            </a:r>
            <a:endParaRPr lang="en-US" sz="1200" dirty="0"/>
          </a:p>
        </p:txBody>
      </p:sp>
      <p:sp>
        <p:nvSpPr>
          <p:cNvPr id="36" name="Shape 28"/>
          <p:cNvSpPr/>
          <p:nvPr/>
        </p:nvSpPr>
        <p:spPr>
          <a:xfrm>
            <a:off x="4754880" y="3968496"/>
            <a:ext cx="274320" cy="274320"/>
          </a:xfrm>
          <a:prstGeom prst="ellipse">
            <a:avLst/>
          </a:prstGeom>
          <a:solidFill>
            <a:srgbClr val="D64545"/>
          </a:solidFill>
          <a:ln w="19050">
            <a:solidFill>
              <a:srgbClr val="D64545"/>
            </a:solidFill>
            <a:prstDash val="solid"/>
          </a:ln>
        </p:spPr>
        <p:txBody>
          <a:bodyPr/>
          <a:lstStyle/>
          <a:p>
            <a:endParaRPr lang="en-US"/>
          </a:p>
        </p:txBody>
      </p:sp>
      <p:pic>
        <p:nvPicPr>
          <p:cNvPr id="37" name="Image 6" descr="preencoded.png"/>
          <p:cNvPicPr>
            <a:picLocks noChangeAspect="1"/>
          </p:cNvPicPr>
          <p:nvPr/>
        </p:nvPicPr>
        <p:blipFill>
          <a:blip r:embed="rId4"/>
          <a:stretch>
            <a:fillRect/>
          </a:stretch>
        </p:blipFill>
        <p:spPr>
          <a:xfrm>
            <a:off x="4823460" y="4037076"/>
            <a:ext cx="137160" cy="137160"/>
          </a:xfrm>
          <a:prstGeom prst="rect">
            <a:avLst/>
          </a:prstGeom>
        </p:spPr>
      </p:pic>
      <p:pic>
        <p:nvPicPr>
          <p:cNvPr id="38" name="Image 7" descr="preencoded.png"/>
          <p:cNvPicPr>
            <a:picLocks noChangeAspect="1"/>
          </p:cNvPicPr>
          <p:nvPr/>
        </p:nvPicPr>
        <p:blipFill>
          <a:blip r:embed="rId5"/>
          <a:stretch>
            <a:fillRect/>
          </a:stretch>
        </p:blipFill>
        <p:spPr>
          <a:xfrm>
            <a:off x="5669280" y="1097280"/>
            <a:ext cx="502920" cy="502920"/>
          </a:xfrm>
          <a:prstGeom prst="rect">
            <a:avLst/>
          </a:prstGeom>
        </p:spPr>
      </p:pic>
      <p:sp>
        <p:nvSpPr>
          <p:cNvPr id="39" name="Text 29"/>
          <p:cNvSpPr txBox="1"/>
          <p:nvPr/>
        </p:nvSpPr>
        <p:spPr>
          <a:xfrm>
            <a:off x="5669280" y="1737360"/>
            <a:ext cx="3017520" cy="731520"/>
          </a:xfrm>
          <a:prstGeom prst="rect">
            <a:avLst/>
          </a:prstGeom>
          <a:noFill/>
          <a:ln/>
        </p:spPr>
        <p:txBody>
          <a:bodyPr wrap="square" lIns="0" tIns="0" rIns="0" bIns="0" rtlCol="0" anchor="t"/>
          <a:lstStyle/>
          <a:p>
            <a:pPr marL="0" indent="0">
              <a:buNone/>
            </a:pPr>
            <a:r>
              <a:rPr lang="en-US" sz="1700" b="1" dirty="0">
                <a:solidFill>
                  <a:srgbClr val="1F2933"/>
                </a:solidFill>
                <a:latin typeface="Arial" pitchFamily="34" charset="0"/>
                <a:ea typeface="Arial" pitchFamily="34" charset="-122"/>
                <a:cs typeface="Arial" pitchFamily="34" charset="-120"/>
              </a:rPr>
              <a:t>Binary files are all-or-nothing</a:t>
            </a:r>
            <a:endParaRPr lang="en-US" sz="1700" dirty="0"/>
          </a:p>
        </p:txBody>
      </p:sp>
      <p:sp>
        <p:nvSpPr>
          <p:cNvPr id="40" name="Text 30"/>
          <p:cNvSpPr txBox="1"/>
          <p:nvPr/>
        </p:nvSpPr>
        <p:spPr>
          <a:xfrm>
            <a:off x="5669280" y="2514600"/>
            <a:ext cx="3017520" cy="1280160"/>
          </a:xfrm>
          <a:prstGeom prst="rect">
            <a:avLst/>
          </a:prstGeom>
          <a:noFill/>
          <a:ln/>
        </p:spPr>
        <p:txBody>
          <a:bodyPr wrap="square" lIns="0" tIns="0" rIns="0" bIns="0" rtlCol="0" anchor="t"/>
          <a:lstStyle/>
          <a:p>
            <a:pPr marL="0" indent="0">
              <a:buNone/>
            </a:pPr>
            <a:r>
              <a:rPr lang="en-US" sz="1300" dirty="0">
                <a:solidFill>
                  <a:srgbClr val="5B6573"/>
                </a:solidFill>
                <a:latin typeface="Arial" pitchFamily="34" charset="0"/>
                <a:ea typeface="Arial" pitchFamily="34" charset="-122"/>
                <a:cs typeface="Arial" pitchFamily="34" charset="-120"/>
              </a:rPr>
              <a:t>If two people edit the same CAD part or Word doc, Git can't combine them. One person's version wins and the other's edits must be redone by hand.</a:t>
            </a:r>
            <a:endParaRPr lang="en-US" sz="1300" dirty="0"/>
          </a:p>
        </p:txBody>
      </p:sp>
      <p:sp>
        <p:nvSpPr>
          <p:cNvPr id="41" name="Text 31"/>
          <p:cNvSpPr txBox="1"/>
          <p:nvPr/>
        </p:nvSpPr>
        <p:spPr>
          <a:xfrm>
            <a:off x="5669280" y="3840480"/>
            <a:ext cx="3017520" cy="548640"/>
          </a:xfrm>
          <a:prstGeom prst="rect">
            <a:avLst/>
          </a:prstGeom>
          <a:noFill/>
          <a:ln/>
        </p:spPr>
        <p:txBody>
          <a:bodyPr wrap="square" lIns="0" tIns="0" rIns="0" bIns="0" rtlCol="0" anchor="t"/>
          <a:lstStyle/>
          <a:p>
            <a:pPr marL="0" indent="0">
              <a:buNone/>
            </a:pPr>
            <a:r>
              <a:rPr lang="en-US" sz="1250" i="1" dirty="0">
                <a:solidFill>
                  <a:srgbClr val="2E9E6B"/>
                </a:solidFill>
                <a:latin typeface="Arial" pitchFamily="34" charset="0"/>
                <a:ea typeface="Arial" pitchFamily="34" charset="-122"/>
                <a:cs typeface="Arial" pitchFamily="34" charset="-120"/>
              </a:rPr>
              <a:t>Git still tracks every version, so nothing is truly lost.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Rule for binary files: “Claim it first”</a:t>
            </a:r>
            <a:endParaRPr lang="en-US" sz="3000" dirty="0"/>
          </a:p>
        </p:txBody>
      </p:sp>
      <p:sp>
        <p:nvSpPr>
          <p:cNvPr id="3" name="Shape 1"/>
          <p:cNvSpPr/>
          <p:nvPr/>
        </p:nvSpPr>
        <p:spPr>
          <a:xfrm>
            <a:off x="960120" y="1234440"/>
            <a:ext cx="822960" cy="822960"/>
          </a:xfrm>
          <a:prstGeom prst="ellipse">
            <a:avLst/>
          </a:prstGeom>
          <a:solidFill>
            <a:srgbClr val="F2711C"/>
          </a:solidFill>
          <a:ln w="19050">
            <a:solidFill>
              <a:srgbClr val="F2711C"/>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1165860" y="1440180"/>
            <a:ext cx="411480" cy="411480"/>
          </a:xfrm>
          <a:prstGeom prst="rect">
            <a:avLst/>
          </a:prstGeom>
        </p:spPr>
      </p:pic>
      <p:sp>
        <p:nvSpPr>
          <p:cNvPr id="5" name="Shape 2"/>
          <p:cNvSpPr/>
          <p:nvPr/>
        </p:nvSpPr>
        <p:spPr>
          <a:xfrm>
            <a:off x="1920240" y="1645920"/>
            <a:ext cx="594360" cy="914"/>
          </a:xfrm>
          <a:prstGeom prst="line">
            <a:avLst/>
          </a:prstGeom>
          <a:noFill/>
          <a:ln w="31750">
            <a:solidFill>
              <a:srgbClr val="D5DAE0"/>
            </a:solidFill>
            <a:prstDash val="solid"/>
            <a:tailEnd type="triangle"/>
          </a:ln>
        </p:spPr>
        <p:txBody>
          <a:bodyPr/>
          <a:lstStyle/>
          <a:p>
            <a:endParaRPr lang="en-US"/>
          </a:p>
        </p:txBody>
      </p:sp>
      <p:sp>
        <p:nvSpPr>
          <p:cNvPr id="6" name="Text 3"/>
          <p:cNvSpPr txBox="1"/>
          <p:nvPr/>
        </p:nvSpPr>
        <p:spPr>
          <a:xfrm>
            <a:off x="457200" y="2194560"/>
            <a:ext cx="1828800" cy="365760"/>
          </a:xfrm>
          <a:prstGeom prst="rect">
            <a:avLst/>
          </a:prstGeom>
          <a:noFill/>
          <a:ln/>
        </p:spPr>
        <p:txBody>
          <a:bodyPr wrap="square" lIns="0" tIns="0" rIns="0" bIns="0" rtlCol="0" anchor="t"/>
          <a:lstStyle/>
          <a:p>
            <a:pPr marL="0" indent="0" algn="ctr">
              <a:buNone/>
            </a:pPr>
            <a:r>
              <a:rPr lang="en-US" sz="1500" b="1" dirty="0">
                <a:solidFill>
                  <a:srgbClr val="1F2933"/>
                </a:solidFill>
                <a:latin typeface="Arial" pitchFamily="34" charset="0"/>
                <a:ea typeface="Arial" pitchFamily="34" charset="-122"/>
                <a:cs typeface="Arial" pitchFamily="34" charset="-120"/>
              </a:rPr>
              <a:t>Post in team chat</a:t>
            </a:r>
            <a:endParaRPr lang="en-US" sz="1500" dirty="0"/>
          </a:p>
        </p:txBody>
      </p:sp>
      <p:sp>
        <p:nvSpPr>
          <p:cNvPr id="7" name="Text 4"/>
          <p:cNvSpPr txBox="1"/>
          <p:nvPr/>
        </p:nvSpPr>
        <p:spPr>
          <a:xfrm>
            <a:off x="457200" y="2560320"/>
            <a:ext cx="1828800" cy="548640"/>
          </a:xfrm>
          <a:prstGeom prst="rect">
            <a:avLst/>
          </a:prstGeom>
          <a:noFill/>
          <a:ln/>
        </p:spPr>
        <p:txBody>
          <a:bodyPr wrap="square" lIns="0" tIns="0" rIns="0" bIns="0" rtlCol="0" anchor="t"/>
          <a:lstStyle/>
          <a:p>
            <a:pPr marL="0" indent="0" algn="ctr">
              <a:buNone/>
            </a:pPr>
            <a:r>
              <a:rPr lang="en-US" sz="1200" dirty="0">
                <a:solidFill>
                  <a:srgbClr val="5B6573"/>
                </a:solidFill>
                <a:latin typeface="Arial" pitchFamily="34" charset="0"/>
                <a:ea typeface="Arial" pitchFamily="34" charset="-122"/>
                <a:cs typeface="Arial" pitchFamily="34" charset="-120"/>
              </a:rPr>
              <a:t>"Editing brake_mount.SLDPRT"</a:t>
            </a:r>
            <a:endParaRPr lang="en-US" sz="1200" dirty="0"/>
          </a:p>
        </p:txBody>
      </p:sp>
      <p:sp>
        <p:nvSpPr>
          <p:cNvPr id="8" name="Shape 5"/>
          <p:cNvSpPr/>
          <p:nvPr/>
        </p:nvSpPr>
        <p:spPr>
          <a:xfrm>
            <a:off x="3108960" y="1234440"/>
            <a:ext cx="822960" cy="822960"/>
          </a:xfrm>
          <a:prstGeom prst="ellipse">
            <a:avLst/>
          </a:prstGeom>
          <a:solidFill>
            <a:srgbClr val="F2711C"/>
          </a:solidFill>
          <a:ln w="19050">
            <a:solidFill>
              <a:srgbClr val="F2711C"/>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3314700" y="1440180"/>
            <a:ext cx="411480" cy="411480"/>
          </a:xfrm>
          <a:prstGeom prst="rect">
            <a:avLst/>
          </a:prstGeom>
        </p:spPr>
      </p:pic>
      <p:sp>
        <p:nvSpPr>
          <p:cNvPr id="10" name="Shape 6"/>
          <p:cNvSpPr/>
          <p:nvPr/>
        </p:nvSpPr>
        <p:spPr>
          <a:xfrm>
            <a:off x="4069080" y="1645920"/>
            <a:ext cx="594360" cy="914"/>
          </a:xfrm>
          <a:prstGeom prst="line">
            <a:avLst/>
          </a:prstGeom>
          <a:noFill/>
          <a:ln w="31750">
            <a:solidFill>
              <a:srgbClr val="D5DAE0"/>
            </a:solidFill>
            <a:prstDash val="solid"/>
            <a:tailEnd type="triangle"/>
          </a:ln>
        </p:spPr>
        <p:txBody>
          <a:bodyPr/>
          <a:lstStyle/>
          <a:p>
            <a:endParaRPr lang="en-US"/>
          </a:p>
        </p:txBody>
      </p:sp>
      <p:sp>
        <p:nvSpPr>
          <p:cNvPr id="11" name="Text 7"/>
          <p:cNvSpPr txBox="1"/>
          <p:nvPr/>
        </p:nvSpPr>
        <p:spPr>
          <a:xfrm>
            <a:off x="2606040" y="2194560"/>
            <a:ext cx="1828800" cy="365760"/>
          </a:xfrm>
          <a:prstGeom prst="rect">
            <a:avLst/>
          </a:prstGeom>
          <a:noFill/>
          <a:ln/>
        </p:spPr>
        <p:txBody>
          <a:bodyPr wrap="square" lIns="0" tIns="0" rIns="0" bIns="0" rtlCol="0" anchor="t"/>
          <a:lstStyle/>
          <a:p>
            <a:pPr marL="0" indent="0" algn="ctr">
              <a:buNone/>
            </a:pPr>
            <a:r>
              <a:rPr lang="en-US" sz="1500" b="1" dirty="0">
                <a:solidFill>
                  <a:srgbClr val="1F2933"/>
                </a:solidFill>
                <a:latin typeface="Arial" pitchFamily="34" charset="0"/>
                <a:ea typeface="Arial" pitchFamily="34" charset="-122"/>
                <a:cs typeface="Arial" pitchFamily="34" charset="-120"/>
              </a:rPr>
              <a:t>Pull</a:t>
            </a:r>
            <a:endParaRPr lang="en-US" sz="1500" dirty="0"/>
          </a:p>
        </p:txBody>
      </p:sp>
      <p:sp>
        <p:nvSpPr>
          <p:cNvPr id="12" name="Text 8"/>
          <p:cNvSpPr txBox="1"/>
          <p:nvPr/>
        </p:nvSpPr>
        <p:spPr>
          <a:xfrm>
            <a:off x="2606040" y="2560320"/>
            <a:ext cx="1828800" cy="548640"/>
          </a:xfrm>
          <a:prstGeom prst="rect">
            <a:avLst/>
          </a:prstGeom>
          <a:noFill/>
          <a:ln/>
        </p:spPr>
        <p:txBody>
          <a:bodyPr wrap="square" lIns="0" tIns="0" rIns="0" bIns="0" rtlCol="0" anchor="t"/>
          <a:lstStyle/>
          <a:p>
            <a:pPr marL="0" indent="0" algn="ctr">
              <a:buNone/>
            </a:pPr>
            <a:r>
              <a:rPr lang="en-US" sz="1200" dirty="0">
                <a:solidFill>
                  <a:srgbClr val="5B6573"/>
                </a:solidFill>
                <a:latin typeface="Arial" pitchFamily="34" charset="0"/>
                <a:ea typeface="Arial" pitchFamily="34" charset="-122"/>
                <a:cs typeface="Arial" pitchFamily="34" charset="-120"/>
              </a:rPr>
              <a:t>Start from the newest version</a:t>
            </a:r>
            <a:endParaRPr lang="en-US" sz="1200" dirty="0"/>
          </a:p>
        </p:txBody>
      </p:sp>
      <p:sp>
        <p:nvSpPr>
          <p:cNvPr id="13" name="Shape 9"/>
          <p:cNvSpPr/>
          <p:nvPr/>
        </p:nvSpPr>
        <p:spPr>
          <a:xfrm>
            <a:off x="5257800" y="1234440"/>
            <a:ext cx="822960" cy="822960"/>
          </a:xfrm>
          <a:prstGeom prst="ellipse">
            <a:avLst/>
          </a:prstGeom>
          <a:solidFill>
            <a:srgbClr val="F2711C"/>
          </a:solidFill>
          <a:ln w="19050">
            <a:solidFill>
              <a:srgbClr val="F2711C"/>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5463540" y="1440180"/>
            <a:ext cx="411480" cy="411480"/>
          </a:xfrm>
          <a:prstGeom prst="rect">
            <a:avLst/>
          </a:prstGeom>
        </p:spPr>
      </p:pic>
      <p:sp>
        <p:nvSpPr>
          <p:cNvPr id="15" name="Shape 10"/>
          <p:cNvSpPr/>
          <p:nvPr/>
        </p:nvSpPr>
        <p:spPr>
          <a:xfrm>
            <a:off x="6217920" y="1645920"/>
            <a:ext cx="594360" cy="914"/>
          </a:xfrm>
          <a:prstGeom prst="line">
            <a:avLst/>
          </a:prstGeom>
          <a:noFill/>
          <a:ln w="31750">
            <a:solidFill>
              <a:srgbClr val="D5DAE0"/>
            </a:solidFill>
            <a:prstDash val="solid"/>
            <a:tailEnd type="triangle"/>
          </a:ln>
        </p:spPr>
        <p:txBody>
          <a:bodyPr/>
          <a:lstStyle/>
          <a:p>
            <a:endParaRPr lang="en-US"/>
          </a:p>
        </p:txBody>
      </p:sp>
      <p:sp>
        <p:nvSpPr>
          <p:cNvPr id="16" name="Text 11"/>
          <p:cNvSpPr txBox="1"/>
          <p:nvPr/>
        </p:nvSpPr>
        <p:spPr>
          <a:xfrm>
            <a:off x="4754880" y="2194560"/>
            <a:ext cx="1828800" cy="365760"/>
          </a:xfrm>
          <a:prstGeom prst="rect">
            <a:avLst/>
          </a:prstGeom>
          <a:noFill/>
          <a:ln/>
        </p:spPr>
        <p:txBody>
          <a:bodyPr wrap="square" lIns="0" tIns="0" rIns="0" bIns="0" rtlCol="0" anchor="t"/>
          <a:lstStyle/>
          <a:p>
            <a:pPr marL="0" indent="0" algn="ctr">
              <a:buNone/>
            </a:pPr>
            <a:r>
              <a:rPr lang="en-US" sz="1500" b="1" dirty="0">
                <a:solidFill>
                  <a:srgbClr val="1F2933"/>
                </a:solidFill>
                <a:latin typeface="Arial" pitchFamily="34" charset="0"/>
                <a:ea typeface="Arial" pitchFamily="34" charset="-122"/>
                <a:cs typeface="Arial" pitchFamily="34" charset="-120"/>
              </a:rPr>
              <a:t>Edit, commit, push</a:t>
            </a:r>
            <a:endParaRPr lang="en-US" sz="1500" dirty="0"/>
          </a:p>
        </p:txBody>
      </p:sp>
      <p:sp>
        <p:nvSpPr>
          <p:cNvPr id="17" name="Text 12"/>
          <p:cNvSpPr txBox="1"/>
          <p:nvPr/>
        </p:nvSpPr>
        <p:spPr>
          <a:xfrm>
            <a:off x="4754880" y="2560320"/>
            <a:ext cx="1828800" cy="548640"/>
          </a:xfrm>
          <a:prstGeom prst="rect">
            <a:avLst/>
          </a:prstGeom>
          <a:noFill/>
          <a:ln/>
        </p:spPr>
        <p:txBody>
          <a:bodyPr wrap="square" lIns="0" tIns="0" rIns="0" bIns="0" rtlCol="0" anchor="t"/>
          <a:lstStyle/>
          <a:p>
            <a:pPr marL="0" indent="0" algn="ctr">
              <a:buNone/>
            </a:pPr>
            <a:r>
              <a:rPr lang="en-US" sz="1200" dirty="0">
                <a:solidFill>
                  <a:srgbClr val="5B6573"/>
                </a:solidFill>
                <a:latin typeface="Arial" pitchFamily="34" charset="0"/>
                <a:ea typeface="Arial" pitchFamily="34" charset="-122"/>
                <a:cs typeface="Arial" pitchFamily="34" charset="-120"/>
              </a:rPr>
              <a:t>Close the file first</a:t>
            </a:r>
            <a:endParaRPr lang="en-US" sz="1200" dirty="0"/>
          </a:p>
        </p:txBody>
      </p:sp>
      <p:sp>
        <p:nvSpPr>
          <p:cNvPr id="18" name="Shape 13"/>
          <p:cNvSpPr/>
          <p:nvPr/>
        </p:nvSpPr>
        <p:spPr>
          <a:xfrm>
            <a:off x="7406640" y="1234440"/>
            <a:ext cx="822960" cy="822960"/>
          </a:xfrm>
          <a:prstGeom prst="ellipse">
            <a:avLst/>
          </a:prstGeom>
          <a:solidFill>
            <a:srgbClr val="2E9E6B"/>
          </a:solidFill>
          <a:ln w="19050">
            <a:solidFill>
              <a:srgbClr val="2E9E6B"/>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7612380" y="1440180"/>
            <a:ext cx="411480" cy="411480"/>
          </a:xfrm>
          <a:prstGeom prst="rect">
            <a:avLst/>
          </a:prstGeom>
        </p:spPr>
      </p:pic>
      <p:sp>
        <p:nvSpPr>
          <p:cNvPr id="20" name="Text 14"/>
          <p:cNvSpPr txBox="1"/>
          <p:nvPr/>
        </p:nvSpPr>
        <p:spPr>
          <a:xfrm>
            <a:off x="6903720" y="2194560"/>
            <a:ext cx="1828800" cy="365760"/>
          </a:xfrm>
          <a:prstGeom prst="rect">
            <a:avLst/>
          </a:prstGeom>
          <a:noFill/>
          <a:ln/>
        </p:spPr>
        <p:txBody>
          <a:bodyPr wrap="square" lIns="0" tIns="0" rIns="0" bIns="0" rtlCol="0" anchor="t"/>
          <a:lstStyle/>
          <a:p>
            <a:pPr marL="0" indent="0" algn="ctr">
              <a:buNone/>
            </a:pPr>
            <a:r>
              <a:rPr lang="en-US" sz="1500" b="1" dirty="0">
                <a:solidFill>
                  <a:srgbClr val="1F2933"/>
                </a:solidFill>
                <a:latin typeface="Arial" pitchFamily="34" charset="0"/>
                <a:ea typeface="Arial" pitchFamily="34" charset="-122"/>
                <a:cs typeface="Arial" pitchFamily="34" charset="-120"/>
              </a:rPr>
              <a:t>Post "done"</a:t>
            </a:r>
            <a:endParaRPr lang="en-US" sz="1500" dirty="0"/>
          </a:p>
        </p:txBody>
      </p:sp>
      <p:sp>
        <p:nvSpPr>
          <p:cNvPr id="21" name="Text 15"/>
          <p:cNvSpPr txBox="1"/>
          <p:nvPr/>
        </p:nvSpPr>
        <p:spPr>
          <a:xfrm>
            <a:off x="6903720" y="2560320"/>
            <a:ext cx="1828800" cy="548640"/>
          </a:xfrm>
          <a:prstGeom prst="rect">
            <a:avLst/>
          </a:prstGeom>
          <a:noFill/>
          <a:ln/>
        </p:spPr>
        <p:txBody>
          <a:bodyPr wrap="square" lIns="0" tIns="0" rIns="0" bIns="0" rtlCol="0" anchor="t"/>
          <a:lstStyle/>
          <a:p>
            <a:pPr marL="0" indent="0" algn="ctr">
              <a:buNone/>
            </a:pPr>
            <a:r>
              <a:rPr lang="en-US" sz="1200" dirty="0">
                <a:solidFill>
                  <a:srgbClr val="5B6573"/>
                </a:solidFill>
                <a:latin typeface="Arial" pitchFamily="34" charset="0"/>
                <a:ea typeface="Arial" pitchFamily="34" charset="-122"/>
                <a:cs typeface="Arial" pitchFamily="34" charset="-120"/>
              </a:rPr>
              <a:t>File is free for others</a:t>
            </a:r>
            <a:endParaRPr lang="en-US" sz="1200" dirty="0"/>
          </a:p>
        </p:txBody>
      </p:sp>
      <p:sp>
        <p:nvSpPr>
          <p:cNvPr id="22" name="Shape 16"/>
          <p:cNvSpPr/>
          <p:nvPr/>
        </p:nvSpPr>
        <p:spPr>
          <a:xfrm>
            <a:off x="457200" y="3429000"/>
            <a:ext cx="8229600" cy="1143000"/>
          </a:xfrm>
          <a:prstGeom prst="roundRect">
            <a:avLst>
              <a:gd name="adj" fmla="val 6400"/>
            </a:avLst>
          </a:prstGeom>
          <a:solidFill>
            <a:srgbClr val="F1F3F5"/>
          </a:solidFill>
          <a:ln w="12700">
            <a:solidFill>
              <a:srgbClr val="F1F3F5"/>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731520" y="3721608"/>
            <a:ext cx="502920" cy="502920"/>
          </a:xfrm>
          <a:prstGeom prst="rect">
            <a:avLst/>
          </a:prstGeom>
        </p:spPr>
      </p:pic>
      <p:sp>
        <p:nvSpPr>
          <p:cNvPr id="24" name="Text 17"/>
          <p:cNvSpPr txBox="1"/>
          <p:nvPr/>
        </p:nvSpPr>
        <p:spPr>
          <a:xfrm>
            <a:off x="1463040" y="3520440"/>
            <a:ext cx="7040880" cy="960120"/>
          </a:xfrm>
          <a:prstGeom prst="rect">
            <a:avLst/>
          </a:prstGeom>
          <a:noFill/>
          <a:ln/>
        </p:spPr>
        <p:txBody>
          <a:bodyPr wrap="square" lIns="0" tIns="0" rIns="0" bIns="0" rtlCol="0" anchor="ctr"/>
          <a:lstStyle/>
          <a:p>
            <a:pPr marL="0" indent="0">
              <a:buNone/>
            </a:pPr>
            <a:r>
              <a:rPr lang="en-US" sz="1300" b="1" dirty="0">
                <a:solidFill>
                  <a:srgbClr val="1F2933"/>
                </a:solidFill>
                <a:latin typeface="Arial" pitchFamily="34" charset="0"/>
                <a:ea typeface="Arial" pitchFamily="34" charset="-122"/>
                <a:cs typeface="Arial" pitchFamily="34" charset="-120"/>
              </a:rPr>
              <a:t>Close files before you pull. </a:t>
            </a:r>
            <a:r>
              <a:rPr lang="en-US" sz="1300" dirty="0">
                <a:solidFill>
                  <a:srgbClr val="1F2933"/>
                </a:solidFill>
                <a:latin typeface="Arial" pitchFamily="34" charset="0"/>
                <a:ea typeface="Arial" pitchFamily="34" charset="-122"/>
                <a:cs typeface="Arial" pitchFamily="34" charset="-120"/>
              </a:rPr>
              <a:t>Windows locks files that are open in SolidWorks, MATLAB, or Office, and the pull can fail if Git needs to replace them. Also ignore files starting with ~$; those are temporary lock files the program creates.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Keep junk out with .gitignore</a:t>
            </a:r>
            <a:endParaRPr lang="en-US" sz="3000" dirty="0"/>
          </a:p>
        </p:txBody>
      </p:sp>
      <p:sp>
        <p:nvSpPr>
          <p:cNvPr id="3" name="Shape 1"/>
          <p:cNvSpPr/>
          <p:nvPr/>
        </p:nvSpPr>
        <p:spPr>
          <a:xfrm>
            <a:off x="457200" y="1097280"/>
            <a:ext cx="4023360" cy="3520440"/>
          </a:xfrm>
          <a:prstGeom prst="roundRect">
            <a:avLst>
              <a:gd name="adj" fmla="val 2078"/>
            </a:avLst>
          </a:prstGeom>
          <a:solidFill>
            <a:srgbClr val="1B2430"/>
          </a:solidFill>
          <a:ln w="12700">
            <a:solidFill>
              <a:srgbClr val="1B2430"/>
            </a:solidFill>
            <a:prstDash val="solid"/>
          </a:ln>
        </p:spPr>
        <p:txBody>
          <a:bodyPr/>
          <a:lstStyle/>
          <a:p>
            <a:endParaRPr lang="en-US"/>
          </a:p>
        </p:txBody>
      </p:sp>
      <p:sp>
        <p:nvSpPr>
          <p:cNvPr id="4" name="Text 2"/>
          <p:cNvSpPr txBox="1"/>
          <p:nvPr/>
        </p:nvSpPr>
        <p:spPr>
          <a:xfrm>
            <a:off x="685800" y="1216152"/>
            <a:ext cx="3657600" cy="274320"/>
          </a:xfrm>
          <a:prstGeom prst="rect">
            <a:avLst/>
          </a:prstGeom>
          <a:noFill/>
          <a:ln/>
        </p:spPr>
        <p:txBody>
          <a:bodyPr wrap="square" lIns="0" tIns="0" rIns="0" bIns="0" rtlCol="0" anchor="ctr"/>
          <a:lstStyle/>
          <a:p>
            <a:pPr marL="0" indent="0">
              <a:buNone/>
            </a:pPr>
            <a:r>
              <a:rPr lang="en-US" sz="1150" dirty="0">
                <a:solidFill>
                  <a:srgbClr val="8FA0B3"/>
                </a:solidFill>
                <a:latin typeface="Courier New" pitchFamily="34" charset="0"/>
                <a:ea typeface="Courier New" pitchFamily="34" charset="-122"/>
                <a:cs typeface="Courier New" pitchFamily="34" charset="-120"/>
              </a:rPr>
              <a:t># MATLAB / Simulink</a:t>
            </a:r>
            <a:endParaRPr lang="en-US" sz="1150" dirty="0"/>
          </a:p>
        </p:txBody>
      </p:sp>
      <p:sp>
        <p:nvSpPr>
          <p:cNvPr id="5" name="Text 3"/>
          <p:cNvSpPr txBox="1"/>
          <p:nvPr/>
        </p:nvSpPr>
        <p:spPr>
          <a:xfrm>
            <a:off x="685800" y="1508760"/>
            <a:ext cx="3657600" cy="274320"/>
          </a:xfrm>
          <a:prstGeom prst="rect">
            <a:avLst/>
          </a:prstGeom>
          <a:noFill/>
          <a:ln/>
        </p:spPr>
        <p:txBody>
          <a:bodyPr wrap="square" lIns="0" tIns="0" rIns="0" bIns="0" rtlCol="0" anchor="ctr"/>
          <a:lstStyle/>
          <a:p>
            <a:pPr marL="0" indent="0">
              <a:buNone/>
            </a:pPr>
            <a:r>
              <a:rPr lang="en-US" sz="1150" dirty="0">
                <a:solidFill>
                  <a:srgbClr val="E6EBF0"/>
                </a:solidFill>
                <a:latin typeface="Courier New" pitchFamily="34" charset="0"/>
                <a:ea typeface="Courier New" pitchFamily="34" charset="-122"/>
                <a:cs typeface="Courier New" pitchFamily="34" charset="-120"/>
              </a:rPr>
              <a:t>*.asv</a:t>
            </a:r>
            <a:endParaRPr lang="en-US" sz="1150" dirty="0"/>
          </a:p>
        </p:txBody>
      </p:sp>
      <p:sp>
        <p:nvSpPr>
          <p:cNvPr id="6" name="Text 4"/>
          <p:cNvSpPr txBox="1"/>
          <p:nvPr/>
        </p:nvSpPr>
        <p:spPr>
          <a:xfrm>
            <a:off x="685800" y="1801368"/>
            <a:ext cx="3657600" cy="274320"/>
          </a:xfrm>
          <a:prstGeom prst="rect">
            <a:avLst/>
          </a:prstGeom>
          <a:noFill/>
          <a:ln/>
        </p:spPr>
        <p:txBody>
          <a:bodyPr wrap="square" lIns="0" tIns="0" rIns="0" bIns="0" rtlCol="0" anchor="ctr"/>
          <a:lstStyle/>
          <a:p>
            <a:pPr marL="0" indent="0">
              <a:buNone/>
            </a:pPr>
            <a:r>
              <a:rPr lang="en-US" sz="1150" dirty="0">
                <a:solidFill>
                  <a:srgbClr val="E6EBF0"/>
                </a:solidFill>
                <a:latin typeface="Courier New" pitchFamily="34" charset="0"/>
                <a:ea typeface="Courier New" pitchFamily="34" charset="-122"/>
                <a:cs typeface="Courier New" pitchFamily="34" charset="-120"/>
              </a:rPr>
              <a:t>*.slxc</a:t>
            </a:r>
            <a:endParaRPr lang="en-US" sz="1150" dirty="0"/>
          </a:p>
        </p:txBody>
      </p:sp>
      <p:sp>
        <p:nvSpPr>
          <p:cNvPr id="7" name="Text 5"/>
          <p:cNvSpPr txBox="1"/>
          <p:nvPr/>
        </p:nvSpPr>
        <p:spPr>
          <a:xfrm>
            <a:off x="685800" y="2093976"/>
            <a:ext cx="3657600" cy="274320"/>
          </a:xfrm>
          <a:prstGeom prst="rect">
            <a:avLst/>
          </a:prstGeom>
          <a:noFill/>
          <a:ln/>
        </p:spPr>
        <p:txBody>
          <a:bodyPr wrap="square" lIns="0" tIns="0" rIns="0" bIns="0" rtlCol="0" anchor="ctr"/>
          <a:lstStyle/>
          <a:p>
            <a:pPr marL="0" indent="0">
              <a:buNone/>
            </a:pPr>
            <a:r>
              <a:rPr lang="en-US" sz="1150" dirty="0">
                <a:solidFill>
                  <a:srgbClr val="E6EBF0"/>
                </a:solidFill>
                <a:latin typeface="Courier New" pitchFamily="34" charset="0"/>
                <a:ea typeface="Courier New" pitchFamily="34" charset="-122"/>
                <a:cs typeface="Courier New" pitchFamily="34" charset="-120"/>
              </a:rPr>
              <a:t>slprj/</a:t>
            </a:r>
            <a:endParaRPr lang="en-US" sz="1150" dirty="0"/>
          </a:p>
        </p:txBody>
      </p:sp>
      <p:sp>
        <p:nvSpPr>
          <p:cNvPr id="8" name="Text 6"/>
          <p:cNvSpPr txBox="1"/>
          <p:nvPr/>
        </p:nvSpPr>
        <p:spPr>
          <a:xfrm>
            <a:off x="685800" y="2386584"/>
            <a:ext cx="3657600" cy="274320"/>
          </a:xfrm>
          <a:prstGeom prst="rect">
            <a:avLst/>
          </a:prstGeom>
          <a:noFill/>
          <a:ln/>
        </p:spPr>
        <p:txBody>
          <a:bodyPr wrap="square" lIns="0" tIns="0" rIns="0" bIns="0" rtlCol="0" anchor="ctr"/>
          <a:lstStyle/>
          <a:p>
            <a:pPr marL="0" indent="0">
              <a:buNone/>
            </a:pPr>
            <a:r>
              <a:rPr lang="en-US" sz="1150" dirty="0">
                <a:solidFill>
                  <a:srgbClr val="8FA0B3"/>
                </a:solidFill>
                <a:latin typeface="Courier New" pitchFamily="34" charset="0"/>
                <a:ea typeface="Courier New" pitchFamily="34" charset="-122"/>
                <a:cs typeface="Courier New" pitchFamily="34" charset="-120"/>
              </a:rPr>
              <a:t># Office &amp; SolidWorks temp files</a:t>
            </a:r>
            <a:endParaRPr lang="en-US" sz="1150" dirty="0"/>
          </a:p>
        </p:txBody>
      </p:sp>
      <p:sp>
        <p:nvSpPr>
          <p:cNvPr id="9" name="Text 7"/>
          <p:cNvSpPr txBox="1"/>
          <p:nvPr/>
        </p:nvSpPr>
        <p:spPr>
          <a:xfrm>
            <a:off x="685800" y="2679192"/>
            <a:ext cx="3657600" cy="274320"/>
          </a:xfrm>
          <a:prstGeom prst="rect">
            <a:avLst/>
          </a:prstGeom>
          <a:noFill/>
          <a:ln/>
        </p:spPr>
        <p:txBody>
          <a:bodyPr wrap="square" lIns="0" tIns="0" rIns="0" bIns="0" rtlCol="0" anchor="ctr"/>
          <a:lstStyle/>
          <a:p>
            <a:pPr marL="0" indent="0">
              <a:buNone/>
            </a:pPr>
            <a:r>
              <a:rPr lang="en-US" sz="1150" dirty="0">
                <a:solidFill>
                  <a:srgbClr val="E6EBF0"/>
                </a:solidFill>
                <a:latin typeface="Courier New" pitchFamily="34" charset="0"/>
                <a:ea typeface="Courier New" pitchFamily="34" charset="-122"/>
                <a:cs typeface="Courier New" pitchFamily="34" charset="-120"/>
              </a:rPr>
              <a:t>~$*</a:t>
            </a:r>
            <a:endParaRPr lang="en-US" sz="1150" dirty="0"/>
          </a:p>
        </p:txBody>
      </p:sp>
      <p:sp>
        <p:nvSpPr>
          <p:cNvPr id="10" name="Text 8"/>
          <p:cNvSpPr txBox="1"/>
          <p:nvPr/>
        </p:nvSpPr>
        <p:spPr>
          <a:xfrm>
            <a:off x="685800" y="2971800"/>
            <a:ext cx="3657600" cy="274320"/>
          </a:xfrm>
          <a:prstGeom prst="rect">
            <a:avLst/>
          </a:prstGeom>
          <a:noFill/>
          <a:ln/>
        </p:spPr>
        <p:txBody>
          <a:bodyPr wrap="square" lIns="0" tIns="0" rIns="0" bIns="0" rtlCol="0" anchor="ctr"/>
          <a:lstStyle/>
          <a:p>
            <a:pPr marL="0" indent="0">
              <a:buNone/>
            </a:pPr>
            <a:r>
              <a:rPr lang="en-US" sz="1150" dirty="0">
                <a:solidFill>
                  <a:srgbClr val="8FA0B3"/>
                </a:solidFill>
                <a:latin typeface="Courier New" pitchFamily="34" charset="0"/>
                <a:ea typeface="Courier New" pitchFamily="34" charset="-122"/>
                <a:cs typeface="Courier New" pitchFamily="34" charset="-120"/>
              </a:rPr>
              <a:t># Build output</a:t>
            </a:r>
            <a:endParaRPr lang="en-US" sz="1150" dirty="0"/>
          </a:p>
        </p:txBody>
      </p:sp>
      <p:sp>
        <p:nvSpPr>
          <p:cNvPr id="11" name="Text 9"/>
          <p:cNvSpPr txBox="1"/>
          <p:nvPr/>
        </p:nvSpPr>
        <p:spPr>
          <a:xfrm>
            <a:off x="685800" y="3264408"/>
            <a:ext cx="3657600" cy="274320"/>
          </a:xfrm>
          <a:prstGeom prst="rect">
            <a:avLst/>
          </a:prstGeom>
          <a:noFill/>
          <a:ln/>
        </p:spPr>
        <p:txBody>
          <a:bodyPr wrap="square" lIns="0" tIns="0" rIns="0" bIns="0" rtlCol="0" anchor="ctr"/>
          <a:lstStyle/>
          <a:p>
            <a:pPr marL="0" indent="0">
              <a:buNone/>
            </a:pPr>
            <a:r>
              <a:rPr lang="en-US" sz="1150" dirty="0">
                <a:solidFill>
                  <a:srgbClr val="E6EBF0"/>
                </a:solidFill>
                <a:latin typeface="Courier New" pitchFamily="34" charset="0"/>
                <a:ea typeface="Courier New" pitchFamily="34" charset="-122"/>
                <a:cs typeface="Courier New" pitchFamily="34" charset="-120"/>
              </a:rPr>
              <a:t>build/</a:t>
            </a:r>
            <a:endParaRPr lang="en-US" sz="1150" dirty="0"/>
          </a:p>
        </p:txBody>
      </p:sp>
      <p:sp>
        <p:nvSpPr>
          <p:cNvPr id="12" name="Text 10"/>
          <p:cNvSpPr txBox="1"/>
          <p:nvPr/>
        </p:nvSpPr>
        <p:spPr>
          <a:xfrm>
            <a:off x="685800" y="3557016"/>
            <a:ext cx="3657600" cy="274320"/>
          </a:xfrm>
          <a:prstGeom prst="rect">
            <a:avLst/>
          </a:prstGeom>
          <a:noFill/>
          <a:ln/>
        </p:spPr>
        <p:txBody>
          <a:bodyPr wrap="square" lIns="0" tIns="0" rIns="0" bIns="0" rtlCol="0" anchor="ctr"/>
          <a:lstStyle/>
          <a:p>
            <a:pPr marL="0" indent="0">
              <a:buNone/>
            </a:pPr>
            <a:r>
              <a:rPr lang="en-US" sz="1150" dirty="0">
                <a:solidFill>
                  <a:srgbClr val="E6EBF0"/>
                </a:solidFill>
                <a:latin typeface="Courier New" pitchFamily="34" charset="0"/>
                <a:ea typeface="Courier New" pitchFamily="34" charset="-122"/>
                <a:cs typeface="Courier New" pitchFamily="34" charset="-120"/>
              </a:rPr>
              <a:t>.pio/</a:t>
            </a:r>
            <a:endParaRPr lang="en-US" sz="1150" dirty="0"/>
          </a:p>
        </p:txBody>
      </p:sp>
      <p:sp>
        <p:nvSpPr>
          <p:cNvPr id="13" name="Text 11"/>
          <p:cNvSpPr txBox="1"/>
          <p:nvPr/>
        </p:nvSpPr>
        <p:spPr>
          <a:xfrm>
            <a:off x="685800" y="3849624"/>
            <a:ext cx="3657600" cy="274320"/>
          </a:xfrm>
          <a:prstGeom prst="rect">
            <a:avLst/>
          </a:prstGeom>
          <a:noFill/>
          <a:ln/>
        </p:spPr>
        <p:txBody>
          <a:bodyPr wrap="square" lIns="0" tIns="0" rIns="0" bIns="0" rtlCol="0" anchor="ctr"/>
          <a:lstStyle/>
          <a:p>
            <a:pPr marL="0" indent="0">
              <a:buNone/>
            </a:pPr>
            <a:r>
              <a:rPr lang="en-US" sz="1150" dirty="0">
                <a:solidFill>
                  <a:srgbClr val="8FA0B3"/>
                </a:solidFill>
                <a:latin typeface="Courier New" pitchFamily="34" charset="0"/>
                <a:ea typeface="Courier New" pitchFamily="34" charset="-122"/>
                <a:cs typeface="Courier New" pitchFamily="34" charset="-120"/>
              </a:rPr>
              <a:t># OS clutter</a:t>
            </a:r>
            <a:endParaRPr lang="en-US" sz="1150" dirty="0"/>
          </a:p>
        </p:txBody>
      </p:sp>
      <p:sp>
        <p:nvSpPr>
          <p:cNvPr id="14" name="Text 12"/>
          <p:cNvSpPr txBox="1"/>
          <p:nvPr/>
        </p:nvSpPr>
        <p:spPr>
          <a:xfrm>
            <a:off x="685800" y="4142232"/>
            <a:ext cx="3657600" cy="274320"/>
          </a:xfrm>
          <a:prstGeom prst="rect">
            <a:avLst/>
          </a:prstGeom>
          <a:noFill/>
          <a:ln/>
        </p:spPr>
        <p:txBody>
          <a:bodyPr wrap="square" lIns="0" tIns="0" rIns="0" bIns="0" rtlCol="0" anchor="ctr"/>
          <a:lstStyle/>
          <a:p>
            <a:pPr marL="0" indent="0">
              <a:buNone/>
            </a:pPr>
            <a:r>
              <a:rPr lang="en-US" sz="1150" dirty="0">
                <a:solidFill>
                  <a:srgbClr val="E6EBF0"/>
                </a:solidFill>
                <a:latin typeface="Courier New" pitchFamily="34" charset="0"/>
                <a:ea typeface="Courier New" pitchFamily="34" charset="-122"/>
                <a:cs typeface="Courier New" pitchFamily="34" charset="-120"/>
              </a:rPr>
              <a:t>.DS_Store  Thumbs.db</a:t>
            </a:r>
            <a:endParaRPr lang="en-US" sz="1150" dirty="0"/>
          </a:p>
        </p:txBody>
      </p:sp>
      <p:sp>
        <p:nvSpPr>
          <p:cNvPr id="15" name="Text 13"/>
          <p:cNvSpPr txBox="1"/>
          <p:nvPr/>
        </p:nvSpPr>
        <p:spPr>
          <a:xfrm>
            <a:off x="4846320" y="1097280"/>
            <a:ext cx="3840480" cy="365760"/>
          </a:xfrm>
          <a:prstGeom prst="rect">
            <a:avLst/>
          </a:prstGeom>
          <a:noFill/>
          <a:ln/>
        </p:spPr>
        <p:txBody>
          <a:bodyPr wrap="square" lIns="0" tIns="0" rIns="0" bIns="0" rtlCol="0" anchor="t"/>
          <a:lstStyle/>
          <a:p>
            <a:pPr marL="0" indent="0">
              <a:buNone/>
            </a:pPr>
            <a:r>
              <a:rPr lang="en-US" sz="1700" b="1" dirty="0">
                <a:solidFill>
                  <a:srgbClr val="1F2933"/>
                </a:solidFill>
                <a:latin typeface="Arial" pitchFamily="34" charset="0"/>
                <a:ea typeface="Arial" pitchFamily="34" charset="-122"/>
                <a:cs typeface="Arial" pitchFamily="34" charset="-120"/>
              </a:rPr>
              <a:t>What it does</a:t>
            </a:r>
            <a:endParaRPr lang="en-US" sz="1700" dirty="0"/>
          </a:p>
        </p:txBody>
      </p:sp>
      <p:sp>
        <p:nvSpPr>
          <p:cNvPr id="16" name="Text 14"/>
          <p:cNvSpPr txBox="1"/>
          <p:nvPr/>
        </p:nvSpPr>
        <p:spPr>
          <a:xfrm>
            <a:off x="4846320" y="1463040"/>
            <a:ext cx="3840480" cy="960120"/>
          </a:xfrm>
          <a:prstGeom prst="rect">
            <a:avLst/>
          </a:prstGeom>
          <a:noFill/>
          <a:ln/>
        </p:spPr>
        <p:txBody>
          <a:bodyPr wrap="square" lIns="0" tIns="0" rIns="0" bIns="0" rtlCol="0" anchor="t"/>
          <a:lstStyle/>
          <a:p>
            <a:pPr marL="0" indent="0">
              <a:buNone/>
            </a:pPr>
            <a:r>
              <a:rPr lang="en-US" sz="1300" dirty="0">
                <a:solidFill>
                  <a:srgbClr val="5B6573"/>
                </a:solidFill>
                <a:latin typeface="Arial" pitchFamily="34" charset="0"/>
                <a:ea typeface="Arial" pitchFamily="34" charset="-122"/>
                <a:cs typeface="Arial" pitchFamily="34" charset="-120"/>
              </a:rPr>
              <a:t>Files matching these patterns never show up in the Changes tab, so nobody commits autosaves, lock files, or compiled output by accident.</a:t>
            </a:r>
            <a:endParaRPr lang="en-US" sz="1300" dirty="0"/>
          </a:p>
        </p:txBody>
      </p:sp>
      <p:sp>
        <p:nvSpPr>
          <p:cNvPr id="17" name="Text 15"/>
          <p:cNvSpPr txBox="1"/>
          <p:nvPr/>
        </p:nvSpPr>
        <p:spPr>
          <a:xfrm>
            <a:off x="4846320" y="2560320"/>
            <a:ext cx="3840480" cy="365760"/>
          </a:xfrm>
          <a:prstGeom prst="rect">
            <a:avLst/>
          </a:prstGeom>
          <a:noFill/>
          <a:ln/>
        </p:spPr>
        <p:txBody>
          <a:bodyPr wrap="square" lIns="0" tIns="0" rIns="0" bIns="0" rtlCol="0" anchor="t"/>
          <a:lstStyle/>
          <a:p>
            <a:pPr marL="0" indent="0">
              <a:buNone/>
            </a:pPr>
            <a:r>
              <a:rPr lang="en-US" sz="1700" b="1" dirty="0">
                <a:solidFill>
                  <a:srgbClr val="F2711C"/>
                </a:solidFill>
                <a:latin typeface="Arial" pitchFamily="34" charset="0"/>
                <a:ea typeface="Arial" pitchFamily="34" charset="-122"/>
                <a:cs typeface="Arial" pitchFamily="34" charset="-120"/>
              </a:rPr>
              <a:t>Watch file size</a:t>
            </a:r>
            <a:endParaRPr lang="en-US" sz="1700" dirty="0"/>
          </a:p>
        </p:txBody>
      </p:sp>
      <p:sp>
        <p:nvSpPr>
          <p:cNvPr id="18" name="Text 16"/>
          <p:cNvSpPr txBox="1"/>
          <p:nvPr/>
        </p:nvSpPr>
        <p:spPr>
          <a:xfrm>
            <a:off x="4846320" y="2926080"/>
            <a:ext cx="3840480" cy="1188720"/>
          </a:xfrm>
          <a:prstGeom prst="rect">
            <a:avLst/>
          </a:prstGeom>
          <a:noFill/>
          <a:ln/>
        </p:spPr>
        <p:txBody>
          <a:bodyPr wrap="square" lIns="0" tIns="0" rIns="0" bIns="0" rtlCol="0" anchor="t"/>
          <a:lstStyle/>
          <a:p>
            <a:pPr marL="0" indent="0">
              <a:buNone/>
            </a:pPr>
            <a:r>
              <a:rPr lang="en-US" sz="1300" dirty="0">
                <a:solidFill>
                  <a:srgbClr val="5B6573"/>
                </a:solidFill>
                <a:latin typeface="Arial" pitchFamily="34" charset="0"/>
                <a:ea typeface="Arial" pitchFamily="34" charset="-122"/>
                <a:cs typeface="Arial" pitchFamily="34" charset="-120"/>
              </a:rPr>
              <a:t>GitHub warns on files over 50 MB and blocks files over 100 MB. Big assemblies, test videos, or data logs belong in Git LFS or a shared drive, with a link in the repo.</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How to undo things</a:t>
            </a:r>
            <a:endParaRPr lang="en-US" sz="3000" dirty="0"/>
          </a:p>
        </p:txBody>
      </p:sp>
      <p:sp>
        <p:nvSpPr>
          <p:cNvPr id="3" name="Text 1"/>
          <p:cNvSpPr txBox="1"/>
          <p:nvPr/>
        </p:nvSpPr>
        <p:spPr>
          <a:xfrm>
            <a:off x="457200" y="1005840"/>
            <a:ext cx="2560320" cy="274320"/>
          </a:xfrm>
          <a:prstGeom prst="rect">
            <a:avLst/>
          </a:prstGeom>
          <a:noFill/>
          <a:ln/>
        </p:spPr>
        <p:txBody>
          <a:bodyPr wrap="square" lIns="0" tIns="0" rIns="0" bIns="0" rtlCol="0" anchor="t"/>
          <a:lstStyle/>
          <a:p>
            <a:pPr marL="0" indent="0">
              <a:buNone/>
            </a:pPr>
            <a:r>
              <a:rPr lang="en-US" sz="1100" b="1" dirty="0">
                <a:solidFill>
                  <a:srgbClr val="5B6573"/>
                </a:solidFill>
                <a:latin typeface="Arial" pitchFamily="34" charset="0"/>
                <a:ea typeface="Arial" pitchFamily="34" charset="-122"/>
                <a:cs typeface="Arial" pitchFamily="34" charset="-120"/>
              </a:rPr>
              <a:t>Situation</a:t>
            </a:r>
            <a:endParaRPr lang="en-US" sz="1100" dirty="0"/>
          </a:p>
        </p:txBody>
      </p:sp>
      <p:sp>
        <p:nvSpPr>
          <p:cNvPr id="4" name="Text 2"/>
          <p:cNvSpPr txBox="1"/>
          <p:nvPr/>
        </p:nvSpPr>
        <p:spPr>
          <a:xfrm>
            <a:off x="3154680" y="1005840"/>
            <a:ext cx="3200400" cy="274320"/>
          </a:xfrm>
          <a:prstGeom prst="rect">
            <a:avLst/>
          </a:prstGeom>
          <a:noFill/>
          <a:ln/>
        </p:spPr>
        <p:txBody>
          <a:bodyPr wrap="square" lIns="0" tIns="0" rIns="0" bIns="0" rtlCol="0" anchor="t"/>
          <a:lstStyle/>
          <a:p>
            <a:pPr marL="0" indent="0">
              <a:buNone/>
            </a:pPr>
            <a:r>
              <a:rPr lang="en-US" sz="1100" b="1" dirty="0">
                <a:solidFill>
                  <a:srgbClr val="5B6573"/>
                </a:solidFill>
                <a:latin typeface="Arial" pitchFamily="34" charset="0"/>
                <a:ea typeface="Arial" pitchFamily="34" charset="-122"/>
                <a:cs typeface="Arial" pitchFamily="34" charset="-120"/>
              </a:rPr>
              <a:t>In GitHub Desktop</a:t>
            </a:r>
            <a:endParaRPr lang="en-US" sz="1100" dirty="0"/>
          </a:p>
        </p:txBody>
      </p:sp>
      <p:sp>
        <p:nvSpPr>
          <p:cNvPr id="5" name="Text 3"/>
          <p:cNvSpPr txBox="1"/>
          <p:nvPr/>
        </p:nvSpPr>
        <p:spPr>
          <a:xfrm>
            <a:off x="6492240" y="1005840"/>
            <a:ext cx="2194560" cy="274320"/>
          </a:xfrm>
          <a:prstGeom prst="rect">
            <a:avLst/>
          </a:prstGeom>
          <a:noFill/>
          <a:ln/>
        </p:spPr>
        <p:txBody>
          <a:bodyPr wrap="square" lIns="0" tIns="0" rIns="0" bIns="0" rtlCol="0" anchor="t"/>
          <a:lstStyle/>
          <a:p>
            <a:pPr marL="0" indent="0">
              <a:buNone/>
            </a:pPr>
            <a:r>
              <a:rPr lang="en-US" sz="1100" b="1" dirty="0">
                <a:solidFill>
                  <a:srgbClr val="5B6573"/>
                </a:solidFill>
                <a:latin typeface="Arial" pitchFamily="34" charset="0"/>
                <a:ea typeface="Arial" pitchFamily="34" charset="-122"/>
                <a:cs typeface="Arial" pitchFamily="34" charset="-120"/>
              </a:rPr>
              <a:t>Result</a:t>
            </a:r>
            <a:endParaRPr lang="en-US" sz="1100" dirty="0"/>
          </a:p>
        </p:txBody>
      </p:sp>
      <p:sp>
        <p:nvSpPr>
          <p:cNvPr id="6" name="Shape 4"/>
          <p:cNvSpPr/>
          <p:nvPr/>
        </p:nvSpPr>
        <p:spPr>
          <a:xfrm>
            <a:off x="457200" y="1325880"/>
            <a:ext cx="8229600" cy="713232"/>
          </a:xfrm>
          <a:prstGeom prst="roundRect">
            <a:avLst>
              <a:gd name="adj" fmla="val 10256"/>
            </a:avLst>
          </a:prstGeom>
          <a:solidFill>
            <a:srgbClr val="F1F3F5"/>
          </a:solidFill>
          <a:ln w="12700">
            <a:solidFill>
              <a:srgbClr val="D5DAE0"/>
            </a:solidFill>
            <a:prstDash val="solid"/>
          </a:ln>
        </p:spPr>
        <p:txBody>
          <a:bodyPr/>
          <a:lstStyle/>
          <a:p>
            <a:endParaRPr lang="en-US"/>
          </a:p>
        </p:txBody>
      </p:sp>
      <p:sp>
        <p:nvSpPr>
          <p:cNvPr id="7" name="Shape 5"/>
          <p:cNvSpPr/>
          <p:nvPr/>
        </p:nvSpPr>
        <p:spPr>
          <a:xfrm>
            <a:off x="594360" y="1591056"/>
            <a:ext cx="182880" cy="182880"/>
          </a:xfrm>
          <a:prstGeom prst="ellipse">
            <a:avLst/>
          </a:prstGeom>
          <a:solidFill>
            <a:srgbClr val="2E9E6B"/>
          </a:solidFill>
          <a:ln w="19050">
            <a:solidFill>
              <a:srgbClr val="2E9E6B"/>
            </a:solidFill>
            <a:prstDash val="solid"/>
          </a:ln>
        </p:spPr>
        <p:txBody>
          <a:bodyPr/>
          <a:lstStyle/>
          <a:p>
            <a:endParaRPr lang="en-US"/>
          </a:p>
        </p:txBody>
      </p:sp>
      <p:sp>
        <p:nvSpPr>
          <p:cNvPr id="8" name="Text 6"/>
          <p:cNvSpPr txBox="1"/>
          <p:nvPr/>
        </p:nvSpPr>
        <p:spPr>
          <a:xfrm>
            <a:off x="868680" y="1325880"/>
            <a:ext cx="2194560" cy="713232"/>
          </a:xfrm>
          <a:prstGeom prst="rect">
            <a:avLst/>
          </a:prstGeom>
          <a:noFill/>
          <a:ln/>
        </p:spPr>
        <p:txBody>
          <a:bodyPr wrap="square" lIns="0" tIns="0" rIns="0" bIns="0" rtlCol="0" anchor="ctr"/>
          <a:lstStyle/>
          <a:p>
            <a:pPr marL="0" indent="0">
              <a:buNone/>
            </a:pPr>
            <a:r>
              <a:rPr lang="en-US" sz="1250" b="1" dirty="0">
                <a:solidFill>
                  <a:srgbClr val="1F2933"/>
                </a:solidFill>
                <a:latin typeface="Arial" pitchFamily="34" charset="0"/>
                <a:ea typeface="Arial" pitchFamily="34" charset="-122"/>
                <a:cs typeface="Arial" pitchFamily="34" charset="-120"/>
              </a:rPr>
              <a:t>Messed up a file, not committed yet</a:t>
            </a:r>
            <a:endParaRPr lang="en-US" sz="1250" dirty="0"/>
          </a:p>
        </p:txBody>
      </p:sp>
      <p:sp>
        <p:nvSpPr>
          <p:cNvPr id="9" name="Text 7"/>
          <p:cNvSpPr txBox="1"/>
          <p:nvPr/>
        </p:nvSpPr>
        <p:spPr>
          <a:xfrm>
            <a:off x="3154680" y="1325880"/>
            <a:ext cx="3200400" cy="713232"/>
          </a:xfrm>
          <a:prstGeom prst="rect">
            <a:avLst/>
          </a:prstGeom>
          <a:noFill/>
          <a:ln/>
        </p:spPr>
        <p:txBody>
          <a:bodyPr wrap="square" lIns="0" tIns="0" rIns="0" bIns="0" rtlCol="0" anchor="ctr"/>
          <a:lstStyle/>
          <a:p>
            <a:pPr marL="0" indent="0">
              <a:buNone/>
            </a:pPr>
            <a:r>
              <a:rPr lang="en-US" sz="1200" dirty="0">
                <a:solidFill>
                  <a:srgbClr val="1F2933"/>
                </a:solidFill>
                <a:latin typeface="Arial" pitchFamily="34" charset="0"/>
                <a:ea typeface="Arial" pitchFamily="34" charset="-122"/>
                <a:cs typeface="Arial" pitchFamily="34" charset="-120"/>
              </a:rPr>
              <a:t>Changes tab → right-click file → Discard changes</a:t>
            </a:r>
            <a:endParaRPr lang="en-US" sz="1200" dirty="0"/>
          </a:p>
        </p:txBody>
      </p:sp>
      <p:sp>
        <p:nvSpPr>
          <p:cNvPr id="10" name="Text 8"/>
          <p:cNvSpPr txBox="1"/>
          <p:nvPr/>
        </p:nvSpPr>
        <p:spPr>
          <a:xfrm>
            <a:off x="6492240" y="1325880"/>
            <a:ext cx="2103120" cy="713232"/>
          </a:xfrm>
          <a:prstGeom prst="rect">
            <a:avLst/>
          </a:prstGeom>
          <a:noFill/>
          <a:ln/>
        </p:spPr>
        <p:txBody>
          <a:bodyPr wrap="square" lIns="0" tIns="0" rIns="0" bIns="0" rtlCol="0" anchor="ctr"/>
          <a:lstStyle/>
          <a:p>
            <a:pPr marL="0" indent="0">
              <a:buNone/>
            </a:pPr>
            <a:r>
              <a:rPr lang="en-US" sz="1150" dirty="0">
                <a:solidFill>
                  <a:srgbClr val="5B6573"/>
                </a:solidFill>
                <a:latin typeface="Arial" pitchFamily="34" charset="0"/>
                <a:ea typeface="Arial" pitchFamily="34" charset="-122"/>
                <a:cs typeface="Arial" pitchFamily="34" charset="-120"/>
              </a:rPr>
              <a:t>Sent to Recycle Bin / Trash</a:t>
            </a:r>
            <a:endParaRPr lang="en-US" sz="1150" dirty="0"/>
          </a:p>
        </p:txBody>
      </p:sp>
      <p:sp>
        <p:nvSpPr>
          <p:cNvPr id="11" name="Shape 9"/>
          <p:cNvSpPr/>
          <p:nvPr/>
        </p:nvSpPr>
        <p:spPr>
          <a:xfrm>
            <a:off x="457200" y="2148840"/>
            <a:ext cx="8229600" cy="713232"/>
          </a:xfrm>
          <a:prstGeom prst="roundRect">
            <a:avLst>
              <a:gd name="adj" fmla="val 10256"/>
            </a:avLst>
          </a:prstGeom>
          <a:solidFill>
            <a:srgbClr val="FFFFFF"/>
          </a:solidFill>
          <a:ln w="12700">
            <a:solidFill>
              <a:srgbClr val="D5DAE0"/>
            </a:solidFill>
            <a:prstDash val="solid"/>
          </a:ln>
        </p:spPr>
        <p:txBody>
          <a:bodyPr/>
          <a:lstStyle/>
          <a:p>
            <a:endParaRPr lang="en-US"/>
          </a:p>
        </p:txBody>
      </p:sp>
      <p:sp>
        <p:nvSpPr>
          <p:cNvPr id="12" name="Shape 10"/>
          <p:cNvSpPr/>
          <p:nvPr/>
        </p:nvSpPr>
        <p:spPr>
          <a:xfrm>
            <a:off x="594360" y="2414016"/>
            <a:ext cx="182880" cy="182880"/>
          </a:xfrm>
          <a:prstGeom prst="ellipse">
            <a:avLst/>
          </a:prstGeom>
          <a:solidFill>
            <a:srgbClr val="2E9E6B"/>
          </a:solidFill>
          <a:ln w="19050">
            <a:solidFill>
              <a:srgbClr val="2E9E6B"/>
            </a:solidFill>
            <a:prstDash val="solid"/>
          </a:ln>
        </p:spPr>
        <p:txBody>
          <a:bodyPr/>
          <a:lstStyle/>
          <a:p>
            <a:endParaRPr lang="en-US"/>
          </a:p>
        </p:txBody>
      </p:sp>
      <p:sp>
        <p:nvSpPr>
          <p:cNvPr id="13" name="Text 11"/>
          <p:cNvSpPr txBox="1"/>
          <p:nvPr/>
        </p:nvSpPr>
        <p:spPr>
          <a:xfrm>
            <a:off x="868680" y="2148840"/>
            <a:ext cx="2194560" cy="713232"/>
          </a:xfrm>
          <a:prstGeom prst="rect">
            <a:avLst/>
          </a:prstGeom>
          <a:noFill/>
          <a:ln/>
        </p:spPr>
        <p:txBody>
          <a:bodyPr wrap="square" lIns="0" tIns="0" rIns="0" bIns="0" rtlCol="0" anchor="ctr"/>
          <a:lstStyle/>
          <a:p>
            <a:pPr marL="0" indent="0">
              <a:buNone/>
            </a:pPr>
            <a:r>
              <a:rPr lang="en-US" sz="1250" b="1" dirty="0">
                <a:solidFill>
                  <a:srgbClr val="1F2933"/>
                </a:solidFill>
                <a:latin typeface="Arial" pitchFamily="34" charset="0"/>
                <a:ea typeface="Arial" pitchFamily="34" charset="-122"/>
                <a:cs typeface="Arial" pitchFamily="34" charset="-120"/>
              </a:rPr>
              <a:t>Committed, but not pushed yet</a:t>
            </a:r>
            <a:endParaRPr lang="en-US" sz="1250" dirty="0"/>
          </a:p>
        </p:txBody>
      </p:sp>
      <p:sp>
        <p:nvSpPr>
          <p:cNvPr id="14" name="Text 12"/>
          <p:cNvSpPr txBox="1"/>
          <p:nvPr/>
        </p:nvSpPr>
        <p:spPr>
          <a:xfrm>
            <a:off x="3154680" y="2148840"/>
            <a:ext cx="3200400" cy="713232"/>
          </a:xfrm>
          <a:prstGeom prst="rect">
            <a:avLst/>
          </a:prstGeom>
          <a:noFill/>
          <a:ln/>
        </p:spPr>
        <p:txBody>
          <a:bodyPr wrap="square" lIns="0" tIns="0" rIns="0" bIns="0" rtlCol="0" anchor="ctr"/>
          <a:lstStyle/>
          <a:p>
            <a:pPr marL="0" indent="0">
              <a:buNone/>
            </a:pPr>
            <a:r>
              <a:rPr lang="en-US" sz="1200" dirty="0">
                <a:solidFill>
                  <a:srgbClr val="1F2933"/>
                </a:solidFill>
                <a:latin typeface="Arial" pitchFamily="34" charset="0"/>
                <a:ea typeface="Arial" pitchFamily="34" charset="-122"/>
                <a:cs typeface="Arial" pitchFamily="34" charset="-120"/>
              </a:rPr>
              <a:t>Click Undo under the commit box</a:t>
            </a:r>
            <a:endParaRPr lang="en-US" sz="1200" dirty="0"/>
          </a:p>
        </p:txBody>
      </p:sp>
      <p:sp>
        <p:nvSpPr>
          <p:cNvPr id="15" name="Text 13"/>
          <p:cNvSpPr txBox="1"/>
          <p:nvPr/>
        </p:nvSpPr>
        <p:spPr>
          <a:xfrm>
            <a:off x="6492240" y="2148840"/>
            <a:ext cx="2103120" cy="713232"/>
          </a:xfrm>
          <a:prstGeom prst="rect">
            <a:avLst/>
          </a:prstGeom>
          <a:noFill/>
          <a:ln/>
        </p:spPr>
        <p:txBody>
          <a:bodyPr wrap="square" lIns="0" tIns="0" rIns="0" bIns="0" rtlCol="0" anchor="ctr"/>
          <a:lstStyle/>
          <a:p>
            <a:pPr marL="0" indent="0">
              <a:buNone/>
            </a:pPr>
            <a:r>
              <a:rPr lang="en-US" sz="1150" dirty="0">
                <a:solidFill>
                  <a:srgbClr val="5B6573"/>
                </a:solidFill>
                <a:latin typeface="Arial" pitchFamily="34" charset="0"/>
                <a:ea typeface="Arial" pitchFamily="34" charset="-122"/>
                <a:cs typeface="Arial" pitchFamily="34" charset="-120"/>
              </a:rPr>
              <a:t>Changes return to the Changes tab</a:t>
            </a:r>
            <a:endParaRPr lang="en-US" sz="1150" dirty="0"/>
          </a:p>
        </p:txBody>
      </p:sp>
      <p:sp>
        <p:nvSpPr>
          <p:cNvPr id="16" name="Shape 14"/>
          <p:cNvSpPr/>
          <p:nvPr/>
        </p:nvSpPr>
        <p:spPr>
          <a:xfrm>
            <a:off x="457200" y="2971800"/>
            <a:ext cx="8229600" cy="713232"/>
          </a:xfrm>
          <a:prstGeom prst="roundRect">
            <a:avLst>
              <a:gd name="adj" fmla="val 10256"/>
            </a:avLst>
          </a:prstGeom>
          <a:solidFill>
            <a:srgbClr val="F1F3F5"/>
          </a:solidFill>
          <a:ln w="12700">
            <a:solidFill>
              <a:srgbClr val="D5DAE0"/>
            </a:solidFill>
            <a:prstDash val="solid"/>
          </a:ln>
        </p:spPr>
        <p:txBody>
          <a:bodyPr/>
          <a:lstStyle/>
          <a:p>
            <a:endParaRPr lang="en-US"/>
          </a:p>
        </p:txBody>
      </p:sp>
      <p:sp>
        <p:nvSpPr>
          <p:cNvPr id="17" name="Shape 15"/>
          <p:cNvSpPr/>
          <p:nvPr/>
        </p:nvSpPr>
        <p:spPr>
          <a:xfrm>
            <a:off x="594360" y="3236976"/>
            <a:ext cx="182880" cy="182880"/>
          </a:xfrm>
          <a:prstGeom prst="ellipse">
            <a:avLst/>
          </a:prstGeom>
          <a:solidFill>
            <a:srgbClr val="F2711C"/>
          </a:solidFill>
          <a:ln w="19050">
            <a:solidFill>
              <a:srgbClr val="F2711C"/>
            </a:solidFill>
            <a:prstDash val="solid"/>
          </a:ln>
        </p:spPr>
        <p:txBody>
          <a:bodyPr/>
          <a:lstStyle/>
          <a:p>
            <a:endParaRPr lang="en-US"/>
          </a:p>
        </p:txBody>
      </p:sp>
      <p:sp>
        <p:nvSpPr>
          <p:cNvPr id="18" name="Text 16"/>
          <p:cNvSpPr txBox="1"/>
          <p:nvPr/>
        </p:nvSpPr>
        <p:spPr>
          <a:xfrm>
            <a:off x="868680" y="2971800"/>
            <a:ext cx="2194560" cy="713232"/>
          </a:xfrm>
          <a:prstGeom prst="rect">
            <a:avLst/>
          </a:prstGeom>
          <a:noFill/>
          <a:ln/>
        </p:spPr>
        <p:txBody>
          <a:bodyPr wrap="square" lIns="0" tIns="0" rIns="0" bIns="0" rtlCol="0" anchor="ctr"/>
          <a:lstStyle/>
          <a:p>
            <a:pPr marL="0" indent="0">
              <a:buNone/>
            </a:pPr>
            <a:r>
              <a:rPr lang="en-US" sz="1250" b="1" dirty="0">
                <a:solidFill>
                  <a:srgbClr val="1F2933"/>
                </a:solidFill>
                <a:latin typeface="Arial" pitchFamily="34" charset="0"/>
                <a:ea typeface="Arial" pitchFamily="34" charset="-122"/>
                <a:cs typeface="Arial" pitchFamily="34" charset="-120"/>
              </a:rPr>
              <a:t>Bad commit already pushed</a:t>
            </a:r>
            <a:endParaRPr lang="en-US" sz="1250" dirty="0"/>
          </a:p>
        </p:txBody>
      </p:sp>
      <p:sp>
        <p:nvSpPr>
          <p:cNvPr id="19" name="Text 17"/>
          <p:cNvSpPr txBox="1"/>
          <p:nvPr/>
        </p:nvSpPr>
        <p:spPr>
          <a:xfrm>
            <a:off x="3154680" y="2971800"/>
            <a:ext cx="3200400" cy="713232"/>
          </a:xfrm>
          <a:prstGeom prst="rect">
            <a:avLst/>
          </a:prstGeom>
          <a:noFill/>
          <a:ln/>
        </p:spPr>
        <p:txBody>
          <a:bodyPr wrap="square" lIns="0" tIns="0" rIns="0" bIns="0" rtlCol="0" anchor="ctr"/>
          <a:lstStyle/>
          <a:p>
            <a:pPr marL="0" indent="0">
              <a:buNone/>
            </a:pPr>
            <a:r>
              <a:rPr lang="en-US" sz="1200" dirty="0">
                <a:solidFill>
                  <a:srgbClr val="1F2933"/>
                </a:solidFill>
                <a:latin typeface="Arial" pitchFamily="34" charset="0"/>
                <a:ea typeface="Arial" pitchFamily="34" charset="-122"/>
                <a:cs typeface="Arial" pitchFamily="34" charset="-120"/>
              </a:rPr>
              <a:t>History tab → right-click commit → Revert changes in commit</a:t>
            </a:r>
            <a:endParaRPr lang="en-US" sz="1200" dirty="0"/>
          </a:p>
        </p:txBody>
      </p:sp>
      <p:sp>
        <p:nvSpPr>
          <p:cNvPr id="20" name="Text 18"/>
          <p:cNvSpPr txBox="1"/>
          <p:nvPr/>
        </p:nvSpPr>
        <p:spPr>
          <a:xfrm>
            <a:off x="6492240" y="2971800"/>
            <a:ext cx="2103120" cy="713232"/>
          </a:xfrm>
          <a:prstGeom prst="rect">
            <a:avLst/>
          </a:prstGeom>
          <a:noFill/>
          <a:ln/>
        </p:spPr>
        <p:txBody>
          <a:bodyPr wrap="square" lIns="0" tIns="0" rIns="0" bIns="0" rtlCol="0" anchor="ctr"/>
          <a:lstStyle/>
          <a:p>
            <a:pPr marL="0" indent="0">
              <a:buNone/>
            </a:pPr>
            <a:r>
              <a:rPr lang="en-US" sz="1150" dirty="0">
                <a:solidFill>
                  <a:srgbClr val="5B6573"/>
                </a:solidFill>
                <a:latin typeface="Arial" pitchFamily="34" charset="0"/>
                <a:ea typeface="Arial" pitchFamily="34" charset="-122"/>
                <a:cs typeface="Arial" pitchFamily="34" charset="-120"/>
              </a:rPr>
              <a:t>Creates a new "undo" commit, then push</a:t>
            </a:r>
            <a:endParaRPr lang="en-US" sz="1150" dirty="0"/>
          </a:p>
        </p:txBody>
      </p:sp>
      <p:sp>
        <p:nvSpPr>
          <p:cNvPr id="21" name="Shape 19"/>
          <p:cNvSpPr/>
          <p:nvPr/>
        </p:nvSpPr>
        <p:spPr>
          <a:xfrm>
            <a:off x="457200" y="3794760"/>
            <a:ext cx="8229600" cy="713232"/>
          </a:xfrm>
          <a:prstGeom prst="roundRect">
            <a:avLst>
              <a:gd name="adj" fmla="val 10256"/>
            </a:avLst>
          </a:prstGeom>
          <a:solidFill>
            <a:srgbClr val="FFFFFF"/>
          </a:solidFill>
          <a:ln w="12700">
            <a:solidFill>
              <a:srgbClr val="D5DAE0"/>
            </a:solidFill>
            <a:prstDash val="solid"/>
          </a:ln>
        </p:spPr>
        <p:txBody>
          <a:bodyPr/>
          <a:lstStyle/>
          <a:p>
            <a:endParaRPr lang="en-US"/>
          </a:p>
        </p:txBody>
      </p:sp>
      <p:sp>
        <p:nvSpPr>
          <p:cNvPr id="22" name="Shape 20"/>
          <p:cNvSpPr/>
          <p:nvPr/>
        </p:nvSpPr>
        <p:spPr>
          <a:xfrm>
            <a:off x="594360" y="4059936"/>
            <a:ext cx="182880" cy="182880"/>
          </a:xfrm>
          <a:prstGeom prst="ellipse">
            <a:avLst/>
          </a:prstGeom>
          <a:solidFill>
            <a:srgbClr val="3A6EA5"/>
          </a:solidFill>
          <a:ln w="19050">
            <a:solidFill>
              <a:srgbClr val="3A6EA5"/>
            </a:solidFill>
            <a:prstDash val="solid"/>
          </a:ln>
        </p:spPr>
        <p:txBody>
          <a:bodyPr/>
          <a:lstStyle/>
          <a:p>
            <a:endParaRPr lang="en-US"/>
          </a:p>
        </p:txBody>
      </p:sp>
      <p:sp>
        <p:nvSpPr>
          <p:cNvPr id="23" name="Text 21"/>
          <p:cNvSpPr txBox="1"/>
          <p:nvPr/>
        </p:nvSpPr>
        <p:spPr>
          <a:xfrm>
            <a:off x="868680" y="3794760"/>
            <a:ext cx="2194560" cy="713232"/>
          </a:xfrm>
          <a:prstGeom prst="rect">
            <a:avLst/>
          </a:prstGeom>
          <a:noFill/>
          <a:ln/>
        </p:spPr>
        <p:txBody>
          <a:bodyPr wrap="square" lIns="0" tIns="0" rIns="0" bIns="0" rtlCol="0" anchor="ctr"/>
          <a:lstStyle/>
          <a:p>
            <a:pPr marL="0" indent="0">
              <a:buNone/>
            </a:pPr>
            <a:r>
              <a:rPr lang="en-US" sz="1250" b="1" dirty="0">
                <a:solidFill>
                  <a:srgbClr val="1F2933"/>
                </a:solidFill>
                <a:latin typeface="Arial" pitchFamily="34" charset="0"/>
                <a:ea typeface="Arial" pitchFamily="34" charset="-122"/>
                <a:cs typeface="Arial" pitchFamily="34" charset="-120"/>
              </a:rPr>
              <a:t>Need an old version of a file</a:t>
            </a:r>
            <a:endParaRPr lang="en-US" sz="1250" dirty="0"/>
          </a:p>
        </p:txBody>
      </p:sp>
      <p:sp>
        <p:nvSpPr>
          <p:cNvPr id="24" name="Text 22"/>
          <p:cNvSpPr txBox="1"/>
          <p:nvPr/>
        </p:nvSpPr>
        <p:spPr>
          <a:xfrm>
            <a:off x="3154680" y="3794760"/>
            <a:ext cx="3200400" cy="713232"/>
          </a:xfrm>
          <a:prstGeom prst="rect">
            <a:avLst/>
          </a:prstGeom>
          <a:noFill/>
          <a:ln/>
        </p:spPr>
        <p:txBody>
          <a:bodyPr wrap="square" lIns="0" tIns="0" rIns="0" bIns="0" rtlCol="0" anchor="ctr"/>
          <a:lstStyle/>
          <a:p>
            <a:pPr marL="0" indent="0">
              <a:buNone/>
            </a:pPr>
            <a:r>
              <a:rPr lang="en-US" sz="1200" dirty="0">
                <a:solidFill>
                  <a:srgbClr val="1F2933"/>
                </a:solidFill>
                <a:latin typeface="Arial" pitchFamily="34" charset="0"/>
                <a:ea typeface="Arial" pitchFamily="34" charset="-122"/>
                <a:cs typeface="Arial" pitchFamily="34" charset="-120"/>
              </a:rPr>
              <a:t>History tab → select commit → right-click → View on GitHub</a:t>
            </a:r>
            <a:endParaRPr lang="en-US" sz="1200" dirty="0"/>
          </a:p>
        </p:txBody>
      </p:sp>
      <p:sp>
        <p:nvSpPr>
          <p:cNvPr id="25" name="Text 23"/>
          <p:cNvSpPr txBox="1"/>
          <p:nvPr/>
        </p:nvSpPr>
        <p:spPr>
          <a:xfrm>
            <a:off x="6492240" y="3794760"/>
            <a:ext cx="2103120" cy="713232"/>
          </a:xfrm>
          <a:prstGeom prst="rect">
            <a:avLst/>
          </a:prstGeom>
          <a:noFill/>
          <a:ln/>
        </p:spPr>
        <p:txBody>
          <a:bodyPr wrap="square" lIns="0" tIns="0" rIns="0" bIns="0" rtlCol="0" anchor="ctr"/>
          <a:lstStyle/>
          <a:p>
            <a:pPr marL="0" indent="0">
              <a:buNone/>
            </a:pPr>
            <a:r>
              <a:rPr lang="en-US" sz="1150" dirty="0">
                <a:solidFill>
                  <a:srgbClr val="5B6573"/>
                </a:solidFill>
                <a:latin typeface="Arial" pitchFamily="34" charset="0"/>
                <a:ea typeface="Arial" pitchFamily="34" charset="-122"/>
                <a:cs typeface="Arial" pitchFamily="34" charset="-120"/>
              </a:rPr>
              <a:t>Download the file from that commit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F2933"/>
                </a:solidFill>
                <a:latin typeface="Arial" pitchFamily="34" charset="0"/>
                <a:ea typeface="Arial" pitchFamily="34" charset="-122"/>
                <a:cs typeface="Arial" pitchFamily="34" charset="-120"/>
              </a:rPr>
              <a:t>Our rules for working on main</a:t>
            </a:r>
            <a:endParaRPr lang="en-US" sz="3000" dirty="0"/>
          </a:p>
        </p:txBody>
      </p:sp>
      <p:sp>
        <p:nvSpPr>
          <p:cNvPr id="3" name="Shape 1"/>
          <p:cNvSpPr/>
          <p:nvPr/>
        </p:nvSpPr>
        <p:spPr>
          <a:xfrm>
            <a:off x="457200" y="1143000"/>
            <a:ext cx="2606040" cy="1554480"/>
          </a:xfrm>
          <a:prstGeom prst="roundRect">
            <a:avLst>
              <a:gd name="adj" fmla="val 4706"/>
            </a:avLst>
          </a:prstGeom>
          <a:solidFill>
            <a:srgbClr val="F1F3F5"/>
          </a:solidFill>
          <a:ln w="12700">
            <a:solidFill>
              <a:srgbClr val="F1F3F5"/>
            </a:solidFill>
            <a:prstDash val="solid"/>
          </a:ln>
        </p:spPr>
        <p:txBody>
          <a:bodyPr/>
          <a:lstStyle/>
          <a:p>
            <a:endParaRPr lang="en-US"/>
          </a:p>
        </p:txBody>
      </p:sp>
      <p:sp>
        <p:nvSpPr>
          <p:cNvPr id="4" name="Text 2"/>
          <p:cNvSpPr txBox="1"/>
          <p:nvPr/>
        </p:nvSpPr>
        <p:spPr>
          <a:xfrm>
            <a:off x="685800" y="1280160"/>
            <a:ext cx="914400" cy="457200"/>
          </a:xfrm>
          <a:prstGeom prst="rect">
            <a:avLst/>
          </a:prstGeom>
          <a:noFill/>
          <a:ln/>
        </p:spPr>
        <p:txBody>
          <a:bodyPr wrap="square" lIns="0" tIns="0" rIns="0" bIns="0" rtlCol="0" anchor="t"/>
          <a:lstStyle/>
          <a:p>
            <a:pPr marL="0" indent="0">
              <a:buNone/>
            </a:pPr>
            <a:r>
              <a:rPr lang="en-US" sz="2400" b="1" dirty="0">
                <a:solidFill>
                  <a:srgbClr val="F2711C"/>
                </a:solidFill>
                <a:latin typeface="Arial" pitchFamily="34" charset="0"/>
                <a:ea typeface="Arial" pitchFamily="34" charset="-122"/>
                <a:cs typeface="Arial" pitchFamily="34" charset="-120"/>
              </a:rPr>
              <a:t>01</a:t>
            </a:r>
            <a:endParaRPr lang="en-US" sz="2400" dirty="0"/>
          </a:p>
        </p:txBody>
      </p:sp>
      <p:sp>
        <p:nvSpPr>
          <p:cNvPr id="5" name="Text 3"/>
          <p:cNvSpPr txBox="1"/>
          <p:nvPr/>
        </p:nvSpPr>
        <p:spPr>
          <a:xfrm>
            <a:off x="685800" y="1737360"/>
            <a:ext cx="2194560" cy="320040"/>
          </a:xfrm>
          <a:prstGeom prst="rect">
            <a:avLst/>
          </a:prstGeom>
          <a:noFill/>
          <a:ln/>
        </p:spPr>
        <p:txBody>
          <a:bodyPr wrap="square" lIns="0" tIns="0" rIns="0" bIns="0" rtlCol="0" anchor="t"/>
          <a:lstStyle/>
          <a:p>
            <a:pPr marL="0" indent="0">
              <a:buNone/>
            </a:pPr>
            <a:r>
              <a:rPr lang="en-US" sz="1450" b="1" dirty="0">
                <a:solidFill>
                  <a:srgbClr val="1F2933"/>
                </a:solidFill>
                <a:latin typeface="Arial" pitchFamily="34" charset="0"/>
                <a:ea typeface="Arial" pitchFamily="34" charset="-122"/>
                <a:cs typeface="Arial" pitchFamily="34" charset="-120"/>
              </a:rPr>
              <a:t>Pull before you start</a:t>
            </a:r>
            <a:endParaRPr lang="en-US" sz="1450" dirty="0"/>
          </a:p>
        </p:txBody>
      </p:sp>
      <p:sp>
        <p:nvSpPr>
          <p:cNvPr id="6" name="Text 4"/>
          <p:cNvSpPr txBox="1"/>
          <p:nvPr/>
        </p:nvSpPr>
        <p:spPr>
          <a:xfrm>
            <a:off x="685800" y="2057400"/>
            <a:ext cx="2194560" cy="548640"/>
          </a:xfrm>
          <a:prstGeom prst="rect">
            <a:avLst/>
          </a:prstGeom>
          <a:noFill/>
          <a:ln/>
        </p:spPr>
        <p:txBody>
          <a:bodyPr wrap="square" lIns="0" tIns="0" rIns="0" bIns="0" rtlCol="0" anchor="t"/>
          <a:lstStyle/>
          <a:p>
            <a:pPr marL="0" indent="0">
              <a:buNone/>
            </a:pPr>
            <a:r>
              <a:rPr lang="en-US" sz="1200" dirty="0">
                <a:solidFill>
                  <a:srgbClr val="5B6573"/>
                </a:solidFill>
                <a:latin typeface="Arial" pitchFamily="34" charset="0"/>
                <a:ea typeface="Arial" pitchFamily="34" charset="-122"/>
                <a:cs typeface="Arial" pitchFamily="34" charset="-120"/>
              </a:rPr>
              <a:t>Every session begins with Fetch → Pull.</a:t>
            </a:r>
            <a:endParaRPr lang="en-US" sz="1200" dirty="0"/>
          </a:p>
        </p:txBody>
      </p:sp>
      <p:sp>
        <p:nvSpPr>
          <p:cNvPr id="7" name="Shape 5"/>
          <p:cNvSpPr/>
          <p:nvPr/>
        </p:nvSpPr>
        <p:spPr>
          <a:xfrm>
            <a:off x="3264408" y="1143000"/>
            <a:ext cx="2606040" cy="1554480"/>
          </a:xfrm>
          <a:prstGeom prst="roundRect">
            <a:avLst>
              <a:gd name="adj" fmla="val 4706"/>
            </a:avLst>
          </a:prstGeom>
          <a:solidFill>
            <a:srgbClr val="F1F3F5"/>
          </a:solidFill>
          <a:ln w="12700">
            <a:solidFill>
              <a:srgbClr val="F1F3F5"/>
            </a:solidFill>
            <a:prstDash val="solid"/>
          </a:ln>
        </p:spPr>
        <p:txBody>
          <a:bodyPr/>
          <a:lstStyle/>
          <a:p>
            <a:endParaRPr lang="en-US"/>
          </a:p>
        </p:txBody>
      </p:sp>
      <p:sp>
        <p:nvSpPr>
          <p:cNvPr id="8" name="Text 6"/>
          <p:cNvSpPr txBox="1"/>
          <p:nvPr/>
        </p:nvSpPr>
        <p:spPr>
          <a:xfrm>
            <a:off x="3493008" y="1280160"/>
            <a:ext cx="914400" cy="457200"/>
          </a:xfrm>
          <a:prstGeom prst="rect">
            <a:avLst/>
          </a:prstGeom>
          <a:noFill/>
          <a:ln/>
        </p:spPr>
        <p:txBody>
          <a:bodyPr wrap="square" lIns="0" tIns="0" rIns="0" bIns="0" rtlCol="0" anchor="t"/>
          <a:lstStyle/>
          <a:p>
            <a:pPr marL="0" indent="0">
              <a:buNone/>
            </a:pPr>
            <a:r>
              <a:rPr lang="en-US" sz="2400" b="1" dirty="0">
                <a:solidFill>
                  <a:srgbClr val="F2711C"/>
                </a:solidFill>
                <a:latin typeface="Arial" pitchFamily="34" charset="0"/>
                <a:ea typeface="Arial" pitchFamily="34" charset="-122"/>
                <a:cs typeface="Arial" pitchFamily="34" charset="-120"/>
              </a:rPr>
              <a:t>02</a:t>
            </a:r>
            <a:endParaRPr lang="en-US" sz="2400" dirty="0"/>
          </a:p>
        </p:txBody>
      </p:sp>
      <p:sp>
        <p:nvSpPr>
          <p:cNvPr id="9" name="Text 7"/>
          <p:cNvSpPr txBox="1"/>
          <p:nvPr/>
        </p:nvSpPr>
        <p:spPr>
          <a:xfrm>
            <a:off x="3493008" y="1737360"/>
            <a:ext cx="2194560" cy="320040"/>
          </a:xfrm>
          <a:prstGeom prst="rect">
            <a:avLst/>
          </a:prstGeom>
          <a:noFill/>
          <a:ln/>
        </p:spPr>
        <p:txBody>
          <a:bodyPr wrap="square" lIns="0" tIns="0" rIns="0" bIns="0" rtlCol="0" anchor="t"/>
          <a:lstStyle/>
          <a:p>
            <a:pPr marL="0" indent="0">
              <a:buNone/>
            </a:pPr>
            <a:r>
              <a:rPr lang="en-US" sz="1450" b="1" dirty="0">
                <a:solidFill>
                  <a:srgbClr val="1F2933"/>
                </a:solidFill>
                <a:latin typeface="Arial" pitchFamily="34" charset="0"/>
                <a:ea typeface="Arial" pitchFamily="34" charset="-122"/>
                <a:cs typeface="Arial" pitchFamily="34" charset="-120"/>
              </a:rPr>
              <a:t>Commit small and often</a:t>
            </a:r>
            <a:endParaRPr lang="en-US" sz="1450" dirty="0"/>
          </a:p>
        </p:txBody>
      </p:sp>
      <p:sp>
        <p:nvSpPr>
          <p:cNvPr id="10" name="Text 8"/>
          <p:cNvSpPr txBox="1"/>
          <p:nvPr/>
        </p:nvSpPr>
        <p:spPr>
          <a:xfrm>
            <a:off x="3493008" y="2057400"/>
            <a:ext cx="2194560" cy="548640"/>
          </a:xfrm>
          <a:prstGeom prst="rect">
            <a:avLst/>
          </a:prstGeom>
          <a:noFill/>
          <a:ln/>
        </p:spPr>
        <p:txBody>
          <a:bodyPr wrap="square" lIns="0" tIns="0" rIns="0" bIns="0" rtlCol="0" anchor="t"/>
          <a:lstStyle/>
          <a:p>
            <a:pPr marL="0" indent="0">
              <a:buNone/>
            </a:pPr>
            <a:r>
              <a:rPr lang="en-US" sz="1200" dirty="0">
                <a:solidFill>
                  <a:srgbClr val="5B6573"/>
                </a:solidFill>
                <a:latin typeface="Arial" pitchFamily="34" charset="0"/>
                <a:ea typeface="Arial" pitchFamily="34" charset="-122"/>
                <a:cs typeface="Arial" pitchFamily="34" charset="-120"/>
              </a:rPr>
              <a:t>One idea per commit, clear message.</a:t>
            </a:r>
            <a:endParaRPr lang="en-US" sz="1200" dirty="0"/>
          </a:p>
        </p:txBody>
      </p:sp>
      <p:sp>
        <p:nvSpPr>
          <p:cNvPr id="11" name="Shape 9"/>
          <p:cNvSpPr/>
          <p:nvPr/>
        </p:nvSpPr>
        <p:spPr>
          <a:xfrm>
            <a:off x="6071616" y="1143000"/>
            <a:ext cx="2606040" cy="1554480"/>
          </a:xfrm>
          <a:prstGeom prst="roundRect">
            <a:avLst>
              <a:gd name="adj" fmla="val 4706"/>
            </a:avLst>
          </a:prstGeom>
          <a:solidFill>
            <a:srgbClr val="F1F3F5"/>
          </a:solidFill>
          <a:ln w="12700">
            <a:solidFill>
              <a:srgbClr val="F1F3F5"/>
            </a:solidFill>
            <a:prstDash val="solid"/>
          </a:ln>
        </p:spPr>
        <p:txBody>
          <a:bodyPr/>
          <a:lstStyle/>
          <a:p>
            <a:endParaRPr lang="en-US"/>
          </a:p>
        </p:txBody>
      </p:sp>
      <p:sp>
        <p:nvSpPr>
          <p:cNvPr id="12" name="Text 10"/>
          <p:cNvSpPr txBox="1"/>
          <p:nvPr/>
        </p:nvSpPr>
        <p:spPr>
          <a:xfrm>
            <a:off x="6300216" y="1280160"/>
            <a:ext cx="914400" cy="457200"/>
          </a:xfrm>
          <a:prstGeom prst="rect">
            <a:avLst/>
          </a:prstGeom>
          <a:noFill/>
          <a:ln/>
        </p:spPr>
        <p:txBody>
          <a:bodyPr wrap="square" lIns="0" tIns="0" rIns="0" bIns="0" rtlCol="0" anchor="t"/>
          <a:lstStyle/>
          <a:p>
            <a:pPr marL="0" indent="0">
              <a:buNone/>
            </a:pPr>
            <a:r>
              <a:rPr lang="en-US" sz="2400" b="1" dirty="0">
                <a:solidFill>
                  <a:srgbClr val="F2711C"/>
                </a:solidFill>
                <a:latin typeface="Arial" pitchFamily="34" charset="0"/>
                <a:ea typeface="Arial" pitchFamily="34" charset="-122"/>
                <a:cs typeface="Arial" pitchFamily="34" charset="-120"/>
              </a:rPr>
              <a:t>03</a:t>
            </a:r>
            <a:endParaRPr lang="en-US" sz="2400" dirty="0"/>
          </a:p>
        </p:txBody>
      </p:sp>
      <p:sp>
        <p:nvSpPr>
          <p:cNvPr id="13" name="Text 11"/>
          <p:cNvSpPr txBox="1"/>
          <p:nvPr/>
        </p:nvSpPr>
        <p:spPr>
          <a:xfrm>
            <a:off x="6300216" y="1737360"/>
            <a:ext cx="2194560" cy="320040"/>
          </a:xfrm>
          <a:prstGeom prst="rect">
            <a:avLst/>
          </a:prstGeom>
          <a:noFill/>
          <a:ln/>
        </p:spPr>
        <p:txBody>
          <a:bodyPr wrap="square" lIns="0" tIns="0" rIns="0" bIns="0" rtlCol="0" anchor="t"/>
          <a:lstStyle/>
          <a:p>
            <a:pPr marL="0" indent="0">
              <a:buNone/>
            </a:pPr>
            <a:r>
              <a:rPr lang="en-US" sz="1450" b="1" dirty="0">
                <a:solidFill>
                  <a:srgbClr val="1F2933"/>
                </a:solidFill>
                <a:latin typeface="Arial" pitchFamily="34" charset="0"/>
                <a:ea typeface="Arial" pitchFamily="34" charset="-122"/>
                <a:cs typeface="Arial" pitchFamily="34" charset="-120"/>
              </a:rPr>
              <a:t>Pull before you push</a:t>
            </a:r>
            <a:endParaRPr lang="en-US" sz="1450" dirty="0"/>
          </a:p>
        </p:txBody>
      </p:sp>
      <p:sp>
        <p:nvSpPr>
          <p:cNvPr id="14" name="Text 12"/>
          <p:cNvSpPr txBox="1"/>
          <p:nvPr/>
        </p:nvSpPr>
        <p:spPr>
          <a:xfrm>
            <a:off x="6300216" y="2057400"/>
            <a:ext cx="2194560" cy="548640"/>
          </a:xfrm>
          <a:prstGeom prst="rect">
            <a:avLst/>
          </a:prstGeom>
          <a:noFill/>
          <a:ln/>
        </p:spPr>
        <p:txBody>
          <a:bodyPr wrap="square" lIns="0" tIns="0" rIns="0" bIns="0" rtlCol="0" anchor="t"/>
          <a:lstStyle/>
          <a:p>
            <a:pPr marL="0" indent="0">
              <a:buNone/>
            </a:pPr>
            <a:r>
              <a:rPr lang="en-US" sz="1200" dirty="0">
                <a:solidFill>
                  <a:srgbClr val="5B6573"/>
                </a:solidFill>
                <a:latin typeface="Arial" pitchFamily="34" charset="0"/>
                <a:ea typeface="Arial" pitchFamily="34" charset="-122"/>
                <a:cs typeface="Arial" pitchFamily="34" charset="-120"/>
              </a:rPr>
              <a:t>Handle merges on your machine first.</a:t>
            </a:r>
            <a:endParaRPr lang="en-US" sz="1200" dirty="0"/>
          </a:p>
        </p:txBody>
      </p:sp>
      <p:sp>
        <p:nvSpPr>
          <p:cNvPr id="15" name="Shape 13"/>
          <p:cNvSpPr/>
          <p:nvPr/>
        </p:nvSpPr>
        <p:spPr>
          <a:xfrm>
            <a:off x="457200" y="2926080"/>
            <a:ext cx="2606040" cy="1554480"/>
          </a:xfrm>
          <a:prstGeom prst="roundRect">
            <a:avLst>
              <a:gd name="adj" fmla="val 4706"/>
            </a:avLst>
          </a:prstGeom>
          <a:solidFill>
            <a:srgbClr val="F1F3F5"/>
          </a:solidFill>
          <a:ln w="12700">
            <a:solidFill>
              <a:srgbClr val="F1F3F5"/>
            </a:solidFill>
            <a:prstDash val="solid"/>
          </a:ln>
        </p:spPr>
        <p:txBody>
          <a:bodyPr/>
          <a:lstStyle/>
          <a:p>
            <a:endParaRPr lang="en-US"/>
          </a:p>
        </p:txBody>
      </p:sp>
      <p:sp>
        <p:nvSpPr>
          <p:cNvPr id="16" name="Text 14"/>
          <p:cNvSpPr txBox="1"/>
          <p:nvPr/>
        </p:nvSpPr>
        <p:spPr>
          <a:xfrm>
            <a:off x="685800" y="3063240"/>
            <a:ext cx="914400" cy="457200"/>
          </a:xfrm>
          <a:prstGeom prst="rect">
            <a:avLst/>
          </a:prstGeom>
          <a:noFill/>
          <a:ln/>
        </p:spPr>
        <p:txBody>
          <a:bodyPr wrap="square" lIns="0" tIns="0" rIns="0" bIns="0" rtlCol="0" anchor="t"/>
          <a:lstStyle/>
          <a:p>
            <a:pPr marL="0" indent="0">
              <a:buNone/>
            </a:pPr>
            <a:r>
              <a:rPr lang="en-US" sz="2400" b="1" dirty="0">
                <a:solidFill>
                  <a:srgbClr val="F2711C"/>
                </a:solidFill>
                <a:latin typeface="Arial" pitchFamily="34" charset="0"/>
                <a:ea typeface="Arial" pitchFamily="34" charset="-122"/>
                <a:cs typeface="Arial" pitchFamily="34" charset="-120"/>
              </a:rPr>
              <a:t>04</a:t>
            </a:r>
            <a:endParaRPr lang="en-US" sz="2400" dirty="0"/>
          </a:p>
        </p:txBody>
      </p:sp>
      <p:sp>
        <p:nvSpPr>
          <p:cNvPr id="17" name="Text 15"/>
          <p:cNvSpPr txBox="1"/>
          <p:nvPr/>
        </p:nvSpPr>
        <p:spPr>
          <a:xfrm>
            <a:off x="685800" y="3520440"/>
            <a:ext cx="2194560" cy="320040"/>
          </a:xfrm>
          <a:prstGeom prst="rect">
            <a:avLst/>
          </a:prstGeom>
          <a:noFill/>
          <a:ln/>
        </p:spPr>
        <p:txBody>
          <a:bodyPr wrap="square" lIns="0" tIns="0" rIns="0" bIns="0" rtlCol="0" anchor="t"/>
          <a:lstStyle/>
          <a:p>
            <a:pPr marL="0" indent="0">
              <a:buNone/>
            </a:pPr>
            <a:r>
              <a:rPr lang="en-US" sz="1450" b="1" dirty="0">
                <a:solidFill>
                  <a:srgbClr val="1F2933"/>
                </a:solidFill>
                <a:latin typeface="Arial" pitchFamily="34" charset="0"/>
                <a:ea typeface="Arial" pitchFamily="34" charset="-122"/>
                <a:cs typeface="Arial" pitchFamily="34" charset="-120"/>
              </a:rPr>
              <a:t>Push before you leave</a:t>
            </a:r>
            <a:endParaRPr lang="en-US" sz="1450" dirty="0"/>
          </a:p>
        </p:txBody>
      </p:sp>
      <p:sp>
        <p:nvSpPr>
          <p:cNvPr id="18" name="Text 16"/>
          <p:cNvSpPr txBox="1"/>
          <p:nvPr/>
        </p:nvSpPr>
        <p:spPr>
          <a:xfrm>
            <a:off x="685800" y="3840480"/>
            <a:ext cx="2194560" cy="548640"/>
          </a:xfrm>
          <a:prstGeom prst="rect">
            <a:avLst/>
          </a:prstGeom>
          <a:noFill/>
          <a:ln/>
        </p:spPr>
        <p:txBody>
          <a:bodyPr wrap="square" lIns="0" tIns="0" rIns="0" bIns="0" rtlCol="0" anchor="t"/>
          <a:lstStyle/>
          <a:p>
            <a:pPr marL="0" indent="0">
              <a:buNone/>
            </a:pPr>
            <a:r>
              <a:rPr lang="en-US" sz="1200" dirty="0">
                <a:solidFill>
                  <a:srgbClr val="5B6573"/>
                </a:solidFill>
                <a:latin typeface="Arial" pitchFamily="34" charset="0"/>
                <a:ea typeface="Arial" pitchFamily="34" charset="-122"/>
                <a:cs typeface="Arial" pitchFamily="34" charset="-120"/>
              </a:rPr>
              <a:t>No work lives only on one laptop.</a:t>
            </a:r>
            <a:endParaRPr lang="en-US" sz="1200" dirty="0"/>
          </a:p>
        </p:txBody>
      </p:sp>
      <p:sp>
        <p:nvSpPr>
          <p:cNvPr id="19" name="Shape 17"/>
          <p:cNvSpPr/>
          <p:nvPr/>
        </p:nvSpPr>
        <p:spPr>
          <a:xfrm>
            <a:off x="3264408" y="2926080"/>
            <a:ext cx="2606040" cy="1554480"/>
          </a:xfrm>
          <a:prstGeom prst="roundRect">
            <a:avLst>
              <a:gd name="adj" fmla="val 4706"/>
            </a:avLst>
          </a:prstGeom>
          <a:solidFill>
            <a:srgbClr val="F1F3F5"/>
          </a:solidFill>
          <a:ln w="12700">
            <a:solidFill>
              <a:srgbClr val="F1F3F5"/>
            </a:solidFill>
            <a:prstDash val="solid"/>
          </a:ln>
        </p:spPr>
        <p:txBody>
          <a:bodyPr/>
          <a:lstStyle/>
          <a:p>
            <a:endParaRPr lang="en-US"/>
          </a:p>
        </p:txBody>
      </p:sp>
      <p:sp>
        <p:nvSpPr>
          <p:cNvPr id="20" name="Text 18"/>
          <p:cNvSpPr txBox="1"/>
          <p:nvPr/>
        </p:nvSpPr>
        <p:spPr>
          <a:xfrm>
            <a:off x="3493008" y="3063240"/>
            <a:ext cx="914400" cy="457200"/>
          </a:xfrm>
          <a:prstGeom prst="rect">
            <a:avLst/>
          </a:prstGeom>
          <a:noFill/>
          <a:ln/>
        </p:spPr>
        <p:txBody>
          <a:bodyPr wrap="square" lIns="0" tIns="0" rIns="0" bIns="0" rtlCol="0" anchor="t"/>
          <a:lstStyle/>
          <a:p>
            <a:pPr marL="0" indent="0">
              <a:buNone/>
            </a:pPr>
            <a:r>
              <a:rPr lang="en-US" sz="2400" b="1" dirty="0">
                <a:solidFill>
                  <a:srgbClr val="F2711C"/>
                </a:solidFill>
                <a:latin typeface="Arial" pitchFamily="34" charset="0"/>
                <a:ea typeface="Arial" pitchFamily="34" charset="-122"/>
                <a:cs typeface="Arial" pitchFamily="34" charset="-120"/>
              </a:rPr>
              <a:t>05</a:t>
            </a:r>
            <a:endParaRPr lang="en-US" sz="2400" dirty="0"/>
          </a:p>
        </p:txBody>
      </p:sp>
      <p:sp>
        <p:nvSpPr>
          <p:cNvPr id="21" name="Text 19"/>
          <p:cNvSpPr txBox="1"/>
          <p:nvPr/>
        </p:nvSpPr>
        <p:spPr>
          <a:xfrm>
            <a:off x="3493008" y="3520440"/>
            <a:ext cx="2194560" cy="320040"/>
          </a:xfrm>
          <a:prstGeom prst="rect">
            <a:avLst/>
          </a:prstGeom>
          <a:noFill/>
          <a:ln/>
        </p:spPr>
        <p:txBody>
          <a:bodyPr wrap="square" lIns="0" tIns="0" rIns="0" bIns="0" rtlCol="0" anchor="t"/>
          <a:lstStyle/>
          <a:p>
            <a:pPr marL="0" indent="0">
              <a:buNone/>
            </a:pPr>
            <a:r>
              <a:rPr lang="en-US" sz="1450" b="1" dirty="0">
                <a:solidFill>
                  <a:srgbClr val="1F2933"/>
                </a:solidFill>
                <a:latin typeface="Arial" pitchFamily="34" charset="0"/>
                <a:ea typeface="Arial" pitchFamily="34" charset="-122"/>
                <a:cs typeface="Arial" pitchFamily="34" charset="-120"/>
              </a:rPr>
              <a:t>Claim binary files</a:t>
            </a:r>
            <a:endParaRPr lang="en-US" sz="1450" dirty="0"/>
          </a:p>
        </p:txBody>
      </p:sp>
      <p:sp>
        <p:nvSpPr>
          <p:cNvPr id="22" name="Text 20"/>
          <p:cNvSpPr txBox="1"/>
          <p:nvPr/>
        </p:nvSpPr>
        <p:spPr>
          <a:xfrm>
            <a:off x="3493008" y="3840480"/>
            <a:ext cx="2194560" cy="548640"/>
          </a:xfrm>
          <a:prstGeom prst="rect">
            <a:avLst/>
          </a:prstGeom>
          <a:noFill/>
          <a:ln/>
        </p:spPr>
        <p:txBody>
          <a:bodyPr wrap="square" lIns="0" tIns="0" rIns="0" bIns="0" rtlCol="0" anchor="t"/>
          <a:lstStyle/>
          <a:p>
            <a:pPr marL="0" indent="0">
              <a:buNone/>
            </a:pPr>
            <a:r>
              <a:rPr lang="en-US" sz="1200" dirty="0">
                <a:solidFill>
                  <a:srgbClr val="5B6573"/>
                </a:solidFill>
                <a:latin typeface="Arial" pitchFamily="34" charset="0"/>
                <a:ea typeface="Arial" pitchFamily="34" charset="-122"/>
                <a:cs typeface="Arial" pitchFamily="34" charset="-120"/>
              </a:rPr>
              <a:t>Post in chat before editing CAD, .slx, or Office files.</a:t>
            </a:r>
            <a:endParaRPr lang="en-US" sz="1200" dirty="0"/>
          </a:p>
        </p:txBody>
      </p:sp>
      <p:sp>
        <p:nvSpPr>
          <p:cNvPr id="23" name="Shape 21"/>
          <p:cNvSpPr/>
          <p:nvPr/>
        </p:nvSpPr>
        <p:spPr>
          <a:xfrm>
            <a:off x="6071616" y="2926080"/>
            <a:ext cx="2606040" cy="1554480"/>
          </a:xfrm>
          <a:prstGeom prst="roundRect">
            <a:avLst>
              <a:gd name="adj" fmla="val 4706"/>
            </a:avLst>
          </a:prstGeom>
          <a:solidFill>
            <a:srgbClr val="F1F3F5"/>
          </a:solidFill>
          <a:ln w="12700">
            <a:solidFill>
              <a:srgbClr val="F1F3F5"/>
            </a:solidFill>
            <a:prstDash val="solid"/>
          </a:ln>
        </p:spPr>
        <p:txBody>
          <a:bodyPr/>
          <a:lstStyle/>
          <a:p>
            <a:endParaRPr lang="en-US"/>
          </a:p>
        </p:txBody>
      </p:sp>
      <p:sp>
        <p:nvSpPr>
          <p:cNvPr id="24" name="Text 22"/>
          <p:cNvSpPr txBox="1"/>
          <p:nvPr/>
        </p:nvSpPr>
        <p:spPr>
          <a:xfrm>
            <a:off x="6300216" y="3063240"/>
            <a:ext cx="914400" cy="457200"/>
          </a:xfrm>
          <a:prstGeom prst="rect">
            <a:avLst/>
          </a:prstGeom>
          <a:noFill/>
          <a:ln/>
        </p:spPr>
        <p:txBody>
          <a:bodyPr wrap="square" lIns="0" tIns="0" rIns="0" bIns="0" rtlCol="0" anchor="t"/>
          <a:lstStyle/>
          <a:p>
            <a:pPr marL="0" indent="0">
              <a:buNone/>
            </a:pPr>
            <a:r>
              <a:rPr lang="en-US" sz="2400" b="1" dirty="0">
                <a:solidFill>
                  <a:srgbClr val="F2711C"/>
                </a:solidFill>
                <a:latin typeface="Arial" pitchFamily="34" charset="0"/>
                <a:ea typeface="Arial" pitchFamily="34" charset="-122"/>
                <a:cs typeface="Arial" pitchFamily="34" charset="-120"/>
              </a:rPr>
              <a:t>06</a:t>
            </a:r>
            <a:endParaRPr lang="en-US" sz="2400" dirty="0"/>
          </a:p>
        </p:txBody>
      </p:sp>
      <p:sp>
        <p:nvSpPr>
          <p:cNvPr id="25" name="Text 23"/>
          <p:cNvSpPr txBox="1"/>
          <p:nvPr/>
        </p:nvSpPr>
        <p:spPr>
          <a:xfrm>
            <a:off x="6300216" y="3520440"/>
            <a:ext cx="2194560" cy="320040"/>
          </a:xfrm>
          <a:prstGeom prst="rect">
            <a:avLst/>
          </a:prstGeom>
          <a:noFill/>
          <a:ln/>
        </p:spPr>
        <p:txBody>
          <a:bodyPr wrap="square" lIns="0" tIns="0" rIns="0" bIns="0" rtlCol="0" anchor="t"/>
          <a:lstStyle/>
          <a:p>
            <a:pPr marL="0" indent="0">
              <a:buNone/>
            </a:pPr>
            <a:r>
              <a:rPr lang="en-US" sz="1450" b="1" dirty="0">
                <a:solidFill>
                  <a:srgbClr val="1F2933"/>
                </a:solidFill>
                <a:latin typeface="Arial" pitchFamily="34" charset="0"/>
                <a:ea typeface="Arial" pitchFamily="34" charset="-122"/>
                <a:cs typeface="Arial" pitchFamily="34" charset="-120"/>
              </a:rPr>
              <a:t>Push only working code</a:t>
            </a:r>
            <a:endParaRPr lang="en-US" sz="1450" dirty="0"/>
          </a:p>
        </p:txBody>
      </p:sp>
      <p:sp>
        <p:nvSpPr>
          <p:cNvPr id="26" name="Text 24"/>
          <p:cNvSpPr txBox="1"/>
          <p:nvPr/>
        </p:nvSpPr>
        <p:spPr>
          <a:xfrm>
            <a:off x="6300216" y="3840480"/>
            <a:ext cx="2194560" cy="548640"/>
          </a:xfrm>
          <a:prstGeom prst="rect">
            <a:avLst/>
          </a:prstGeom>
          <a:noFill/>
          <a:ln/>
        </p:spPr>
        <p:txBody>
          <a:bodyPr wrap="square" lIns="0" tIns="0" rIns="0" bIns="0" rtlCol="0" anchor="t"/>
          <a:lstStyle/>
          <a:p>
            <a:pPr marL="0" indent="0">
              <a:buNone/>
            </a:pPr>
            <a:r>
              <a:rPr lang="en-US" sz="1200" dirty="0">
                <a:solidFill>
                  <a:srgbClr val="5B6573"/>
                </a:solidFill>
                <a:latin typeface="Arial" pitchFamily="34" charset="0"/>
                <a:ea typeface="Arial" pitchFamily="34" charset="-122"/>
                <a:cs typeface="Arial" pitchFamily="34" charset="-120"/>
              </a:rPr>
              <a:t>Main should always be ready to flash to the car.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430"/>
        </a:solidFill>
        <a:effectLst/>
      </p:bgPr>
    </p:bg>
    <p:spTree>
      <p:nvGrpSpPr>
        <p:cNvPr id="1" name=""/>
        <p:cNvGrpSpPr/>
        <p:nvPr/>
      </p:nvGrpSpPr>
      <p:grpSpPr>
        <a:xfrm>
          <a:off x="0" y="0"/>
          <a:ext cx="0" cy="0"/>
          <a:chOff x="0" y="0"/>
          <a:chExt cx="0" cy="0"/>
        </a:xfrm>
      </p:grpSpPr>
      <p:sp>
        <p:nvSpPr>
          <p:cNvPr id="2" name="Text 0"/>
          <p:cNvSpPr txBox="1"/>
          <p:nvPr/>
        </p:nvSpPr>
        <p:spPr>
          <a:xfrm>
            <a:off x="548640" y="914400"/>
            <a:ext cx="8046720" cy="822960"/>
          </a:xfrm>
          <a:prstGeom prst="rect">
            <a:avLst/>
          </a:prstGeom>
          <a:noFill/>
          <a:ln/>
        </p:spPr>
        <p:txBody>
          <a:bodyPr wrap="square" lIns="0" tIns="0" rIns="0" bIns="0" rtlCol="0" anchor="t"/>
          <a:lstStyle/>
          <a:p>
            <a:pPr marL="0" indent="0">
              <a:buNone/>
            </a:pPr>
            <a:r>
              <a:rPr lang="en-US" sz="4400" b="1" dirty="0">
                <a:solidFill>
                  <a:srgbClr val="FFFFFF"/>
                </a:solidFill>
                <a:latin typeface="Arial" pitchFamily="34" charset="0"/>
                <a:ea typeface="Arial" pitchFamily="34" charset="-122"/>
                <a:cs typeface="Arial" pitchFamily="34" charset="-120"/>
              </a:rPr>
              <a:t>Questions?</a:t>
            </a:r>
            <a:endParaRPr lang="en-US" sz="4400" dirty="0"/>
          </a:p>
        </p:txBody>
      </p:sp>
      <p:sp>
        <p:nvSpPr>
          <p:cNvPr id="3" name="Text 1"/>
          <p:cNvSpPr txBox="1"/>
          <p:nvPr/>
        </p:nvSpPr>
        <p:spPr>
          <a:xfrm>
            <a:off x="548640" y="2011680"/>
            <a:ext cx="8046720" cy="365760"/>
          </a:xfrm>
          <a:prstGeom prst="rect">
            <a:avLst/>
          </a:prstGeom>
          <a:noFill/>
          <a:ln/>
        </p:spPr>
        <p:txBody>
          <a:bodyPr wrap="square" lIns="0" tIns="0" rIns="0" bIns="0" rtlCol="0" anchor="t"/>
          <a:lstStyle/>
          <a:p>
            <a:pPr marL="0" indent="0">
              <a:buNone/>
            </a:pPr>
            <a:r>
              <a:rPr lang="en-US" sz="1600" dirty="0">
                <a:solidFill>
                  <a:srgbClr val="C9D1DA"/>
                </a:solidFill>
                <a:latin typeface="Arial" pitchFamily="34" charset="0"/>
                <a:ea typeface="Arial" pitchFamily="34" charset="-122"/>
                <a:cs typeface="Arial" pitchFamily="34" charset="-120"/>
              </a:rPr>
              <a:t>The whole routine in one line:</a:t>
            </a:r>
            <a:endParaRPr lang="en-US" sz="1600" dirty="0"/>
          </a:p>
        </p:txBody>
      </p:sp>
      <p:sp>
        <p:nvSpPr>
          <p:cNvPr id="4" name="Shape 2"/>
          <p:cNvSpPr/>
          <p:nvPr/>
        </p:nvSpPr>
        <p:spPr>
          <a:xfrm>
            <a:off x="548640" y="2606040"/>
            <a:ext cx="1234440" cy="640080"/>
          </a:xfrm>
          <a:prstGeom prst="roundRect">
            <a:avLst>
              <a:gd name="adj" fmla="val 11429"/>
            </a:avLst>
          </a:prstGeom>
          <a:solidFill>
            <a:srgbClr val="2C3A4B"/>
          </a:solidFill>
          <a:ln w="12700">
            <a:solidFill>
              <a:srgbClr val="2C3A4B"/>
            </a:solidFill>
            <a:prstDash val="solid"/>
          </a:ln>
        </p:spPr>
        <p:txBody>
          <a:bodyPr/>
          <a:lstStyle/>
          <a:p>
            <a:endParaRPr lang="en-US"/>
          </a:p>
        </p:txBody>
      </p:sp>
      <p:sp>
        <p:nvSpPr>
          <p:cNvPr id="5" name="Text 3"/>
          <p:cNvSpPr txBox="1"/>
          <p:nvPr/>
        </p:nvSpPr>
        <p:spPr>
          <a:xfrm>
            <a:off x="548640" y="2606040"/>
            <a:ext cx="12344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Pull</a:t>
            </a:r>
            <a:endParaRPr lang="en-US" sz="1800" dirty="0"/>
          </a:p>
        </p:txBody>
      </p:sp>
      <p:sp>
        <p:nvSpPr>
          <p:cNvPr id="6" name="Shape 4"/>
          <p:cNvSpPr/>
          <p:nvPr/>
        </p:nvSpPr>
        <p:spPr>
          <a:xfrm>
            <a:off x="1828800" y="2926080"/>
            <a:ext cx="320040" cy="914"/>
          </a:xfrm>
          <a:prstGeom prst="line">
            <a:avLst/>
          </a:prstGeom>
          <a:noFill/>
          <a:ln w="31750">
            <a:solidFill>
              <a:srgbClr val="8FA0B3"/>
            </a:solidFill>
            <a:prstDash val="solid"/>
            <a:tailEnd type="triangle"/>
          </a:ln>
        </p:spPr>
        <p:txBody>
          <a:bodyPr/>
          <a:lstStyle/>
          <a:p>
            <a:endParaRPr lang="en-US"/>
          </a:p>
        </p:txBody>
      </p:sp>
      <p:sp>
        <p:nvSpPr>
          <p:cNvPr id="7" name="Shape 5"/>
          <p:cNvSpPr/>
          <p:nvPr/>
        </p:nvSpPr>
        <p:spPr>
          <a:xfrm>
            <a:off x="2194560" y="2606040"/>
            <a:ext cx="1234440" cy="640080"/>
          </a:xfrm>
          <a:prstGeom prst="roundRect">
            <a:avLst>
              <a:gd name="adj" fmla="val 11429"/>
            </a:avLst>
          </a:prstGeom>
          <a:solidFill>
            <a:srgbClr val="2C3A4B"/>
          </a:solidFill>
          <a:ln w="12700">
            <a:solidFill>
              <a:srgbClr val="2C3A4B"/>
            </a:solidFill>
            <a:prstDash val="solid"/>
          </a:ln>
        </p:spPr>
        <p:txBody>
          <a:bodyPr/>
          <a:lstStyle/>
          <a:p>
            <a:endParaRPr lang="en-US"/>
          </a:p>
        </p:txBody>
      </p:sp>
      <p:sp>
        <p:nvSpPr>
          <p:cNvPr id="8" name="Text 6"/>
          <p:cNvSpPr txBox="1"/>
          <p:nvPr/>
        </p:nvSpPr>
        <p:spPr>
          <a:xfrm>
            <a:off x="2194560" y="2606040"/>
            <a:ext cx="12344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Work</a:t>
            </a:r>
            <a:endParaRPr lang="en-US" sz="1800" dirty="0"/>
          </a:p>
        </p:txBody>
      </p:sp>
      <p:sp>
        <p:nvSpPr>
          <p:cNvPr id="9" name="Shape 7"/>
          <p:cNvSpPr/>
          <p:nvPr/>
        </p:nvSpPr>
        <p:spPr>
          <a:xfrm>
            <a:off x="3474720" y="2926080"/>
            <a:ext cx="320040" cy="914"/>
          </a:xfrm>
          <a:prstGeom prst="line">
            <a:avLst/>
          </a:prstGeom>
          <a:noFill/>
          <a:ln w="31750">
            <a:solidFill>
              <a:srgbClr val="8FA0B3"/>
            </a:solidFill>
            <a:prstDash val="solid"/>
            <a:tailEnd type="triangle"/>
          </a:ln>
        </p:spPr>
        <p:txBody>
          <a:bodyPr/>
          <a:lstStyle/>
          <a:p>
            <a:endParaRPr lang="en-US"/>
          </a:p>
        </p:txBody>
      </p:sp>
      <p:sp>
        <p:nvSpPr>
          <p:cNvPr id="10" name="Shape 8"/>
          <p:cNvSpPr/>
          <p:nvPr/>
        </p:nvSpPr>
        <p:spPr>
          <a:xfrm>
            <a:off x="3840480" y="2606040"/>
            <a:ext cx="1234440" cy="640080"/>
          </a:xfrm>
          <a:prstGeom prst="roundRect">
            <a:avLst>
              <a:gd name="adj" fmla="val 11429"/>
            </a:avLst>
          </a:prstGeom>
          <a:solidFill>
            <a:srgbClr val="2C3A4B"/>
          </a:solidFill>
          <a:ln w="12700">
            <a:solidFill>
              <a:srgbClr val="2C3A4B"/>
            </a:solidFill>
            <a:prstDash val="solid"/>
          </a:ln>
        </p:spPr>
        <p:txBody>
          <a:bodyPr/>
          <a:lstStyle/>
          <a:p>
            <a:endParaRPr lang="en-US"/>
          </a:p>
        </p:txBody>
      </p:sp>
      <p:sp>
        <p:nvSpPr>
          <p:cNvPr id="11" name="Text 9"/>
          <p:cNvSpPr txBox="1"/>
          <p:nvPr/>
        </p:nvSpPr>
        <p:spPr>
          <a:xfrm>
            <a:off x="3840480" y="2606040"/>
            <a:ext cx="12344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Commit</a:t>
            </a:r>
            <a:endParaRPr lang="en-US" sz="1800" dirty="0"/>
          </a:p>
        </p:txBody>
      </p:sp>
      <p:sp>
        <p:nvSpPr>
          <p:cNvPr id="12" name="Shape 10"/>
          <p:cNvSpPr/>
          <p:nvPr/>
        </p:nvSpPr>
        <p:spPr>
          <a:xfrm>
            <a:off x="5120640" y="2926080"/>
            <a:ext cx="320040" cy="914"/>
          </a:xfrm>
          <a:prstGeom prst="line">
            <a:avLst/>
          </a:prstGeom>
          <a:noFill/>
          <a:ln w="31750">
            <a:solidFill>
              <a:srgbClr val="8FA0B3"/>
            </a:solidFill>
            <a:prstDash val="solid"/>
            <a:tailEnd type="triangle"/>
          </a:ln>
        </p:spPr>
        <p:txBody>
          <a:bodyPr/>
          <a:lstStyle/>
          <a:p>
            <a:endParaRPr lang="en-US"/>
          </a:p>
        </p:txBody>
      </p:sp>
      <p:sp>
        <p:nvSpPr>
          <p:cNvPr id="13" name="Shape 11"/>
          <p:cNvSpPr/>
          <p:nvPr/>
        </p:nvSpPr>
        <p:spPr>
          <a:xfrm>
            <a:off x="5486400" y="2606040"/>
            <a:ext cx="1234440" cy="640080"/>
          </a:xfrm>
          <a:prstGeom prst="roundRect">
            <a:avLst>
              <a:gd name="adj" fmla="val 11429"/>
            </a:avLst>
          </a:prstGeom>
          <a:solidFill>
            <a:srgbClr val="2C3A4B"/>
          </a:solidFill>
          <a:ln w="12700">
            <a:solidFill>
              <a:srgbClr val="2C3A4B"/>
            </a:solidFill>
            <a:prstDash val="solid"/>
          </a:ln>
        </p:spPr>
        <p:txBody>
          <a:bodyPr/>
          <a:lstStyle/>
          <a:p>
            <a:endParaRPr lang="en-US"/>
          </a:p>
        </p:txBody>
      </p:sp>
      <p:sp>
        <p:nvSpPr>
          <p:cNvPr id="14" name="Text 12"/>
          <p:cNvSpPr txBox="1"/>
          <p:nvPr/>
        </p:nvSpPr>
        <p:spPr>
          <a:xfrm>
            <a:off x="5486400" y="2606040"/>
            <a:ext cx="12344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Pull</a:t>
            </a:r>
            <a:endParaRPr lang="en-US" sz="1800" dirty="0"/>
          </a:p>
        </p:txBody>
      </p:sp>
      <p:sp>
        <p:nvSpPr>
          <p:cNvPr id="15" name="Shape 13"/>
          <p:cNvSpPr/>
          <p:nvPr/>
        </p:nvSpPr>
        <p:spPr>
          <a:xfrm>
            <a:off x="6766560" y="2926080"/>
            <a:ext cx="320040" cy="914"/>
          </a:xfrm>
          <a:prstGeom prst="line">
            <a:avLst/>
          </a:prstGeom>
          <a:noFill/>
          <a:ln w="31750">
            <a:solidFill>
              <a:srgbClr val="8FA0B3"/>
            </a:solidFill>
            <a:prstDash val="solid"/>
            <a:tailEnd type="triangle"/>
          </a:ln>
        </p:spPr>
        <p:txBody>
          <a:bodyPr/>
          <a:lstStyle/>
          <a:p>
            <a:endParaRPr lang="en-US"/>
          </a:p>
        </p:txBody>
      </p:sp>
      <p:sp>
        <p:nvSpPr>
          <p:cNvPr id="16" name="Shape 14"/>
          <p:cNvSpPr/>
          <p:nvPr/>
        </p:nvSpPr>
        <p:spPr>
          <a:xfrm>
            <a:off x="7132320" y="2606040"/>
            <a:ext cx="1234440" cy="640080"/>
          </a:xfrm>
          <a:prstGeom prst="roundRect">
            <a:avLst>
              <a:gd name="adj" fmla="val 11429"/>
            </a:avLst>
          </a:prstGeom>
          <a:solidFill>
            <a:srgbClr val="F2711C"/>
          </a:solidFill>
          <a:ln w="12700">
            <a:solidFill>
              <a:srgbClr val="F2711C"/>
            </a:solidFill>
            <a:prstDash val="solid"/>
          </a:ln>
        </p:spPr>
        <p:txBody>
          <a:bodyPr/>
          <a:lstStyle/>
          <a:p>
            <a:endParaRPr lang="en-US"/>
          </a:p>
        </p:txBody>
      </p:sp>
      <p:sp>
        <p:nvSpPr>
          <p:cNvPr id="17" name="Text 15"/>
          <p:cNvSpPr txBox="1"/>
          <p:nvPr/>
        </p:nvSpPr>
        <p:spPr>
          <a:xfrm>
            <a:off x="7132320" y="2606040"/>
            <a:ext cx="123444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Push</a:t>
            </a:r>
            <a:endParaRPr lang="en-US" sz="1800" dirty="0"/>
          </a:p>
        </p:txBody>
      </p:sp>
      <p:sp>
        <p:nvSpPr>
          <p:cNvPr id="18" name="Text 16"/>
          <p:cNvSpPr txBox="1"/>
          <p:nvPr/>
        </p:nvSpPr>
        <p:spPr>
          <a:xfrm>
            <a:off x="548640" y="3749040"/>
            <a:ext cx="8046720" cy="457200"/>
          </a:xfrm>
          <a:prstGeom prst="rect">
            <a:avLst/>
          </a:prstGeom>
          <a:noFill/>
          <a:ln/>
        </p:spPr>
        <p:txBody>
          <a:bodyPr wrap="square" lIns="0" tIns="0" rIns="0" bIns="0" rtlCol="0" anchor="t"/>
          <a:lstStyle/>
          <a:p>
            <a:pPr marL="0" indent="0">
              <a:buNone/>
            </a:pPr>
            <a:r>
              <a:rPr lang="en-US" sz="1400" i="1" dirty="0">
                <a:solidFill>
                  <a:srgbClr val="F2711C"/>
                </a:solidFill>
                <a:latin typeface="Arial" pitchFamily="34" charset="0"/>
                <a:ea typeface="Arial" pitchFamily="34" charset="-122"/>
                <a:cs typeface="Arial" pitchFamily="34" charset="-120"/>
              </a:rPr>
              <a:t>Stuck? Don't force anything. Ask in chat before clicking something you're unsure about.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2978</Words>
  <Application>Microsoft Macintosh PowerPoint</Application>
  <PresentationFormat>On-screen Show (16:9)</PresentationFormat>
  <Paragraphs>334</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&amp; GitHub Desktop for Baja SAE Controls</dc:title>
  <dc:subject>PptxGenJS Presentation</dc:subject>
  <dc:creator>PptxGenJS</dc:creator>
  <cp:lastModifiedBy>Alex Miller</cp:lastModifiedBy>
  <cp:revision>2</cp:revision>
  <dcterms:created xsi:type="dcterms:W3CDTF">2026-09-24T20:54:41Z</dcterms:created>
  <dcterms:modified xsi:type="dcterms:W3CDTF">2026-09-24T22:33:46Z</dcterms:modified>
</cp:coreProperties>
</file>