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Oswald" panose="00000500000000000000" pitchFamily="2" charset="0"/>
      <p:regular r:id="rId12"/>
      <p:bold r:id="rId13"/>
    </p:embeddedFont>
    <p:embeddedFont>
      <p:font typeface="Rubik" panose="020B0604020202020204" charset="-79"/>
      <p:regular r:id="rId14"/>
      <p:bold r:id="rId15"/>
    </p:embeddedFont>
  </p:embeddedFont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gilliam" userId="531db58e867e8722" providerId="LiveId" clId="{A37380D5-EAA1-4005-A741-5E7BD54C2ABE}"/>
    <pc:docChg chg="custSel modSld">
      <pc:chgData name="jacob gilliam" userId="531db58e867e8722" providerId="LiveId" clId="{A37380D5-EAA1-4005-A741-5E7BD54C2ABE}" dt="2026-10-25T20:16:40.558" v="1" actId="33524"/>
      <pc:docMkLst>
        <pc:docMk/>
      </pc:docMkLst>
      <pc:sldChg chg="delSp mod">
        <pc:chgData name="jacob gilliam" userId="531db58e867e8722" providerId="LiveId" clId="{A37380D5-EAA1-4005-A741-5E7BD54C2ABE}" dt="2026-10-25T20:16:27.117" v="0" actId="478"/>
        <pc:sldMkLst>
          <pc:docMk/>
          <pc:sldMk cId="382086233" sldId="256"/>
        </pc:sldMkLst>
        <pc:spChg chg="del">
          <ac:chgData name="jacob gilliam" userId="531db58e867e8722" providerId="LiveId" clId="{A37380D5-EAA1-4005-A741-5E7BD54C2ABE}" dt="2026-10-25T20:16:27.117" v="0" actId="478"/>
          <ac:spMkLst>
            <pc:docMk/>
            <pc:sldMk cId="382086233" sldId="256"/>
            <ac:spMk id="15" creationId="{50BADC96-6D31-46CF-BF1E-8AF114A2F139}"/>
          </ac:spMkLst>
        </pc:spChg>
      </pc:sldChg>
      <pc:sldChg chg="modSp mod">
        <pc:chgData name="jacob gilliam" userId="531db58e867e8722" providerId="LiveId" clId="{A37380D5-EAA1-4005-A741-5E7BD54C2ABE}" dt="2026-10-25T20:16:40.558" v="1" actId="33524"/>
        <pc:sldMkLst>
          <pc:docMk/>
          <pc:sldMk cId="2893821453" sldId="259"/>
        </pc:sldMkLst>
        <pc:spChg chg="mod">
          <ac:chgData name="jacob gilliam" userId="531db58e867e8722" providerId="LiveId" clId="{A37380D5-EAA1-4005-A741-5E7BD54C2ABE}" dt="2026-10-25T20:16:40.558" v="1" actId="33524"/>
          <ac:spMkLst>
            <pc:docMk/>
            <pc:sldMk cId="2893821453" sldId="259"/>
            <ac:spMk id="28" creationId="{306F1AE3-69E2-491B-B725-F1315D7DAB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2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F959B1-99E1-4D88-9D1A-B2736B273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15000"/>
              </a:lnSpc>
              <a:buNone/>
              <a:defRPr sz="3600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sz="3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B052F-C631-4297-AB8D-7753090F871E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40000"/>
              </a:lnSpc>
              <a:buNone/>
              <a:defRPr sz="160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0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D3AAD4-A904-45B6-AD61-F54DC8C5B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15000"/>
              </a:lnSpc>
              <a:buNone/>
              <a:defRPr sz="3600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sz="36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814CC-12F2-478B-B602-96DAF715CC79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marL="0" indent="0" algn="l">
              <a:lnSpc>
                <a:spcPct val="140000"/>
              </a:lnSpc>
              <a:buNone/>
              <a:defRPr sz="160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sz="160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78A98E-BEAE-4093-B9BE-2784172DFF7C}"/>
              </a:ext>
            </a:extLst>
          </p:cNvPr>
          <p:cNvSpPr>
            <a:spLocks noGrp="1"/>
          </p:cNvSpPr>
          <p:nvPr/>
        </p:nvSpPr>
        <p:spPr>
          <a:xfrm>
            <a:off x="809625" y="809625"/>
            <a:ext cx="10572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defPPr>
            <a:lvl1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  <a:lvl2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2pPr>
            <a:lvl3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3pPr>
            <a:lvl4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4pPr>
            <a:lvl5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5pPr>
            <a:lvl6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6pPr>
            <a:lvl7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7pPr>
            <a:lvl8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8pPr>
            <a:lvl9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pPr>
            <a:r>
              <a:rPr sz="3375" b="1">
                <a:solidFill>
                  <a:srgbClr val="F5F1EE"/>
                </a:solidFill>
                <a:latin typeface="Oswald"/>
                <a:ea typeface="Oswald"/>
                <a:cs typeface="Oswald"/>
              </a:rPr>
              <a:t>FOUR RADIO COMMUNICATION OPTIONS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5530C7-7E49-438D-AA80-D57E0D0B102C}"/>
              </a:ext>
            </a:extLst>
          </p:cNvPr>
          <p:cNvSpPr>
            <a:spLocks noGrp="1"/>
          </p:cNvSpPr>
          <p:nvPr/>
        </p:nvSpPr>
        <p:spPr>
          <a:xfrm>
            <a:off x="809625" y="1466850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defPPr>
            <a:lvl1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  <a:lvl2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2pPr>
            <a:lvl3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3pPr>
            <a:lvl4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4pPr>
            <a:lvl5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5pPr>
            <a:lvl6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6pPr>
            <a:lvl7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7pPr>
            <a:lvl8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8pPr>
            <a:lvl9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5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B9B0AE"/>
                </a:solidFill>
                <a:latin typeface="Rubik"/>
                <a:ea typeface="Rubik"/>
                <a:cs typeface="Rubik"/>
              </a:rPr>
              <a:t>Each concept connects the driver and pit crew using a different radio or headset setup.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AB7869-CB90-43C2-93FE-F7BD0E226F6A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619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defPPr>
            <a:lvl1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1pPr>
            <a:lvl2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2pPr>
            <a:lvl3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3pPr>
            <a:lvl4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4pPr>
            <a:lvl5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5pPr>
            <a:lvl6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6pPr>
            <a:lvl7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7pPr>
            <a:lvl8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8pPr>
            <a:lvl9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pPr>
            <a:r>
              <a:rPr sz="3300" b="1">
                <a:solidFill>
                  <a:srgbClr val="FF4D5A"/>
                </a:solidFill>
                <a:latin typeface="Oswald"/>
                <a:ea typeface="Oswald"/>
                <a:cs typeface="Oswald"/>
              </a:rPr>
              <a:t>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CB4FF-9487-4A52-B1F3-7DE060B7C71A}"/>
              </a:ext>
            </a:extLst>
          </p:cNvPr>
          <p:cNvSpPr>
            <a:spLocks noGrp="1"/>
          </p:cNvSpPr>
          <p:nvPr/>
        </p:nvSpPr>
        <p:spPr>
          <a:xfrm>
            <a:off x="1571625" y="214312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MURS RADIO KIT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C9A5CE-E143-4643-8EE5-46F343DD7426}"/>
              </a:ext>
            </a:extLst>
          </p:cNvPr>
          <p:cNvSpPr>
            <a:spLocks noGrp="1"/>
          </p:cNvSpPr>
          <p:nvPr/>
        </p:nvSpPr>
        <p:spPr>
          <a:xfrm>
            <a:off x="5429250" y="2143125"/>
            <a:ext cx="5953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BTECH MURS-V2 radios with a Rugged helmet kit and wheel push-to-talk button. An external antenna gives more flexibility in radio placement.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26363C-BA5A-4D52-B147-C3C9D6AD9659}"/>
              </a:ext>
            </a:extLst>
          </p:cNvPr>
          <p:cNvSpPr>
            <a:spLocks noGrp="1"/>
          </p:cNvSpPr>
          <p:nvPr/>
        </p:nvSpPr>
        <p:spPr>
          <a:xfrm>
            <a:off x="809625" y="3124200"/>
            <a:ext cx="619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defPPr>
            <a:lvl1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1pPr>
            <a:lvl2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2pPr>
            <a:lvl3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3pPr>
            <a:lvl4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4pPr>
            <a:lvl5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5pPr>
            <a:lvl6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6pPr>
            <a:lvl7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7pPr>
            <a:lvl8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8pPr>
            <a:lvl9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pPr>
            <a:r>
              <a:rPr sz="3300" b="1">
                <a:solidFill>
                  <a:srgbClr val="FF4D5A"/>
                </a:solidFill>
                <a:latin typeface="Oswald"/>
                <a:ea typeface="Oswald"/>
                <a:cs typeface="Oswald"/>
              </a:rPr>
              <a:t>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9B85D-7366-4634-B61D-E6DDD6B38257}"/>
              </a:ext>
            </a:extLst>
          </p:cNvPr>
          <p:cNvSpPr>
            <a:spLocks noGrp="1"/>
          </p:cNvSpPr>
          <p:nvPr/>
        </p:nvSpPr>
        <p:spPr>
          <a:xfrm>
            <a:off x="1571625" y="312420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FRS RADIO KIT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B94DA6-BB10-438D-94D8-1DC94DCE41C7}"/>
              </a:ext>
            </a:extLst>
          </p:cNvPr>
          <p:cNvSpPr>
            <a:spLocks noGrp="1"/>
          </p:cNvSpPr>
          <p:nvPr/>
        </p:nvSpPr>
        <p:spPr>
          <a:xfrm>
            <a:off x="5429250" y="3124200"/>
            <a:ext cx="5953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FRS radios with the same basic helmet-audio and push-to-talk setup. The fixed antenna makes the radio’s mounting location important.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3A6069-C12A-4C60-9077-C9A3C73E5C06}"/>
              </a:ext>
            </a:extLst>
          </p:cNvPr>
          <p:cNvSpPr>
            <a:spLocks noGrp="1"/>
          </p:cNvSpPr>
          <p:nvPr/>
        </p:nvSpPr>
        <p:spPr>
          <a:xfrm>
            <a:off x="809625" y="4105275"/>
            <a:ext cx="619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defPPr>
            <a:lvl1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1pPr>
            <a:lvl2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2pPr>
            <a:lvl3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3pPr>
            <a:lvl4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4pPr>
            <a:lvl5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5pPr>
            <a:lvl6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6pPr>
            <a:lvl7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7pPr>
            <a:lvl8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8pPr>
            <a:lvl9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pPr>
            <a:r>
              <a:rPr sz="3300" b="1">
                <a:solidFill>
                  <a:srgbClr val="FF4D5A"/>
                </a:solidFill>
                <a:latin typeface="Oswald"/>
                <a:ea typeface="Oswald"/>
                <a:cs typeface="Oswald"/>
              </a:rPr>
              <a:t>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B7EDB0-B454-4CCD-A5DA-5A79D045CD13}"/>
              </a:ext>
            </a:extLst>
          </p:cNvPr>
          <p:cNvSpPr>
            <a:spLocks noGrp="1"/>
          </p:cNvSpPr>
          <p:nvPr/>
        </p:nvSpPr>
        <p:spPr>
          <a:xfrm>
            <a:off x="1571625" y="4105275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BLUETOOTH MESH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7C12C6-B27C-4CB3-B8CC-39821FB08F04}"/>
              </a:ext>
            </a:extLst>
          </p:cNvPr>
          <p:cNvSpPr>
            <a:spLocks noGrp="1"/>
          </p:cNvSpPr>
          <p:nvPr/>
        </p:nvSpPr>
        <p:spPr>
          <a:xfrm>
            <a:off x="5429250" y="4105275"/>
            <a:ext cx="5953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Cardo Packtalk Outdoor units provide hands-free communication. No cable connects the driver to the car, but range and battery life need testing.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728512-5FCC-41A6-8AF8-51B095758B0A}"/>
              </a:ext>
            </a:extLst>
          </p:cNvPr>
          <p:cNvSpPr>
            <a:spLocks noGrp="1"/>
          </p:cNvSpPr>
          <p:nvPr/>
        </p:nvSpPr>
        <p:spPr>
          <a:xfrm>
            <a:off x="809625" y="5086350"/>
            <a:ext cx="6191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defPPr>
            <a:lvl1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1pPr>
            <a:lvl2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2pPr>
            <a:lvl3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3pPr>
            <a:lvl4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4pPr>
            <a:lvl5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5pPr>
            <a:lvl6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6pPr>
            <a:lvl7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7pPr>
            <a:lvl8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8pPr>
            <a:lvl9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defRPr sz="3300" b="1">
                <a:solidFill>
                  <a:srgbClr val="FF4D5A"/>
                </a:solidFill>
                <a:latin typeface="Oswald"/>
                <a:ea typeface="Oswald"/>
                <a:cs typeface="Oswald"/>
              </a:defRPr>
            </a:pPr>
            <a:r>
              <a:rPr sz="3300" b="1">
                <a:solidFill>
                  <a:srgbClr val="FF4D5A"/>
                </a:solidFill>
                <a:latin typeface="Oswald"/>
                <a:ea typeface="Oswald"/>
                <a:cs typeface="Oswald"/>
              </a:rPr>
              <a:t>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B1D758-A31E-479B-8CA8-68DD3FC0188D}"/>
              </a:ext>
            </a:extLst>
          </p:cNvPr>
          <p:cNvSpPr>
            <a:spLocks noGrp="1"/>
          </p:cNvSpPr>
          <p:nvPr/>
        </p:nvSpPr>
        <p:spPr>
          <a:xfrm>
            <a:off x="1571625" y="5086350"/>
            <a:ext cx="3714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2100" b="1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21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DEDICATED RACE RADIO KIT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2A8DE3-80E4-4756-8BF2-2393DAE91DE3}"/>
              </a:ext>
            </a:extLst>
          </p:cNvPr>
          <p:cNvSpPr>
            <a:spLocks noGrp="1"/>
          </p:cNvSpPr>
          <p:nvPr/>
        </p:nvSpPr>
        <p:spPr>
          <a:xfrm>
            <a:off x="5429250" y="5086350"/>
            <a:ext cx="59531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A matched Rugged driver-and-crew package combines radios, headsets and wiring. One supplier can simplify installation and compatibility checks.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DEEA3-2532-4447-B37B-D2519A834898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820862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52273D0-3F34-416A-A17C-77CF6D65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sz="3600" b="1" i="0" spc="50">
                <a:solidFill>
                  <a:srgbClr val="F5F1EE"/>
                </a:solidFill>
                <a:latin typeface="Oswald"/>
                <a:ea typeface="Oswald"/>
                <a:cs typeface="Oswald"/>
              </a:rPr>
              <a:t>MURS RADIO KIT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965CC51-1B25-41B0-9780-3F758DD4B35E}"/>
              </a:ext>
            </a:extLst>
          </p:cNvPr>
          <p:cNvSpPr>
            <a:spLocks noGrp="1"/>
          </p:cNvSpPr>
          <p:nvPr/>
        </p:nvSpPr>
        <p:spPr>
          <a:xfrm>
            <a:off x="812800" y="1417290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B9B0AE"/>
                </a:solidFill>
                <a:latin typeface="Rubik"/>
                <a:ea typeface="Rubik"/>
                <a:cs typeface="Rubik"/>
              </a:rPr>
              <a:t>MURS radios connect helmet audio to a pit headset, with a steering-wheel push-to-talk button.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5FD7D46-A765-41E4-83DC-05BE315344DC}"/>
              </a:ext>
            </a:extLst>
          </p:cNvPr>
          <p:cNvSpPr>
            <a:spLocks noGrp="1"/>
          </p:cNvSpPr>
          <p:nvPr/>
        </p:nvSpPr>
        <p:spPr>
          <a:xfrm>
            <a:off x="965200" y="1803350"/>
            <a:ext cx="693293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CAR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B41AE2-CB8C-42B8-BB6C-FFC008DC1DAC}"/>
              </a:ext>
            </a:extLst>
          </p:cNvPr>
          <p:cNvSpPr>
            <a:spLocks noGrp="1"/>
          </p:cNvSpPr>
          <p:nvPr/>
        </p:nvSpPr>
        <p:spPr>
          <a:xfrm>
            <a:off x="965200" y="2108150"/>
            <a:ext cx="673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4B78CD9-307D-42B7-BE99-BBDBC991CCA5}"/>
              </a:ext>
            </a:extLst>
          </p:cNvPr>
          <p:cNvSpPr>
            <a:spLocks noGrp="1"/>
          </p:cNvSpPr>
          <p:nvPr/>
        </p:nvSpPr>
        <p:spPr>
          <a:xfrm>
            <a:off x="9474200" y="1803350"/>
            <a:ext cx="170180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PIT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578335B-D84B-434B-B5C7-901514BC9228}"/>
              </a:ext>
            </a:extLst>
          </p:cNvPr>
          <p:cNvSpPr>
            <a:spLocks noGrp="1"/>
          </p:cNvSpPr>
          <p:nvPr/>
        </p:nvSpPr>
        <p:spPr>
          <a:xfrm>
            <a:off x="9474200" y="2108150"/>
            <a:ext cx="165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28E379-9171-4452-9D8A-2509FD0F60C0}"/>
              </a:ext>
            </a:extLst>
          </p:cNvPr>
          <p:cNvSpPr>
            <a:spLocks noGrp="1"/>
          </p:cNvSpPr>
          <p:nvPr/>
        </p:nvSpPr>
        <p:spPr>
          <a:xfrm>
            <a:off x="97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Helmet kit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Speakers + mic in the padding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89D29A7-21C1-4493-BE72-4B0106F25097}"/>
              </a:ext>
            </a:extLst>
          </p:cNvPr>
          <p:cNvSpPr>
            <a:spLocks noGrp="1"/>
          </p:cNvSpPr>
          <p:nvPr/>
        </p:nvSpPr>
        <p:spPr>
          <a:xfrm>
            <a:off x="3511550" y="2254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Car harness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Rugged driver kit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D0E52A-6F9C-49D6-9D6A-5D079E8F6A06}"/>
              </a:ext>
            </a:extLst>
          </p:cNvPr>
          <p:cNvSpPr>
            <a:spLocks noGrp="1"/>
          </p:cNvSpPr>
          <p:nvPr/>
        </p:nvSpPr>
        <p:spPr>
          <a:xfrm>
            <a:off x="605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Radio jumper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Kenwood 2-pin plug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905E5B5-A38B-4D9B-AC5F-1B4583C06B0E}"/>
              </a:ext>
            </a:extLst>
          </p:cNvPr>
          <p:cNvSpPr>
            <a:spLocks noGrp="1"/>
          </p:cNvSpPr>
          <p:nvPr/>
        </p:nvSpPr>
        <p:spPr>
          <a:xfrm>
            <a:off x="3511550" y="3651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PTT button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Velcro on the wheel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1C3BDBE-AA22-4200-9CFF-814BF3EC721D}"/>
              </a:ext>
            </a:extLst>
          </p:cNvPr>
          <p:cNvSpPr>
            <a:spLocks noGrp="1"/>
          </p:cNvSpPr>
          <p:nvPr/>
        </p:nvSpPr>
        <p:spPr>
          <a:xfrm>
            <a:off x="6051550" y="3651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BTECH MURS-V2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Inside the frame, secured</a:t>
            </a:r>
            <a:endParaRPr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F277EF1-A472-4C3F-B93A-F4FF0064CB27}"/>
              </a:ext>
            </a:extLst>
          </p:cNvPr>
          <p:cNvSpPr>
            <a:spLocks noGrp="1"/>
          </p:cNvSpPr>
          <p:nvPr/>
        </p:nvSpPr>
        <p:spPr>
          <a:xfrm>
            <a:off x="6051550" y="4921200"/>
            <a:ext cx="1638300" cy="1018381"/>
          </a:xfrm>
          <a:prstGeom prst="roundRect">
            <a:avLst>
              <a:gd name="adj" fmla="val 6859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Cage antenna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Clear of transponder and RFID tag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1B0873B-4B81-4D6A-8F80-E7DCD9140CD6}"/>
              </a:ext>
            </a:extLst>
          </p:cNvPr>
          <p:cNvSpPr>
            <a:spLocks noGrp="1"/>
          </p:cNvSpPr>
          <p:nvPr/>
        </p:nvSpPr>
        <p:spPr>
          <a:xfrm>
            <a:off x="9480550" y="3651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Crew headset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2-pin, with PTT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D344734-E7CA-4CFF-9B09-A2EAE6F0B13A}"/>
              </a:ext>
            </a:extLst>
          </p:cNvPr>
          <p:cNvSpPr>
            <a:spLocks noGrp="1"/>
          </p:cNvSpPr>
          <p:nvPr/>
        </p:nvSpPr>
        <p:spPr>
          <a:xfrm>
            <a:off x="9480550" y="4921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BTECH MURS-V2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Pit radio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0BDA260-957A-4B65-9DEC-CC24DF14F78E}"/>
              </a:ext>
            </a:extLst>
          </p:cNvPr>
          <p:cNvSpPr>
            <a:spLocks noGrp="1"/>
          </p:cNvSpPr>
          <p:nvPr/>
        </p:nvSpPr>
        <p:spPr>
          <a:xfrm>
            <a:off x="971550" y="3651200"/>
            <a:ext cx="2273300" cy="1119981"/>
          </a:xfrm>
          <a:prstGeom prst="roundRect">
            <a:avLst>
              <a:gd name="adj" fmla="val 6237"/>
            </a:avLst>
          </a:prstGeom>
          <a:solidFill>
            <a:srgbClr val="121012"/>
          </a:solidFill>
          <a:ln w="12700">
            <a:solidFill>
              <a:srgbClr val="FF4D5A"/>
            </a:solidFill>
            <a:prstDash val="dash"/>
          </a:ln>
        </p:spPr>
        <p:txBody>
          <a:bodyPr wrap="square" lIns="138292" tIns="112892" rIns="79618" bIns="874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4D5A"/>
                </a:solidFill>
                <a:latin typeface="Rubik"/>
                <a:ea typeface="Rubik"/>
                <a:cs typeface="Rubik"/>
              </a:rPr>
              <a:t>RULES COVERED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Helmet B.5.1 · Egress Tech B.8.1 · Refuel D.8.3.7.2 · Battery B.10.1.1.7</a:t>
            </a:r>
            <a:endParaRPr sz="120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F94972EF-9274-4D0C-9199-C46D2CB56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2609800"/>
            <a:ext cx="990600" cy="101600"/>
          </a:xfrm>
          <a:prstGeom prst="rect">
            <a:avLst/>
          </a:prstGeom>
        </p:spPr>
      </p:pic>
      <p:pic>
        <p:nvPicPr>
          <p:cNvPr id="18" name="Image 1">
            <a:extLst>
              <a:ext uri="{FF2B5EF4-FFF2-40B4-BE49-F238E27FC236}">
                <a16:creationId xmlns:a16="http://schemas.microsoft.com/office/drawing/2014/main" id="{B7BCC8C1-34AD-4D20-95FA-2C26429F6B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400" y="2609800"/>
            <a:ext cx="990600" cy="101600"/>
          </a:xfrm>
          <a:prstGeom prst="rect">
            <a:avLst/>
          </a:prstGeom>
        </p:spPr>
      </p:pic>
      <p:pic>
        <p:nvPicPr>
          <p:cNvPr id="19" name="Image 2">
            <a:extLst>
              <a:ext uri="{FF2B5EF4-FFF2-40B4-BE49-F238E27FC236}">
                <a16:creationId xmlns:a16="http://schemas.microsoft.com/office/drawing/2014/main" id="{A6CF0E91-2AD9-4498-8048-FA4717F6421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9900" y="3022550"/>
            <a:ext cx="101600" cy="673100"/>
          </a:xfrm>
          <a:prstGeom prst="rect">
            <a:avLst/>
          </a:prstGeom>
        </p:spPr>
      </p:pic>
      <p:pic>
        <p:nvPicPr>
          <p:cNvPr id="20" name="Image 3">
            <a:extLst>
              <a:ext uri="{FF2B5EF4-FFF2-40B4-BE49-F238E27FC236}">
                <a16:creationId xmlns:a16="http://schemas.microsoft.com/office/drawing/2014/main" id="{93AB7F25-72FB-4EC0-9DD3-70B0D27C738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9900" y="3022550"/>
            <a:ext cx="101600" cy="673100"/>
          </a:xfrm>
          <a:prstGeom prst="rect">
            <a:avLst/>
          </a:prstGeom>
        </p:spPr>
      </p:pic>
      <p:pic>
        <p:nvPicPr>
          <p:cNvPr id="21" name="Image 4">
            <a:extLst>
              <a:ext uri="{FF2B5EF4-FFF2-40B4-BE49-F238E27FC236}">
                <a16:creationId xmlns:a16="http://schemas.microsoft.com/office/drawing/2014/main" id="{0701B3CA-3242-4104-9B1B-7EF96564822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19900" y="4419550"/>
            <a:ext cx="101600" cy="546100"/>
          </a:xfrm>
          <a:prstGeom prst="rect">
            <a:avLst/>
          </a:prstGeom>
        </p:spPr>
      </p:pic>
      <p:pic>
        <p:nvPicPr>
          <p:cNvPr id="22" name="Image 5">
            <a:extLst>
              <a:ext uri="{FF2B5EF4-FFF2-40B4-BE49-F238E27FC236}">
                <a16:creationId xmlns:a16="http://schemas.microsoft.com/office/drawing/2014/main" id="{01CAD3D8-E5F5-4CE3-9727-9D29A5B91C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48900" y="4419550"/>
            <a:ext cx="101600" cy="546100"/>
          </a:xfrm>
          <a:prstGeom prst="rect">
            <a:avLst/>
          </a:prstGeom>
        </p:spPr>
      </p:pic>
      <p:pic>
        <p:nvPicPr>
          <p:cNvPr id="23" name="Image 6">
            <a:extLst>
              <a:ext uri="{FF2B5EF4-FFF2-40B4-BE49-F238E27FC236}">
                <a16:creationId xmlns:a16="http://schemas.microsoft.com/office/drawing/2014/main" id="{800A6A57-9BBB-44DE-8B8A-E3DF8A60479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32700" y="5264100"/>
            <a:ext cx="1905000" cy="127000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95A52A7A-1639-4696-B16C-2A17ADF0B032}"/>
              </a:ext>
            </a:extLst>
          </p:cNvPr>
          <p:cNvSpPr>
            <a:spLocks noGrp="1"/>
          </p:cNvSpPr>
          <p:nvPr/>
        </p:nvSpPr>
        <p:spPr>
          <a:xfrm>
            <a:off x="2641600" y="2711400"/>
            <a:ext cx="8382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Quick release cord</a:t>
            </a:r>
            <a:endParaRPr sz="120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3A8FD434-F581-416C-8F77-C5855890804E}"/>
              </a:ext>
            </a:extLst>
          </p:cNvPr>
          <p:cNvSpPr>
            <a:spLocks noGrp="1"/>
          </p:cNvSpPr>
          <p:nvPr/>
        </p:nvSpPr>
        <p:spPr>
          <a:xfrm>
            <a:off x="6972300" y="4584650"/>
            <a:ext cx="812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SMA coax</a:t>
            </a:r>
            <a:endParaRPr sz="12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4ABE7B64-F34A-4DC6-834C-21D646BD3892}"/>
              </a:ext>
            </a:extLst>
          </p:cNvPr>
          <p:cNvSpPr>
            <a:spLocks noGrp="1"/>
          </p:cNvSpPr>
          <p:nvPr/>
        </p:nvSpPr>
        <p:spPr>
          <a:xfrm>
            <a:off x="7772400" y="4629100"/>
            <a:ext cx="16256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MURS link · 2 W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Est. 1.6–8 km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(1–5 mi)</a:t>
            </a:r>
            <a:endParaRPr sz="120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DAEF84E8-AA1A-4B97-B1D7-AB8BB2F1205B}"/>
              </a:ext>
            </a:extLst>
          </p:cNvPr>
          <p:cNvSpPr>
            <a:spLocks noGrp="1"/>
          </p:cNvSpPr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01</a:t>
            </a:r>
            <a:endParaRPr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2B2DD0-9DC3-4A74-9D2B-3AD8BD412DB7}"/>
              </a:ext>
            </a:extLst>
          </p:cNvPr>
          <p:cNvSpPr>
            <a:spLocks noGrp="1"/>
          </p:cNvSpPr>
          <p:nvPr/>
        </p:nvSpPr>
        <p:spPr>
          <a:xfrm>
            <a:off x="809625" y="626745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pPr>
            <a:r>
              <a:rPr sz="1275" b="0" dirty="0">
                <a:solidFill>
                  <a:srgbClr val="B9B0AE"/>
                </a:solidFill>
                <a:latin typeface="Rubik"/>
                <a:ea typeface="Rubik"/>
                <a:cs typeface="Rubik"/>
              </a:rPr>
              <a:t>An external antenna allows flexible placement. Replaceable batteries simplify servicing. Verify range and engine-noise clarity.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457F022-921E-4A1F-BDBA-31F48899CF93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1200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E9A920-3984-EF73-4D6D-6445A6E8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sz="3600" b="1" i="0" spc="50">
                <a:solidFill>
                  <a:srgbClr val="F5F1EE"/>
                </a:solidFill>
                <a:latin typeface="Oswald"/>
                <a:ea typeface="Oswald"/>
                <a:cs typeface="Oswald"/>
              </a:rPr>
              <a:t>FRS RADIO KIT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EF7052-E699-8D8A-8910-0F1D4440C08D}"/>
              </a:ext>
            </a:extLst>
          </p:cNvPr>
          <p:cNvSpPr>
            <a:spLocks noGrp="1"/>
          </p:cNvSpPr>
          <p:nvPr/>
        </p:nvSpPr>
        <p:spPr>
          <a:xfrm>
            <a:off x="812800" y="1417290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B9B0AE"/>
                </a:solidFill>
                <a:latin typeface="Rubik"/>
                <a:ea typeface="Rubik"/>
                <a:cs typeface="Rubik"/>
              </a:rPr>
              <a:t>Compact FRS radios use the same driver headset and push-to-talk arrangement as the MURS option.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3ED396-4596-1DC7-DD81-38EEF8A5C152}"/>
              </a:ext>
            </a:extLst>
          </p:cNvPr>
          <p:cNvSpPr>
            <a:spLocks noGrp="1"/>
          </p:cNvSpPr>
          <p:nvPr/>
        </p:nvSpPr>
        <p:spPr>
          <a:xfrm>
            <a:off x="965200" y="1803350"/>
            <a:ext cx="693293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CAR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BD4A581-3B82-6BB7-3C9D-0C2677B60257}"/>
              </a:ext>
            </a:extLst>
          </p:cNvPr>
          <p:cNvSpPr>
            <a:spLocks noGrp="1"/>
          </p:cNvSpPr>
          <p:nvPr/>
        </p:nvSpPr>
        <p:spPr>
          <a:xfrm>
            <a:off x="965200" y="2108150"/>
            <a:ext cx="673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BFE5852-6032-0543-E3C6-F2DD9326CA8C}"/>
              </a:ext>
            </a:extLst>
          </p:cNvPr>
          <p:cNvSpPr>
            <a:spLocks noGrp="1"/>
          </p:cNvSpPr>
          <p:nvPr/>
        </p:nvSpPr>
        <p:spPr>
          <a:xfrm>
            <a:off x="9474200" y="1803350"/>
            <a:ext cx="170180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PIT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68DDDA-B62C-75F7-4CD8-9F380F6EA289}"/>
              </a:ext>
            </a:extLst>
          </p:cNvPr>
          <p:cNvSpPr>
            <a:spLocks noGrp="1"/>
          </p:cNvSpPr>
          <p:nvPr/>
        </p:nvSpPr>
        <p:spPr>
          <a:xfrm>
            <a:off x="9474200" y="2108150"/>
            <a:ext cx="165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0D76DDB-1E65-3967-41C8-942A03E97D96}"/>
              </a:ext>
            </a:extLst>
          </p:cNvPr>
          <p:cNvSpPr>
            <a:spLocks noGrp="1"/>
          </p:cNvSpPr>
          <p:nvPr/>
        </p:nvSpPr>
        <p:spPr>
          <a:xfrm>
            <a:off x="97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Helmet kit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Speakers + mic in the padding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87B65E8-C33F-1C3B-A227-9F9BC8CC80AE}"/>
              </a:ext>
            </a:extLst>
          </p:cNvPr>
          <p:cNvSpPr>
            <a:spLocks noGrp="1"/>
          </p:cNvSpPr>
          <p:nvPr/>
        </p:nvSpPr>
        <p:spPr>
          <a:xfrm>
            <a:off x="3511550" y="2254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Car harness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Rugged driver kit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86B820D-D2F0-BA90-ABB3-0CD3F90578C0}"/>
              </a:ext>
            </a:extLst>
          </p:cNvPr>
          <p:cNvSpPr>
            <a:spLocks noGrp="1"/>
          </p:cNvSpPr>
          <p:nvPr/>
        </p:nvSpPr>
        <p:spPr>
          <a:xfrm>
            <a:off x="605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Radio jumper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Kenwood 2-pin plug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541D72-C350-228D-A9B1-9A252309EF2D}"/>
              </a:ext>
            </a:extLst>
          </p:cNvPr>
          <p:cNvSpPr>
            <a:spLocks noGrp="1"/>
          </p:cNvSpPr>
          <p:nvPr/>
        </p:nvSpPr>
        <p:spPr>
          <a:xfrm>
            <a:off x="3511550" y="3651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PTT button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Velcro on the wheel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5134687-DF79-DA2C-017A-0F7926621660}"/>
              </a:ext>
            </a:extLst>
          </p:cNvPr>
          <p:cNvSpPr>
            <a:spLocks noGrp="1"/>
          </p:cNvSpPr>
          <p:nvPr/>
        </p:nvSpPr>
        <p:spPr>
          <a:xfrm>
            <a:off x="6051550" y="3651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BTECH FRS radio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Mounted high, clear view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30B654E-C220-C9A6-893E-D2049C531AAF}"/>
              </a:ext>
            </a:extLst>
          </p:cNvPr>
          <p:cNvSpPr>
            <a:spLocks noGrp="1"/>
          </p:cNvSpPr>
          <p:nvPr/>
        </p:nvSpPr>
        <p:spPr>
          <a:xfrm>
            <a:off x="9480550" y="365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BTECH FRS radio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Pit radio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A5E2BBB-8045-B0E0-9E8E-E980E946E2D3}"/>
              </a:ext>
            </a:extLst>
          </p:cNvPr>
          <p:cNvSpPr>
            <a:spLocks noGrp="1"/>
          </p:cNvSpPr>
          <p:nvPr/>
        </p:nvSpPr>
        <p:spPr>
          <a:xfrm>
            <a:off x="9480550" y="492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Crew headset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2-pin, with PTT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F03D718-3F1E-B48E-67D9-AF1C53C81920}"/>
              </a:ext>
            </a:extLst>
          </p:cNvPr>
          <p:cNvSpPr>
            <a:spLocks noGrp="1"/>
          </p:cNvSpPr>
          <p:nvPr/>
        </p:nvSpPr>
        <p:spPr>
          <a:xfrm>
            <a:off x="971550" y="3651200"/>
            <a:ext cx="2273300" cy="1119981"/>
          </a:xfrm>
          <a:prstGeom prst="roundRect">
            <a:avLst>
              <a:gd name="adj" fmla="val 6237"/>
            </a:avLst>
          </a:prstGeom>
          <a:solidFill>
            <a:srgbClr val="121012"/>
          </a:solidFill>
          <a:ln w="12700">
            <a:solidFill>
              <a:srgbClr val="FF4D5A"/>
            </a:solidFill>
            <a:prstDash val="dash"/>
          </a:ln>
        </p:spPr>
        <p:txBody>
          <a:bodyPr wrap="square" lIns="138292" tIns="112892" rIns="79618" bIns="874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4D5A"/>
                </a:solidFill>
                <a:latin typeface="Rubik"/>
                <a:ea typeface="Rubik"/>
                <a:cs typeface="Rubik"/>
              </a:rPr>
              <a:t>RULES COVERED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Helmet B.5.1 · Egress Tech B.8.1 · Refuel D.8.3.7.2 · Battery B.10.1.1.7</a:t>
            </a:r>
            <a:endParaRPr sz="120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7132F84F-ACFC-4246-9EE0-54F47AEC6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2609800"/>
            <a:ext cx="990600" cy="101600"/>
          </a:xfrm>
          <a:prstGeom prst="rect">
            <a:avLst/>
          </a:prstGeom>
        </p:spPr>
      </p:pic>
      <p:pic>
        <p:nvPicPr>
          <p:cNvPr id="18" name="Image 1">
            <a:extLst>
              <a:ext uri="{FF2B5EF4-FFF2-40B4-BE49-F238E27FC236}">
                <a16:creationId xmlns:a16="http://schemas.microsoft.com/office/drawing/2014/main" id="{029FB933-43C0-4C9C-8276-ADCA8EF354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400" y="2609800"/>
            <a:ext cx="990600" cy="101600"/>
          </a:xfrm>
          <a:prstGeom prst="rect">
            <a:avLst/>
          </a:prstGeom>
        </p:spPr>
      </p:pic>
      <p:pic>
        <p:nvPicPr>
          <p:cNvPr id="19" name="Image 2">
            <a:extLst>
              <a:ext uri="{FF2B5EF4-FFF2-40B4-BE49-F238E27FC236}">
                <a16:creationId xmlns:a16="http://schemas.microsoft.com/office/drawing/2014/main" id="{2496A399-01C4-4956-BEE6-F8CB9E2284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9900" y="3022550"/>
            <a:ext cx="101600" cy="673100"/>
          </a:xfrm>
          <a:prstGeom prst="rect">
            <a:avLst/>
          </a:prstGeom>
        </p:spPr>
      </p:pic>
      <p:pic>
        <p:nvPicPr>
          <p:cNvPr id="20" name="Image 3">
            <a:extLst>
              <a:ext uri="{FF2B5EF4-FFF2-40B4-BE49-F238E27FC236}">
                <a16:creationId xmlns:a16="http://schemas.microsoft.com/office/drawing/2014/main" id="{EC5D32A5-AFCF-4704-9534-E30D89519F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9900" y="3022550"/>
            <a:ext cx="101600" cy="673100"/>
          </a:xfrm>
          <a:prstGeom prst="rect">
            <a:avLst/>
          </a:prstGeom>
        </p:spPr>
      </p:pic>
      <p:pic>
        <p:nvPicPr>
          <p:cNvPr id="22" name="Image 5">
            <a:extLst>
              <a:ext uri="{FF2B5EF4-FFF2-40B4-BE49-F238E27FC236}">
                <a16:creationId xmlns:a16="http://schemas.microsoft.com/office/drawing/2014/main" id="{4562BBA0-850D-4B21-A185-C7C3D3585A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48900" y="4419550"/>
            <a:ext cx="101600" cy="546100"/>
          </a:xfrm>
          <a:prstGeom prst="rect">
            <a:avLst/>
          </a:prstGeom>
        </p:spPr>
      </p:pic>
      <p:pic>
        <p:nvPicPr>
          <p:cNvPr id="23" name="Image 6">
            <a:extLst>
              <a:ext uri="{FF2B5EF4-FFF2-40B4-BE49-F238E27FC236}">
                <a16:creationId xmlns:a16="http://schemas.microsoft.com/office/drawing/2014/main" id="{EF17BC9B-C58F-42A0-A015-16BAEB436C1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32700" y="3886200"/>
            <a:ext cx="1905000" cy="127000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E59C4E7B-2928-276D-A88C-D997B1DBDD93}"/>
              </a:ext>
            </a:extLst>
          </p:cNvPr>
          <p:cNvSpPr>
            <a:spLocks noGrp="1"/>
          </p:cNvSpPr>
          <p:nvPr/>
        </p:nvSpPr>
        <p:spPr>
          <a:xfrm>
            <a:off x="2641600" y="2711400"/>
            <a:ext cx="8382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Quick release cord</a:t>
            </a:r>
            <a:endParaRPr sz="12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8354C72B-83A7-4421-5185-ACCA0CECB273}"/>
              </a:ext>
            </a:extLst>
          </p:cNvPr>
          <p:cNvSpPr>
            <a:spLocks noGrp="1"/>
          </p:cNvSpPr>
          <p:nvPr/>
        </p:nvSpPr>
        <p:spPr>
          <a:xfrm>
            <a:off x="7772400" y="3190875"/>
            <a:ext cx="16256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FRS link · 2 W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Est. 2.4–4.8 km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(1.5–3 mi)</a:t>
            </a:r>
            <a:endParaRPr sz="120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10F1C8F7-BDF8-BDB6-8E4F-C24FCA152059}"/>
              </a:ext>
            </a:extLst>
          </p:cNvPr>
          <p:cNvSpPr>
            <a:spLocks noGrp="1"/>
          </p:cNvSpPr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02</a:t>
            </a:r>
            <a:endParaRPr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72D102B-0CAA-454D-A974-EF1A5BC24A39}"/>
              </a:ext>
            </a:extLst>
          </p:cNvPr>
          <p:cNvSpPr>
            <a:spLocks noGrp="1"/>
          </p:cNvSpPr>
          <p:nvPr/>
        </p:nvSpPr>
        <p:spPr>
          <a:xfrm>
            <a:off x="809625" y="626745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pPr>
            <a:r>
              <a:rPr sz="1275" b="0">
                <a:solidFill>
                  <a:srgbClr val="B9B0AE"/>
                </a:solidFill>
                <a:latin typeface="Rubik"/>
                <a:ea typeface="Rubik"/>
                <a:cs typeface="Rubik"/>
              </a:rPr>
              <a:t>Rechargeable units are easy to replace. Check fixed-antenna placement, audio compatibility and course coverage.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E92CEA-F310-4F7C-B9EC-D7A7B17FE387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59307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18463A4-F550-E8EB-B2C9-DFD6B0CF5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sz="3600" b="1" i="0" spc="50">
                <a:solidFill>
                  <a:srgbClr val="F5F1EE"/>
                </a:solidFill>
                <a:latin typeface="Oswald"/>
                <a:ea typeface="Oswald"/>
                <a:cs typeface="Oswald"/>
              </a:rPr>
              <a:t>BLUETOOTH MESH COMMUNICATION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F7F09D-5815-2F89-FAB6-4CFE2992D4CE}"/>
              </a:ext>
            </a:extLst>
          </p:cNvPr>
          <p:cNvSpPr>
            <a:spLocks noGrp="1"/>
          </p:cNvSpPr>
          <p:nvPr/>
        </p:nvSpPr>
        <p:spPr>
          <a:xfrm>
            <a:off x="812800" y="1417290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B9B0AE"/>
                </a:solidFill>
                <a:latin typeface="Rubik"/>
                <a:ea typeface="Rubik"/>
                <a:cs typeface="Rubik"/>
              </a:rPr>
              <a:t>Cardo units provide hands-free communication without a cable between the driver and vehicle.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E19C89-6FE0-CED7-F382-3145FB6AB148}"/>
              </a:ext>
            </a:extLst>
          </p:cNvPr>
          <p:cNvSpPr>
            <a:spLocks noGrp="1"/>
          </p:cNvSpPr>
          <p:nvPr/>
        </p:nvSpPr>
        <p:spPr>
          <a:xfrm>
            <a:off x="965200" y="1803350"/>
            <a:ext cx="693293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ON THE DRIVER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454F58C-6AA7-0B2D-14C6-E75AAF16A1E0}"/>
              </a:ext>
            </a:extLst>
          </p:cNvPr>
          <p:cNvSpPr>
            <a:spLocks noGrp="1"/>
          </p:cNvSpPr>
          <p:nvPr/>
        </p:nvSpPr>
        <p:spPr>
          <a:xfrm>
            <a:off x="965200" y="2108150"/>
            <a:ext cx="673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129A2B1-6759-BF90-6B50-119579BD9C9E}"/>
              </a:ext>
            </a:extLst>
          </p:cNvPr>
          <p:cNvSpPr>
            <a:spLocks noGrp="1"/>
          </p:cNvSpPr>
          <p:nvPr/>
        </p:nvSpPr>
        <p:spPr>
          <a:xfrm>
            <a:off x="9474200" y="1803350"/>
            <a:ext cx="170180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PIT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F39542D-46DA-77D6-7C3E-E5370F95447F}"/>
              </a:ext>
            </a:extLst>
          </p:cNvPr>
          <p:cNvSpPr>
            <a:spLocks noGrp="1"/>
          </p:cNvSpPr>
          <p:nvPr/>
        </p:nvSpPr>
        <p:spPr>
          <a:xfrm>
            <a:off x="9474200" y="2108150"/>
            <a:ext cx="165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96CED9-5B73-CBCF-0961-5F238D749AC6}"/>
              </a:ext>
            </a:extLst>
          </p:cNvPr>
          <p:cNvSpPr>
            <a:spLocks noGrp="1"/>
          </p:cNvSpPr>
          <p:nvPr/>
        </p:nvSpPr>
        <p:spPr>
          <a:xfrm>
            <a:off x="605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Built-in battery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About 10 hr talk time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CA9E10F-1EFC-2AAF-9EDF-EF59E2C34121}"/>
              </a:ext>
            </a:extLst>
          </p:cNvPr>
          <p:cNvSpPr>
            <a:spLocks noGrp="1"/>
          </p:cNvSpPr>
          <p:nvPr/>
        </p:nvSpPr>
        <p:spPr>
          <a:xfrm>
            <a:off x="3511550" y="365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Speakers + mic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Mounted in the helmet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9FA52C2-EE07-C173-1AE8-84530F8B455A}"/>
              </a:ext>
            </a:extLst>
          </p:cNvPr>
          <p:cNvSpPr>
            <a:spLocks noGrp="1"/>
          </p:cNvSpPr>
          <p:nvPr/>
        </p:nvSpPr>
        <p:spPr>
          <a:xfrm>
            <a:off x="6051550" y="3651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Cardo Packtalk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Clamped to the helmet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D80330C-027F-C855-50E5-8EC98ED41ACD}"/>
              </a:ext>
            </a:extLst>
          </p:cNvPr>
          <p:cNvSpPr>
            <a:spLocks noGrp="1"/>
          </p:cNvSpPr>
          <p:nvPr/>
        </p:nvSpPr>
        <p:spPr>
          <a:xfrm>
            <a:off x="9480550" y="365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Cardo Packtalk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Pit crew unit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FB1AA3-381F-A0E0-9286-B5E251184FF6}"/>
              </a:ext>
            </a:extLst>
          </p:cNvPr>
          <p:cNvSpPr>
            <a:spLocks noGrp="1"/>
          </p:cNvSpPr>
          <p:nvPr/>
        </p:nvSpPr>
        <p:spPr>
          <a:xfrm>
            <a:off x="9480550" y="492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Extra units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Optional relays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45A796A-D0B5-6F7B-B17C-5C7F9163D3A6}"/>
              </a:ext>
            </a:extLst>
          </p:cNvPr>
          <p:cNvSpPr>
            <a:spLocks noGrp="1"/>
          </p:cNvSpPr>
          <p:nvPr/>
        </p:nvSpPr>
        <p:spPr>
          <a:xfrm>
            <a:off x="971550" y="3651200"/>
            <a:ext cx="2273300" cy="1119981"/>
          </a:xfrm>
          <a:prstGeom prst="roundRect">
            <a:avLst>
              <a:gd name="adj" fmla="val 6237"/>
            </a:avLst>
          </a:prstGeom>
          <a:solidFill>
            <a:srgbClr val="121012"/>
          </a:solidFill>
          <a:ln w="12700">
            <a:solidFill>
              <a:srgbClr val="FF4D5A"/>
            </a:solidFill>
            <a:prstDash val="dash"/>
          </a:ln>
        </p:spPr>
        <p:txBody>
          <a:bodyPr wrap="square" lIns="138292" tIns="112892" rIns="79618" bIns="874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4D5A"/>
                </a:solidFill>
                <a:latin typeface="Rubik"/>
                <a:ea typeface="Rubik"/>
                <a:cs typeface="Rubik"/>
              </a:rPr>
              <a:t>RULES COVERED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Helmet B.5.1 · No cord to unplug at egress or refuel</a:t>
            </a:r>
            <a:endParaRPr sz="1200"/>
          </a:p>
        </p:txBody>
      </p:sp>
      <p:pic>
        <p:nvPicPr>
          <p:cNvPr id="18" name="Image 1">
            <a:extLst>
              <a:ext uri="{FF2B5EF4-FFF2-40B4-BE49-F238E27FC236}">
                <a16:creationId xmlns:a16="http://schemas.microsoft.com/office/drawing/2014/main" id="{B805ADB4-9D1F-4923-8E16-188D01AA90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400" y="3895725"/>
            <a:ext cx="990600" cy="101600"/>
          </a:xfrm>
          <a:prstGeom prst="rect">
            <a:avLst/>
          </a:prstGeom>
        </p:spPr>
      </p:pic>
      <p:pic>
        <p:nvPicPr>
          <p:cNvPr id="20" name="Image 3">
            <a:extLst>
              <a:ext uri="{FF2B5EF4-FFF2-40B4-BE49-F238E27FC236}">
                <a16:creationId xmlns:a16="http://schemas.microsoft.com/office/drawing/2014/main" id="{8C0BB627-ADC5-4219-80D9-396D6055BC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19900" y="3022550"/>
            <a:ext cx="101600" cy="673100"/>
          </a:xfrm>
          <a:prstGeom prst="rect">
            <a:avLst/>
          </a:prstGeom>
        </p:spPr>
      </p:pic>
      <p:pic>
        <p:nvPicPr>
          <p:cNvPr id="22" name="Image 5">
            <a:extLst>
              <a:ext uri="{FF2B5EF4-FFF2-40B4-BE49-F238E27FC236}">
                <a16:creationId xmlns:a16="http://schemas.microsoft.com/office/drawing/2014/main" id="{76D0CDC4-2DCF-438A-B194-372AB3D46D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48900" y="4419550"/>
            <a:ext cx="101600" cy="546100"/>
          </a:xfrm>
          <a:prstGeom prst="rect">
            <a:avLst/>
          </a:prstGeom>
        </p:spPr>
      </p:pic>
      <p:pic>
        <p:nvPicPr>
          <p:cNvPr id="23" name="Image 6">
            <a:extLst>
              <a:ext uri="{FF2B5EF4-FFF2-40B4-BE49-F238E27FC236}">
                <a16:creationId xmlns:a16="http://schemas.microsoft.com/office/drawing/2014/main" id="{C76AE70E-0257-4318-AEE3-943950C2B5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632700" y="3886200"/>
            <a:ext cx="1905000" cy="127000"/>
          </a:xfrm>
          <a:prstGeom prst="rect">
            <a:avLst/>
          </a:prstGeom>
        </p:spPr>
      </p:pic>
      <p:sp>
        <p:nvSpPr>
          <p:cNvPr id="26" name="Text 17">
            <a:extLst>
              <a:ext uri="{FF2B5EF4-FFF2-40B4-BE49-F238E27FC236}">
                <a16:creationId xmlns:a16="http://schemas.microsoft.com/office/drawing/2014/main" id="{0565424E-C1E9-4473-701A-887824958EDB}"/>
              </a:ext>
            </a:extLst>
          </p:cNvPr>
          <p:cNvSpPr>
            <a:spLocks noGrp="1"/>
          </p:cNvSpPr>
          <p:nvPr/>
        </p:nvSpPr>
        <p:spPr>
          <a:xfrm>
            <a:off x="7772400" y="3190875"/>
            <a:ext cx="16256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Bluetooth mesh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Rated ~1 km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(0.6 mi) per hop</a:t>
            </a:r>
            <a:endParaRPr sz="120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7915F41D-2A9B-BC0D-0062-EBA436E4B5A2}"/>
              </a:ext>
            </a:extLst>
          </p:cNvPr>
          <p:cNvSpPr>
            <a:spLocks noGrp="1"/>
          </p:cNvSpPr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03</a:t>
            </a:r>
            <a:endParaRPr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6F1AE3-69E2-491B-B725-F1315D7DABFA}"/>
              </a:ext>
            </a:extLst>
          </p:cNvPr>
          <p:cNvSpPr>
            <a:spLocks noGrp="1"/>
          </p:cNvSpPr>
          <p:nvPr/>
        </p:nvSpPr>
        <p:spPr>
          <a:xfrm>
            <a:off x="809625" y="626745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pPr>
            <a:r>
              <a:rPr sz="1275" b="0" dirty="0">
                <a:solidFill>
                  <a:srgbClr val="B9B0AE"/>
                </a:solidFill>
                <a:latin typeface="Rubik"/>
                <a:ea typeface="Rubik"/>
                <a:cs typeface="Rubik"/>
              </a:rPr>
              <a:t>Fewer cockpit wires simplify entry and exit. Verify range and noise </a:t>
            </a:r>
            <a:r>
              <a:rPr lang="en-US" sz="1275" b="0" dirty="0">
                <a:solidFill>
                  <a:srgbClr val="B9B0AE"/>
                </a:solidFill>
                <a:latin typeface="Rubik"/>
                <a:ea typeface="Rubik"/>
                <a:cs typeface="Rubik"/>
              </a:rPr>
              <a:t>performance and</a:t>
            </a:r>
            <a:r>
              <a:rPr sz="1275" b="0" dirty="0">
                <a:solidFill>
                  <a:srgbClr val="B9B0AE"/>
                </a:solidFill>
                <a:latin typeface="Rubik"/>
                <a:ea typeface="Rubik"/>
                <a:cs typeface="Rubik"/>
              </a:rPr>
              <a:t> plan charging for long events.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7D028B-E8AA-4283-99F0-6C6FC08B6161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9382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B07A99E-8D7B-FF6B-38D4-9ABF23BDC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sz="3600" b="1" i="0" spc="50">
                <a:solidFill>
                  <a:srgbClr val="F5F1EE"/>
                </a:solidFill>
                <a:latin typeface="Oswald"/>
                <a:ea typeface="Oswald"/>
                <a:cs typeface="Oswald"/>
              </a:rPr>
              <a:t>DEDICATED RACE RADIO KIT</a:t>
            </a:r>
            <a:endParaRPr sz="36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AD66B6-1711-EB6A-C3CD-10AD1AC12BC1}"/>
              </a:ext>
            </a:extLst>
          </p:cNvPr>
          <p:cNvSpPr>
            <a:spLocks noGrp="1"/>
          </p:cNvSpPr>
          <p:nvPr/>
        </p:nvSpPr>
        <p:spPr>
          <a:xfrm>
            <a:off x="812800" y="1417290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>
                <a:solidFill>
                  <a:srgbClr val="B9B0AE"/>
                </a:solidFill>
                <a:latin typeface="Rubik"/>
                <a:ea typeface="Rubik"/>
                <a:cs typeface="Rubik"/>
              </a:rPr>
              <a:t>A matched Rugged kit combines radios and audio hardware to simplify installation and troubleshooting.</a:t>
            </a:r>
            <a:endParaRPr sz="16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5727693-ACD8-95D7-368D-502FEB6A2E5E}"/>
              </a:ext>
            </a:extLst>
          </p:cNvPr>
          <p:cNvSpPr>
            <a:spLocks noGrp="1"/>
          </p:cNvSpPr>
          <p:nvPr/>
        </p:nvSpPr>
        <p:spPr>
          <a:xfrm>
            <a:off x="965200" y="1803350"/>
            <a:ext cx="693293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CAR</a:t>
            </a:r>
            <a:endParaRPr sz="16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F59D0B5-ED92-E23E-4664-84609705FA3C}"/>
              </a:ext>
            </a:extLst>
          </p:cNvPr>
          <p:cNvSpPr>
            <a:spLocks noGrp="1"/>
          </p:cNvSpPr>
          <p:nvPr/>
        </p:nvSpPr>
        <p:spPr>
          <a:xfrm>
            <a:off x="965200" y="2108150"/>
            <a:ext cx="673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A7E0C22-0339-C6E6-F44C-B4417129E3F9}"/>
              </a:ext>
            </a:extLst>
          </p:cNvPr>
          <p:cNvSpPr>
            <a:spLocks noGrp="1"/>
          </p:cNvSpPr>
          <p:nvPr/>
        </p:nvSpPr>
        <p:spPr>
          <a:xfrm>
            <a:off x="9474200" y="1803350"/>
            <a:ext cx="1701800" cy="3098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sz="1600" spc="150">
                <a:solidFill>
                  <a:srgbClr val="FF4D5A"/>
                </a:solidFill>
                <a:latin typeface="Oswald"/>
                <a:ea typeface="Oswald"/>
                <a:cs typeface="Oswald"/>
              </a:rPr>
              <a:t>IN THE PIT</a:t>
            </a:r>
            <a:endParaRPr sz="16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A132A28-7772-8C79-8951-AB89A960611F}"/>
              </a:ext>
            </a:extLst>
          </p:cNvPr>
          <p:cNvSpPr>
            <a:spLocks noGrp="1"/>
          </p:cNvSpPr>
          <p:nvPr/>
        </p:nvSpPr>
        <p:spPr>
          <a:xfrm>
            <a:off x="9474200" y="2108150"/>
            <a:ext cx="1651000" cy="19050"/>
          </a:xfrm>
          <a:prstGeom prst="rect">
            <a:avLst/>
          </a:prstGeom>
          <a:solidFill>
            <a:srgbClr val="3A3133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9807917-981E-73EC-7112-8FCA635D135F}"/>
              </a:ext>
            </a:extLst>
          </p:cNvPr>
          <p:cNvSpPr>
            <a:spLocks noGrp="1"/>
          </p:cNvSpPr>
          <p:nvPr/>
        </p:nvSpPr>
        <p:spPr>
          <a:xfrm>
            <a:off x="97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Helmet kit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Included in the kit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4C06914-30B9-623D-9D9E-D9DA98AC413C}"/>
              </a:ext>
            </a:extLst>
          </p:cNvPr>
          <p:cNvSpPr>
            <a:spLocks noGrp="1"/>
          </p:cNvSpPr>
          <p:nvPr/>
        </p:nvSpPr>
        <p:spPr>
          <a:xfrm>
            <a:off x="3511550" y="2254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Car harness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Included in the kit</a:t>
            </a:r>
            <a:endParaRPr sz="12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243E2A1-FD1C-17C2-5837-D81F22087AF6}"/>
              </a:ext>
            </a:extLst>
          </p:cNvPr>
          <p:cNvSpPr>
            <a:spLocks noGrp="1"/>
          </p:cNvSpPr>
          <p:nvPr/>
        </p:nvSpPr>
        <p:spPr>
          <a:xfrm>
            <a:off x="6051550" y="2254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Radio jumper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Included in the kit</a:t>
            </a:r>
            <a:endParaRPr sz="12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0CCA6853-F9E0-DECD-E5D7-F74423E16F0A}"/>
              </a:ext>
            </a:extLst>
          </p:cNvPr>
          <p:cNvSpPr>
            <a:spLocks noGrp="1"/>
          </p:cNvSpPr>
          <p:nvPr/>
        </p:nvSpPr>
        <p:spPr>
          <a:xfrm>
            <a:off x="3511550" y="3651200"/>
            <a:ext cx="1638300" cy="59174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PTT button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Included in the kit</a:t>
            </a:r>
            <a:endParaRPr sz="12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7F7E9B2-1453-3635-32C5-5FAFBFA9E70E}"/>
              </a:ext>
            </a:extLst>
          </p:cNvPr>
          <p:cNvSpPr>
            <a:spLocks noGrp="1"/>
          </p:cNvSpPr>
          <p:nvPr/>
        </p:nvSpPr>
        <p:spPr>
          <a:xfrm>
            <a:off x="6051550" y="3651200"/>
            <a:ext cx="1638300" cy="805061"/>
          </a:xfrm>
          <a:prstGeom prst="roundRect">
            <a:avLst>
              <a:gd name="adj" fmla="val 8676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Rugged R1 radio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In the kit’s aluminum box</a:t>
            </a:r>
            <a:endParaRPr sz="12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CFECCB4-A7FA-99FA-AD3A-7403104B9BBE}"/>
              </a:ext>
            </a:extLst>
          </p:cNvPr>
          <p:cNvSpPr>
            <a:spLocks noGrp="1"/>
          </p:cNvSpPr>
          <p:nvPr/>
        </p:nvSpPr>
        <p:spPr>
          <a:xfrm>
            <a:off x="9480550" y="365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FF4D5A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Rugged R1 radio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On the crew radio belt</a:t>
            </a:r>
            <a:endParaRPr sz="12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3A6300D-4EE7-6D5D-E3EF-F998CAE0D86D}"/>
              </a:ext>
            </a:extLst>
          </p:cNvPr>
          <p:cNvSpPr>
            <a:spLocks noGrp="1"/>
          </p:cNvSpPr>
          <p:nvPr/>
        </p:nvSpPr>
        <p:spPr>
          <a:xfrm>
            <a:off x="9480550" y="4921200"/>
            <a:ext cx="1638300" cy="805061"/>
          </a:xfrm>
          <a:prstGeom prst="roundRect">
            <a:avLst>
              <a:gd name="adj" fmla="val 11804"/>
            </a:avLst>
          </a:prstGeom>
          <a:solidFill>
            <a:srgbClr val="241E20"/>
          </a:solidFill>
          <a:ln w="12700">
            <a:solidFill>
              <a:srgbClr val="3A3133"/>
            </a:solidFill>
            <a:prstDash val="solid"/>
          </a:ln>
        </p:spPr>
        <p:txBody>
          <a:bodyPr wrap="square" lIns="100192" tIns="62092" rIns="49392" bIns="366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H42 crew headset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F5F1EE"/>
                </a:solidFill>
                <a:latin typeface="Rubik"/>
                <a:ea typeface="Rubik"/>
                <a:cs typeface="Rubik"/>
              </a:rPr>
              <a:t>Coil cord, with PTT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CB8EE8B-FACE-031B-1300-856398440A6E}"/>
              </a:ext>
            </a:extLst>
          </p:cNvPr>
          <p:cNvSpPr>
            <a:spLocks noGrp="1"/>
          </p:cNvSpPr>
          <p:nvPr/>
        </p:nvSpPr>
        <p:spPr>
          <a:xfrm>
            <a:off x="971550" y="3651200"/>
            <a:ext cx="2273300" cy="1119981"/>
          </a:xfrm>
          <a:prstGeom prst="roundRect">
            <a:avLst>
              <a:gd name="adj" fmla="val 6237"/>
            </a:avLst>
          </a:prstGeom>
          <a:solidFill>
            <a:srgbClr val="121012"/>
          </a:solidFill>
          <a:ln w="12700">
            <a:solidFill>
              <a:srgbClr val="FF4D5A"/>
            </a:solidFill>
            <a:prstDash val="dash"/>
          </a:ln>
        </p:spPr>
        <p:txBody>
          <a:bodyPr wrap="square" lIns="138292" tIns="112892" rIns="79618" bIns="87492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sz="1200" b="1">
                <a:solidFill>
                  <a:srgbClr val="FF4D5A"/>
                </a:solidFill>
                <a:latin typeface="Rubik"/>
                <a:ea typeface="Rubik"/>
                <a:cs typeface="Rubik"/>
              </a:rPr>
              <a:t>RULES COVERED</a:t>
            </a:r>
            <a:endParaRPr sz="1200"/>
          </a:p>
          <a:p>
            <a:pPr marL="0" indent="0" algn="l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Helmet B.5.1 · Egress Tech B.8.1 · Refuel D.8.3.7.2 · Battery B.10.1.1.7</a:t>
            </a:r>
            <a:endParaRPr sz="1200"/>
          </a:p>
        </p:txBody>
      </p:sp>
      <p:pic>
        <p:nvPicPr>
          <p:cNvPr id="17" name="Image 0">
            <a:extLst>
              <a:ext uri="{FF2B5EF4-FFF2-40B4-BE49-F238E27FC236}">
                <a16:creationId xmlns:a16="http://schemas.microsoft.com/office/drawing/2014/main" id="{E28E56F3-800D-4ED4-BA57-642A81B7B0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5400" y="2609800"/>
            <a:ext cx="990600" cy="101600"/>
          </a:xfrm>
          <a:prstGeom prst="rect">
            <a:avLst/>
          </a:prstGeom>
        </p:spPr>
      </p:pic>
      <p:pic>
        <p:nvPicPr>
          <p:cNvPr id="18" name="Image 1">
            <a:extLst>
              <a:ext uri="{FF2B5EF4-FFF2-40B4-BE49-F238E27FC236}">
                <a16:creationId xmlns:a16="http://schemas.microsoft.com/office/drawing/2014/main" id="{DCBDBF91-D86F-4EFE-9256-5B733FF323F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5400" y="2609800"/>
            <a:ext cx="990600" cy="101600"/>
          </a:xfrm>
          <a:prstGeom prst="rect">
            <a:avLst/>
          </a:prstGeom>
        </p:spPr>
      </p:pic>
      <p:pic>
        <p:nvPicPr>
          <p:cNvPr id="19" name="Image 2">
            <a:extLst>
              <a:ext uri="{FF2B5EF4-FFF2-40B4-BE49-F238E27FC236}">
                <a16:creationId xmlns:a16="http://schemas.microsoft.com/office/drawing/2014/main" id="{6FE342DC-2EB0-4C6E-A284-E3D2CA9591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9900" y="3022550"/>
            <a:ext cx="101600" cy="673100"/>
          </a:xfrm>
          <a:prstGeom prst="rect">
            <a:avLst/>
          </a:prstGeom>
        </p:spPr>
      </p:pic>
      <p:pic>
        <p:nvPicPr>
          <p:cNvPr id="20" name="Image 3">
            <a:extLst>
              <a:ext uri="{FF2B5EF4-FFF2-40B4-BE49-F238E27FC236}">
                <a16:creationId xmlns:a16="http://schemas.microsoft.com/office/drawing/2014/main" id="{08C52055-BE86-411A-A42F-C439C72A4E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19900" y="3022550"/>
            <a:ext cx="101600" cy="673100"/>
          </a:xfrm>
          <a:prstGeom prst="rect">
            <a:avLst/>
          </a:prstGeom>
        </p:spPr>
      </p:pic>
      <p:pic>
        <p:nvPicPr>
          <p:cNvPr id="22" name="Image 5">
            <a:extLst>
              <a:ext uri="{FF2B5EF4-FFF2-40B4-BE49-F238E27FC236}">
                <a16:creationId xmlns:a16="http://schemas.microsoft.com/office/drawing/2014/main" id="{189DD4FE-032A-4A87-9467-73771B7D596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248900" y="4419550"/>
            <a:ext cx="101600" cy="546100"/>
          </a:xfrm>
          <a:prstGeom prst="rect">
            <a:avLst/>
          </a:prstGeom>
        </p:spPr>
      </p:pic>
      <p:pic>
        <p:nvPicPr>
          <p:cNvPr id="23" name="Image 6">
            <a:extLst>
              <a:ext uri="{FF2B5EF4-FFF2-40B4-BE49-F238E27FC236}">
                <a16:creationId xmlns:a16="http://schemas.microsoft.com/office/drawing/2014/main" id="{25E8BF04-B5AC-411D-B2DD-9D03C46A1C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632700" y="3886200"/>
            <a:ext cx="1905000" cy="127000"/>
          </a:xfrm>
          <a:prstGeom prst="rect">
            <a:avLst/>
          </a:prstGeom>
        </p:spPr>
      </p:pic>
      <p:sp>
        <p:nvSpPr>
          <p:cNvPr id="24" name="Text 15">
            <a:extLst>
              <a:ext uri="{FF2B5EF4-FFF2-40B4-BE49-F238E27FC236}">
                <a16:creationId xmlns:a16="http://schemas.microsoft.com/office/drawing/2014/main" id="{7A68A1D4-833D-4C56-F77C-16F90FAD0F9B}"/>
              </a:ext>
            </a:extLst>
          </p:cNvPr>
          <p:cNvSpPr>
            <a:spLocks noGrp="1"/>
          </p:cNvSpPr>
          <p:nvPr/>
        </p:nvSpPr>
        <p:spPr>
          <a:xfrm>
            <a:off x="2641600" y="2711400"/>
            <a:ext cx="8382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Quick release cord</a:t>
            </a:r>
            <a:endParaRPr sz="120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70B7947D-3591-7B94-1566-79DA842DF5D1}"/>
              </a:ext>
            </a:extLst>
          </p:cNvPr>
          <p:cNvSpPr>
            <a:spLocks noGrp="1"/>
          </p:cNvSpPr>
          <p:nvPr/>
        </p:nvSpPr>
        <p:spPr>
          <a:xfrm>
            <a:off x="7772400" y="3190875"/>
            <a:ext cx="1625600" cy="66536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Business band · 5 W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 b="1">
                <a:solidFill>
                  <a:srgbClr val="F5F1EE"/>
                </a:solidFill>
                <a:latin typeface="Rubik"/>
                <a:ea typeface="Rubik"/>
                <a:cs typeface="Rubik"/>
              </a:rPr>
              <a:t>FCC license needed</a:t>
            </a:r>
            <a:endParaRPr sz="1200"/>
          </a:p>
          <a:p>
            <a:pPr marL="0" indent="0" algn="ctr">
              <a:lnSpc>
                <a:spcPts val="1680"/>
              </a:lnSpc>
              <a:buNone/>
            </a:pPr>
            <a:r>
              <a:rPr sz="1200">
                <a:solidFill>
                  <a:srgbClr val="FF4D5A"/>
                </a:solidFill>
                <a:latin typeface="Rubik"/>
                <a:ea typeface="Rubik"/>
                <a:cs typeface="Rubik"/>
              </a:rPr>
              <a:t>Range not published</a:t>
            </a:r>
            <a:endParaRPr sz="120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5414343C-AADE-E384-70CC-5A0B9220E5A7}"/>
              </a:ext>
            </a:extLst>
          </p:cNvPr>
          <p:cNvSpPr>
            <a:spLocks noGrp="1"/>
          </p:cNvSpPr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sz="1200">
                <a:solidFill>
                  <a:srgbClr val="B9B0AE"/>
                </a:solidFill>
                <a:latin typeface="Rubik"/>
                <a:ea typeface="Rubik"/>
                <a:cs typeface="Rubik"/>
              </a:rPr>
              <a:t>04</a:t>
            </a:r>
            <a:endParaRPr sz="12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6E3F029-4E4D-400D-A833-5034D77CF7F8}"/>
              </a:ext>
            </a:extLst>
          </p:cNvPr>
          <p:cNvSpPr>
            <a:spLocks noGrp="1"/>
          </p:cNvSpPr>
          <p:nvPr/>
        </p:nvSpPr>
        <p:spPr>
          <a:xfrm>
            <a:off x="809625" y="6267450"/>
            <a:ext cx="1019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275" b="0">
                <a:solidFill>
                  <a:srgbClr val="B9B0AE"/>
                </a:solidFill>
                <a:latin typeface="Rubik"/>
                <a:ea typeface="Rubik"/>
                <a:cs typeface="Rubik"/>
              </a:defRPr>
            </a:pPr>
            <a:r>
              <a:rPr sz="1275" b="0">
                <a:solidFill>
                  <a:srgbClr val="B9B0AE"/>
                </a:solidFill>
                <a:latin typeface="Rubik"/>
                <a:ea typeface="Rubik"/>
                <a:cs typeface="Rubik"/>
              </a:rPr>
              <a:t>One supplier reduces connector uncertainty. Confirm the kit configuration, frequency authorization and course coverage.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F858008-655B-493B-AB10-8DF2D130EC08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7470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890997-01CE-4EA0-8C26-F800C9C5BC13}"/>
              </a:ext>
            </a:extLst>
          </p:cNvPr>
          <p:cNvSpPr>
            <a:spLocks noGrp="1"/>
          </p:cNvSpPr>
          <p:nvPr/>
        </p:nvSpPr>
        <p:spPr>
          <a:xfrm>
            <a:off x="809625" y="809625"/>
            <a:ext cx="10525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defPPr>
            <a:lvl1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  <a:lvl2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2pPr>
            <a:lvl3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3pPr>
            <a:lvl4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4pPr>
            <a:lvl5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5pPr>
            <a:lvl6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6pPr>
            <a:lvl7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7pPr>
            <a:lvl8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8pPr>
            <a:lvl9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pPr>
            <a:r>
              <a:rPr sz="3375" b="1">
                <a:solidFill>
                  <a:srgbClr val="F5F1EE"/>
                </a:solidFill>
                <a:latin typeface="Oswald"/>
                <a:ea typeface="Oswald"/>
                <a:cs typeface="Oswald"/>
              </a:rPr>
              <a:t>STEERING-WHEEL 4WD ENGAGEMENT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E8277-CBBF-40F6-9D67-1CF286BDDA29}"/>
              </a:ext>
            </a:extLst>
          </p:cNvPr>
          <p:cNvSpPr>
            <a:spLocks noGrp="1"/>
          </p:cNvSpPr>
          <p:nvPr/>
        </p:nvSpPr>
        <p:spPr>
          <a:xfrm>
            <a:off x="809625" y="14668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FF4D5A"/>
                </a:solidFill>
                <a:latin typeface="Rubik"/>
                <a:ea typeface="Rubik"/>
                <a:cs typeface="Rubik"/>
              </a:rPr>
              <a:t>Proposed location: behind the steering-wheel rim, within finger reach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E1761F-043E-4CBF-8368-2F61C98FE8B9}"/>
              </a:ext>
            </a:extLst>
          </p:cNvPr>
          <p:cNvSpPr>
            <a:spLocks noGrp="1"/>
          </p:cNvSpPr>
          <p:nvPr/>
        </p:nvSpPr>
        <p:spPr>
          <a:xfrm>
            <a:off x="809625" y="2266950"/>
            <a:ext cx="5429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A locking lever near the steering wheel would pull the cable to engage 4WD. Its latch holds engagement without continuous finger pressure.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98D5FF-193E-410F-96A0-BE47CD8ED61C}"/>
              </a:ext>
            </a:extLst>
          </p:cNvPr>
          <p:cNvSpPr>
            <a:spLocks noGrp="1"/>
          </p:cNvSpPr>
          <p:nvPr/>
        </p:nvSpPr>
        <p:spPr>
          <a:xfrm>
            <a:off x="809625" y="3219450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 dirty="0">
                <a:solidFill>
                  <a:srgbClr val="F5F1EE"/>
                </a:solidFill>
                <a:latin typeface="Rubik"/>
                <a:ea typeface="Rubik"/>
                <a:cs typeface="Rubik"/>
              </a:rPr>
              <a:t>Cable routing gives flexibility around the frame. Squeezing again releases the latch and lets the spring return the selector, assuming its return position is 2WD.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AE3D2-280C-47C6-8064-B51B62125115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06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C5F8972-6394-E831-8953-849FADC3E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265" y="1409699"/>
            <a:ext cx="4188860" cy="452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4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85DC36-B254-425E-A319-C892E79F6EBF}"/>
              </a:ext>
            </a:extLst>
          </p:cNvPr>
          <p:cNvSpPr>
            <a:spLocks noGrp="1"/>
          </p:cNvSpPr>
          <p:nvPr/>
        </p:nvSpPr>
        <p:spPr>
          <a:xfrm>
            <a:off x="809625" y="809625"/>
            <a:ext cx="10525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defPPr>
            <a:lvl1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  <a:lvl2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2pPr>
            <a:lvl3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3pPr>
            <a:lvl4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4pPr>
            <a:lvl5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5pPr>
            <a:lvl6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6pPr>
            <a:lvl7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7pPr>
            <a:lvl8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8pPr>
            <a:lvl9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pPr>
            <a:r>
              <a:rPr sz="3375" b="1">
                <a:solidFill>
                  <a:srgbClr val="F5F1EE"/>
                </a:solidFill>
                <a:latin typeface="Oswald"/>
                <a:ea typeface="Oswald"/>
                <a:cs typeface="Oswald"/>
              </a:rPr>
              <a:t>FLOOR-MOUNTED SOLID 4WD SHIFTER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ADA2FD-95E7-4C25-9A1C-0A7E6F0B2621}"/>
              </a:ext>
            </a:extLst>
          </p:cNvPr>
          <p:cNvSpPr>
            <a:spLocks noGrp="1"/>
          </p:cNvSpPr>
          <p:nvPr/>
        </p:nvSpPr>
        <p:spPr>
          <a:xfrm>
            <a:off x="809625" y="14668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FF4D5A"/>
                </a:solidFill>
                <a:latin typeface="Rubik"/>
                <a:ea typeface="Rubik"/>
                <a:cs typeface="Rubik"/>
              </a:rPr>
              <a:t>Proposed location: floor-supported bracket beside the driver’s right thigh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905626-9C4B-42A2-B15A-36EFFDDD4953}"/>
              </a:ext>
            </a:extLst>
          </p:cNvPr>
          <p:cNvSpPr>
            <a:spLocks noGrp="1"/>
          </p:cNvSpPr>
          <p:nvPr/>
        </p:nvSpPr>
        <p:spPr>
          <a:xfrm>
            <a:off x="809625" y="2266950"/>
            <a:ext cx="4561871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 dirty="0">
                <a:solidFill>
                  <a:srgbClr val="F5F1EE"/>
                </a:solidFill>
                <a:latin typeface="Rubik"/>
                <a:ea typeface="Rubik"/>
                <a:cs typeface="Rubik"/>
              </a:rPr>
              <a:t>A floor-mounted lever beside the driver would move the 4WD selector through a rigid rod. A longer handle could reduce operating force.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CAA210-6278-4F8C-84AF-BD125469450A}"/>
              </a:ext>
            </a:extLst>
          </p:cNvPr>
          <p:cNvSpPr>
            <a:spLocks noGrp="1"/>
          </p:cNvSpPr>
          <p:nvPr/>
        </p:nvSpPr>
        <p:spPr>
          <a:xfrm>
            <a:off x="809625" y="3429000"/>
            <a:ext cx="3978943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 dirty="0">
                <a:solidFill>
                  <a:srgbClr val="F5F1EE"/>
                </a:solidFill>
                <a:latin typeface="Rubik"/>
                <a:ea typeface="Rubik"/>
                <a:cs typeface="Rubik"/>
              </a:rPr>
              <a:t>Rigid linkage gives direct feedback and avoids cable stretch. Adjustable joints simplify setup, while a latch holds engagement against the return spring.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B6B421-FB4F-40EA-8BB6-3DA6C033A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14022" y="4929187"/>
            <a:ext cx="1893930" cy="18243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4221A3F-ADBD-4154-AEDE-921E7905AFDB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27C17F-E9BB-0246-D56E-FFC649F25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1496" y="2159793"/>
            <a:ext cx="6296629" cy="364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823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440DCA0-F8DA-4765-AD48-3671B308485C}"/>
              </a:ext>
            </a:extLst>
          </p:cNvPr>
          <p:cNvSpPr>
            <a:spLocks noGrp="1"/>
          </p:cNvSpPr>
          <p:nvPr/>
        </p:nvSpPr>
        <p:spPr>
          <a:xfrm>
            <a:off x="809625" y="809625"/>
            <a:ext cx="10525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defPPr>
            <a:lvl1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  <a:lvl2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2pPr>
            <a:lvl3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3pPr>
            <a:lvl4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4pPr>
            <a:lvl5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5pPr>
            <a:lvl6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6pPr>
            <a:lvl7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7pPr>
            <a:lvl8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8pPr>
            <a:lvl9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pPr>
            <a:r>
              <a:rPr sz="3375" b="1">
                <a:solidFill>
                  <a:srgbClr val="F5F1EE"/>
                </a:solidFill>
                <a:latin typeface="Oswald"/>
                <a:ea typeface="Oswald"/>
                <a:cs typeface="Oswald"/>
              </a:rPr>
              <a:t>SPUR GEARS FOR THE STEERING 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D24848-7DBD-4068-B0DF-5CAE42F8B48E}"/>
              </a:ext>
            </a:extLst>
          </p:cNvPr>
          <p:cNvSpPr>
            <a:spLocks noGrp="1"/>
          </p:cNvSpPr>
          <p:nvPr/>
        </p:nvSpPr>
        <p:spPr>
          <a:xfrm>
            <a:off x="809625" y="14668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FF4D5A"/>
                </a:solidFill>
                <a:latin typeface="Rubik"/>
                <a:ea typeface="Rubik"/>
                <a:cs typeface="Rubik"/>
              </a:rPr>
              <a:t>Location: inside the steering-rack housing, at the base of the steering column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7F192A-5FE3-4785-8E49-571F303FEE40}"/>
              </a:ext>
            </a:extLst>
          </p:cNvPr>
          <p:cNvSpPr>
            <a:spLocks noGrp="1"/>
          </p:cNvSpPr>
          <p:nvPr/>
        </p:nvSpPr>
        <p:spPr>
          <a:xfrm>
            <a:off x="809625" y="2266950"/>
            <a:ext cx="5429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A spur pinion and straight-tooth rack convert steering rotation into sideways rack movement. Straight teeth simplify manufacturing and avoid helix-induced axial thrust.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5DB8A7-0B1B-4843-B95D-6CB4A445DF33}"/>
              </a:ext>
            </a:extLst>
          </p:cNvPr>
          <p:cNvSpPr>
            <a:spLocks noGrp="1"/>
          </p:cNvSpPr>
          <p:nvPr/>
        </p:nvSpPr>
        <p:spPr>
          <a:xfrm>
            <a:off x="809625" y="3429000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 dirty="0">
                <a:solidFill>
                  <a:srgbClr val="F5F1EE"/>
                </a:solidFill>
                <a:latin typeface="Rubik"/>
                <a:ea typeface="Rubik"/>
                <a:cs typeface="Rubik"/>
              </a:rPr>
              <a:t>Standard components could ease sourcing and replacement. Pinion size controls the effort–travel tradeoff, while proper support and adjustment help limit free play.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F82E0-6C3A-47C7-A080-D52F2FD1D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0" y="2095500"/>
            <a:ext cx="3333750" cy="3333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B132141-4E96-4B36-B681-3E72D8A2726F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1152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5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D9FC75A-2073-4010-9A0B-B4145C4C2543}"/>
              </a:ext>
            </a:extLst>
          </p:cNvPr>
          <p:cNvSpPr>
            <a:spLocks noGrp="1"/>
          </p:cNvSpPr>
          <p:nvPr/>
        </p:nvSpPr>
        <p:spPr>
          <a:xfrm>
            <a:off x="809625" y="809625"/>
            <a:ext cx="1052512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defPPr>
            <a:lvl1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1pPr>
            <a:lvl2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2pPr>
            <a:lvl3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3pPr>
            <a:lvl4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4pPr>
            <a:lvl5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5pPr>
            <a:lvl6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6pPr>
            <a:lvl7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7pPr>
            <a:lvl8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8pPr>
            <a:lvl9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lvl9pPr>
          </a:lstStyle>
          <a:p>
            <a:pPr>
              <a:buNone/>
              <a:defRPr sz="3375" b="1">
                <a:solidFill>
                  <a:srgbClr val="F5F1EE"/>
                </a:solidFill>
                <a:latin typeface="Oswald"/>
                <a:ea typeface="Oswald"/>
                <a:cs typeface="Oswald"/>
              </a:defRPr>
            </a:pPr>
            <a:r>
              <a:rPr sz="3375" b="1">
                <a:solidFill>
                  <a:srgbClr val="F5F1EE"/>
                </a:solidFill>
                <a:latin typeface="Oswald"/>
                <a:ea typeface="Oswald"/>
                <a:cs typeface="Oswald"/>
              </a:rPr>
              <a:t>HELICAL GEARS FOR THE STEERING RACK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D9EBC32-3B8C-44C1-A8CD-B97B1D69BE0E}"/>
              </a:ext>
            </a:extLst>
          </p:cNvPr>
          <p:cNvSpPr>
            <a:spLocks noGrp="1"/>
          </p:cNvSpPr>
          <p:nvPr/>
        </p:nvSpPr>
        <p:spPr>
          <a:xfrm>
            <a:off x="809625" y="1466850"/>
            <a:ext cx="10572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575" b="0">
                <a:solidFill>
                  <a:srgbClr val="FF4D5A"/>
                </a:solidFill>
                <a:latin typeface="Rubik"/>
                <a:ea typeface="Rubik"/>
                <a:cs typeface="Rubik"/>
              </a:defRPr>
            </a:pPr>
            <a:r>
              <a:rPr sz="1575" b="0">
                <a:solidFill>
                  <a:srgbClr val="FF4D5A"/>
                </a:solidFill>
                <a:latin typeface="Rubik"/>
                <a:ea typeface="Rubik"/>
                <a:cs typeface="Rubik"/>
              </a:rPr>
              <a:t>Location: the same rack housing, using a matched angled-tooth rack and pinion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18DF1-1F3E-413F-8495-3D0EE1B7E9B8}"/>
              </a:ext>
            </a:extLst>
          </p:cNvPr>
          <p:cNvSpPr>
            <a:spLocks noGrp="1"/>
          </p:cNvSpPr>
          <p:nvPr/>
        </p:nvSpPr>
        <p:spPr>
          <a:xfrm>
            <a:off x="809625" y="2266950"/>
            <a:ext cx="5429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Angled teeth engage progressively and share load across more contact. This could make steering feel smoother and reduce gear-meshing vibration.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C3D45-0AE8-4859-BC95-BCCB0B78B96F}"/>
              </a:ext>
            </a:extLst>
          </p:cNvPr>
          <p:cNvSpPr>
            <a:spLocks noGrp="1"/>
          </p:cNvSpPr>
          <p:nvPr/>
        </p:nvSpPr>
        <p:spPr>
          <a:xfrm>
            <a:off x="809625" y="3352800"/>
            <a:ext cx="54292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6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650" b="0" dirty="0">
                <a:solidFill>
                  <a:srgbClr val="F5F1EE"/>
                </a:solidFill>
                <a:latin typeface="Rubik"/>
                <a:ea typeface="Rubik"/>
                <a:cs typeface="Rubik"/>
              </a:rPr>
              <a:t>Helical gearing needs bearings that support axial thrust and a stiff housing. Test whether the smoother engagement justifies the added complexity.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8C3F5-6D80-40AF-B3E0-121ABC3E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0" y="2095500"/>
            <a:ext cx="3333750" cy="3333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96A88F-8F2F-4307-9D04-FE8FAA5F7609}"/>
              </a:ext>
            </a:extLst>
          </p:cNvPr>
          <p:cNvSpPr>
            <a:spLocks noGrp="1"/>
          </p:cNvSpPr>
          <p:nvPr/>
        </p:nvSpPr>
        <p:spPr>
          <a:xfrm>
            <a:off x="11049000" y="6276975"/>
            <a:ext cx="619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defPPr>
            <a:lvl1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1pPr>
            <a:lvl2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2pPr>
            <a:lvl3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3pPr>
            <a:lvl4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4pPr>
            <a:lvl5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5pPr>
            <a:lvl6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6pPr>
            <a:lvl7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7pPr>
            <a:lvl8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8pPr>
            <a:lvl9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lvl9pPr>
          </a:lstStyle>
          <a:p>
            <a:pPr>
              <a:buNone/>
              <a:defRPr sz="1350" b="0">
                <a:solidFill>
                  <a:srgbClr val="F5F1EE"/>
                </a:solidFill>
                <a:latin typeface="Rubik"/>
                <a:ea typeface="Rubik"/>
                <a:cs typeface="Rubik"/>
              </a:defRPr>
            </a:pPr>
            <a:r>
              <a:rPr sz="1350" b="0">
                <a:solidFill>
                  <a:srgbClr val="F5F1EE"/>
                </a:solidFill>
                <a:latin typeface="Rubik"/>
                <a:ea typeface="Rubik"/>
                <a:cs typeface="Rubik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5647876"/>
      </p:ext>
    </p:extLst>
  </p:cSld>
  <p:clrMapOvr>
    <a:masterClrMapping/>
  </p:clrMapOvr>
</p:sld>
</file>

<file path=ppt/theme/theme1.xml><?xml version="1.0" encoding="utf-8"?>
<a:theme xmlns:a="http://schemas.openxmlformats.org/drawingml/2006/main" name="Baja SAE Driver–Pit Comms">
  <a:themeElements>
    <a:clrScheme name="Baja SAE Driver–Pit Comms">
      <a:dk1>
        <a:srgbClr val="121012"/>
      </a:dk1>
      <a:lt1>
        <a:srgbClr val="B9B0AE"/>
      </a:lt1>
      <a:dk2>
        <a:srgbClr val="232022"/>
      </a:dk2>
      <a:lt2>
        <a:srgbClr val="8F8887"/>
      </a:lt2>
      <a:accent1>
        <a:srgbClr val="FF4D5A"/>
      </a:accent1>
      <a:accent2>
        <a:srgbClr val="C8102E"/>
      </a:accent2>
      <a:accent3>
        <a:srgbClr val="3A3133"/>
      </a:accent3>
      <a:accent4>
        <a:srgbClr val="9AA0A6"/>
      </a:accent4>
      <a:accent5>
        <a:srgbClr val="767070"/>
      </a:accent5>
      <a:accent6>
        <a:srgbClr val="5D5858"/>
      </a:accent6>
      <a:hlink>
        <a:srgbClr val="0563C1"/>
      </a:hlink>
      <a:folHlink>
        <a:srgbClr val="954F72"/>
      </a:folHlink>
    </a:clrScheme>
    <a:fontScheme name="Baja SAE Driver–Pit Comms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aja SAE Driver–Pit Comm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Baja SAE Driver–Pit Comms">
  <a:themeElements>
    <a:clrScheme name="Baja SAE Driver–Pit Comms">
      <a:dk1>
        <a:srgbClr val="121012"/>
      </a:dk1>
      <a:lt1>
        <a:srgbClr val="B9B0AE"/>
      </a:lt1>
      <a:dk2>
        <a:srgbClr val="232022"/>
      </a:dk2>
      <a:lt2>
        <a:srgbClr val="8F8887"/>
      </a:lt2>
      <a:accent1>
        <a:srgbClr val="FF4D5A"/>
      </a:accent1>
      <a:accent2>
        <a:srgbClr val="C8102E"/>
      </a:accent2>
      <a:accent3>
        <a:srgbClr val="3A3133"/>
      </a:accent3>
      <a:accent4>
        <a:srgbClr val="9AA0A6"/>
      </a:accent4>
      <a:accent5>
        <a:srgbClr val="767070"/>
      </a:accent5>
      <a:accent6>
        <a:srgbClr val="5D5858"/>
      </a:accent6>
      <a:hlink>
        <a:srgbClr val="0563C1"/>
      </a:hlink>
      <a:folHlink>
        <a:srgbClr val="954F72"/>
      </a:folHlink>
    </a:clrScheme>
    <a:fontScheme name="Baja SAE Driver–Pit Comms">
      <a:majorFont>
        <a:latin typeface="Oswa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aja SAE Driver–Pit Comm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Microsoft Office PowerPoint</Application>
  <DocSecurity>0</DocSecurity>
  <PresentationFormat>Widescreen</PresentationFormat>
  <Paragraphs>141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Rubik</vt:lpstr>
      <vt:lpstr>Oswald</vt:lpstr>
      <vt:lpstr>Arial</vt:lpstr>
      <vt:lpstr>Baja SAE Driver–Pit Comms</vt:lpstr>
      <vt:lpstr>PowerPoint Presentation</vt:lpstr>
      <vt:lpstr>MURS RADIO KIT</vt:lpstr>
      <vt:lpstr>FRS RADIO KIT</vt:lpstr>
      <vt:lpstr>BLUETOOTH MESH COMMUNICATION</vt:lpstr>
      <vt:lpstr>DEDICATED RACE RADIO KIT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Jacob Gilliam</cp:lastModifiedBy>
  <cp:revision>1</cp:revision>
  <dcterms:created xsi:type="dcterms:W3CDTF">2026-10-25T19:33:19Z</dcterms:created>
  <dcterms:modified xsi:type="dcterms:W3CDTF">2026-10-25T20:16:46Z</dcterms:modified>
</cp:coreProperties>
</file>